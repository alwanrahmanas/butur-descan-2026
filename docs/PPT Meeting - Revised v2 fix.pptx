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2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33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x="18288000" cy="10287000"/>
  <p:notesSz cx="6858000" cy="9144000"/>
  <p:embeddedFontLst>
    <p:embeddedFont>
      <p:font typeface="Calibri (MS) Bold" charset="1" panose="020F0702030404030204"/>
      <p:regular r:id="rId36"/>
    </p:embeddedFont>
    <p:embeddedFont>
      <p:font typeface="Calibri (MS)" charset="1" panose="020F0502020204030204"/>
      <p:regular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notesMasters/notesMaster1.xml" Type="http://schemas.openxmlformats.org/officeDocument/2006/relationships/notesMaster"/><Relationship Id="rId34" Target="theme/theme2.xml" Type="http://schemas.openxmlformats.org/officeDocument/2006/relationships/theme"/><Relationship Id="rId35" Target="notesSlides/notesSlide1.xml" Type="http://schemas.openxmlformats.org/officeDocument/2006/relationships/notesSlide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notesSlides/notesSlide2.xml" Type="http://schemas.openxmlformats.org/officeDocument/2006/relationships/notesSlide"/><Relationship Id="rId39" Target="notesSlides/notesSlide3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4.xml" Type="http://schemas.openxmlformats.org/officeDocument/2006/relationships/notesSlide"/><Relationship Id="rId41" Target="notesSlides/notesSlide5.xml" Type="http://schemas.openxmlformats.org/officeDocument/2006/relationships/notesSlide"/><Relationship Id="rId42" Target="notesSlides/notesSlide6.xml" Type="http://schemas.openxmlformats.org/officeDocument/2006/relationships/notesSlide"/><Relationship Id="rId43" Target="notesSlides/notesSlide7.xml" Type="http://schemas.openxmlformats.org/officeDocument/2006/relationships/notesSlide"/><Relationship Id="rId44" Target="notesSlides/notesSlide8.xml" Type="http://schemas.openxmlformats.org/officeDocument/2006/relationships/notesSlide"/><Relationship Id="rId45" Target="notesSlides/notesSlide9.xml" Type="http://schemas.openxmlformats.org/officeDocument/2006/relationships/notesSlide"/><Relationship Id="rId46" Target="notesSlides/notesSlide10.xml" Type="http://schemas.openxmlformats.org/officeDocument/2006/relationships/notesSlide"/><Relationship Id="rId47" Target="notesSlides/notesSlide11.xml" Type="http://schemas.openxmlformats.org/officeDocument/2006/relationships/notesSlide"/><Relationship Id="rId48" Target="notesSlides/notesSlide12.xml" Type="http://schemas.openxmlformats.org/officeDocument/2006/relationships/notesSlide"/><Relationship Id="rId49" Target="notesSlides/notesSlide13.xml" Type="http://schemas.openxmlformats.org/officeDocument/2006/relationships/notesSlide"/><Relationship Id="rId5" Target="tableStyles.xml" Type="http://schemas.openxmlformats.org/officeDocument/2006/relationships/tableStyles"/><Relationship Id="rId50" Target="notesSlides/notesSlide14.xml" Type="http://schemas.openxmlformats.org/officeDocument/2006/relationships/notesSlide"/><Relationship Id="rId51" Target="notesSlides/notesSlide15.xml" Type="http://schemas.openxmlformats.org/officeDocument/2006/relationships/notesSlide"/><Relationship Id="rId52" Target="notesSlides/notesSlide16.xml" Type="http://schemas.openxmlformats.org/officeDocument/2006/relationships/notesSlide"/><Relationship Id="rId53" Target="notesSlides/notesSlide17.xml" Type="http://schemas.openxmlformats.org/officeDocument/2006/relationships/notesSlide"/><Relationship Id="rId54" Target="notesSlides/notesSlide18.xml" Type="http://schemas.openxmlformats.org/officeDocument/2006/relationships/notesSlide"/><Relationship Id="rId55" Target="notesSlides/notesSlide19.xml" Type="http://schemas.openxmlformats.org/officeDocument/2006/relationships/notesSlide"/><Relationship Id="rId56" Target="notesSlides/notesSlide20.xml" Type="http://schemas.openxmlformats.org/officeDocument/2006/relationships/notesSlide"/><Relationship Id="rId57" Target="notesSlides/notesSlide21.xml" Type="http://schemas.openxmlformats.org/officeDocument/2006/relationships/notesSlide"/><Relationship Id="rId58" Target="notesSlides/notesSlide22.xml" Type="http://schemas.openxmlformats.org/officeDocument/2006/relationships/notesSlide"/><Relationship Id="rId59" Target="notesSlides/notesSlide23.xml" Type="http://schemas.openxmlformats.org/officeDocument/2006/relationships/notesSlide"/><Relationship Id="rId6" Target="slides/slide1.xml" Type="http://schemas.openxmlformats.org/officeDocument/2006/relationships/slide"/><Relationship Id="rId60" Target="notesSlides/notesSlide24.xml" Type="http://schemas.openxmlformats.org/officeDocument/2006/relationships/notesSlide"/><Relationship Id="rId61" Target="notesSlides/notesSlide25.xml" Type="http://schemas.openxmlformats.org/officeDocument/2006/relationships/notesSlide"/><Relationship Id="rId62" Target="notesSlides/notesSlide26.xml" Type="http://schemas.openxmlformats.org/officeDocument/2006/relationships/notesSlide"/><Relationship Id="rId63" Target="notesSlides/notesSlide27.xml" Type="http://schemas.openxmlformats.org/officeDocument/2006/relationships/notes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2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_rels/notesSlide2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4.xml" Type="http://schemas.openxmlformats.org/officeDocument/2006/relationships/slide"/></Relationships>
</file>

<file path=ppt/notesSlides/_rels/notesSlide2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5.xml" Type="http://schemas.openxmlformats.org/officeDocument/2006/relationships/slide"/></Relationships>
</file>

<file path=ppt/notesSlides/_rels/notesSlide2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6.xml" Type="http://schemas.openxmlformats.org/officeDocument/2006/relationships/slide"/></Relationships>
</file>

<file path=ppt/notesSlides/_rels/notesSlide2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7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Buka dengan menjelaskan bahwa presentasi ini adalah ringkasan perjalanan kerja, bukan audit. Tujuannya agar semua anggota tim melihat gambaran yang sama sebelum berdiskusi dan mengambil keputusan.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Sebutkan tiga tujuan persis seperti yang disepakati: menyampaikan pekerjaan, mengangkat masalah, dan menyepakati hasil. Ini menjadi kontrak percakapan agar rapat tidak langsung melompat ke detail teknis.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Jelaskan perjalanan kerja dari data mentah sampai bahan paper. Tekankan bahwa banyak fondasi sudah tersedia; tantangan sekarang adalah memilih bukti yang masuk paper dan menyelesaikan evaluasi.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Gunakan divider ini sebagai transisi. Bagian pertama murni menjawab apa yang sudah dikerjakan, tanpa meminta keputusan terlebih dahulu.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Jelaskan empat sumber data dan alasan semuanya harus berada pada kalender 14 hari yang sama. Sorot bahwa integrasi lintas sumber adalah bagian besar dari kontribusi pekerjaan.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Terangkan pengolahan berita dengan bahasa sederhana. Hasil akhirnya bukan artikel, melainkan sinyal terstruktur yang dapat diuji bersama pergerakan harga.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Jelaskan hasil validasi sebagai kekuatan sekaligus batas. Kinerja agregat baik, tetapi kelas demand belum cukup stabil; karena itu keputusan konservatif diperlukan.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Terangkan bahwa target adalah proksi PIHPS, bukan inflasi resmi. BPS tetap penting sebagai pembanding eksternal dan alat memahami sifat pengukuran.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Korelasi pada slide ini positif. Jelaskan bahwa gula dan daging lebih rendah karena PIHPS dan BPS menangkap pasar, kualitas, outlet, serta waktu pencatatan yang berbeda.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Jelaskan guardrail informasi. Semua fitur observasional dilag, sementara Ramadan dan Nataru boleh kontemporer karena sudah diketahui sebelumnya.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Sampaikan hasil statistik sebagai screening. Type A dan hujan layak dilanjutkan, tetapi bukan bukti sebab-akibat. VHI dipertahankan karena alasan teori dan akan dinilai melalui OOS.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Jelaskan bahwa dataset dan prototipe sudah ada. Namun model belum dapat diklaim berhasil sebelum evaluasi OOS, diagnostik posterior, dan leakage diperbaiki.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Transisi ke bagian masalah. Tekankan bahwa masalah di sini adalah pilihan yang membutuhkan kesepakatan, bukan penghapusan pekerjaan sebelumnya.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Minta persetujuan eksplisit atas bahasa klaim. Konsistensi istilah sangat penting agar judul, abstrak, metode, hasil, dan kesimpulan tidak bertentangan.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Jelaskan mengapa demand tidak masuk model utama. Tawarkan dua pilihan diskusi: cukup dikeluarkan, atau lakukan relabeling bila tim menilai kelas ini penting secara substantif.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Ini isu keputusan penting. Dengan data yang sekarang berakhir 19 Maret 2026, evaluasi hanya partial-year OOS. Jangan menyebutnya full-year 2026.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Jelaskan B0 sampai B4 sebagai pertanyaan bertahap. Perbandingan B2 terhadap B1 adalah pusat klaim nilai informasi isi berita.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Jelaskan pembagian kerja dari kontribusi nyata. Hendra memimpin penguatan naskah, Duta model, Alwan data; Bab 4 dikerjakan bersama sesuai bagian masing-masing.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Transisi ke keputusan. Setelah pekerjaan dan masalah dipahami, bagian ini mengubah diskusi menjadi kesepakatan yang dapat dijalankan.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Baca keputusan final secara singkat. Jangan membuka kembali keputusan ini kecuali ada bukti baru yang benar-benar mengubah desain.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Berhenti pada setiap keputusan terbuka dan isi owner serta tanggal. Slide ini adalah agenda keputusan inti rapat.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Jelaskan hubungan antara pembagian pekerjaan dan output manuscript. Setiap angka harus memiliki owner dan jalur reproduksi.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Baca timeline dari deadline ke belakang. Tekankan kebutuhan buffer untuk beberapa putaran review dan pemeriksaan berkas.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Tutup dengan lima hasil konkret. Jangan berakhir dengan ucapan terima kasih sebelum keputusan yang terbuka memiliki tindak lanjut.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Gunakan appendix ini bila peserta meminta rincian kolom dataset atau ingin memahami apa yang benar-benar masuk B0.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Gunakan appendix ini untuk menjelaskan formula dan daftar komoditas. Pastikan formula sama dengan implementasi kode.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Isi tabel ini selama rapat. Setiap baris open harus memiliki owner dan target sebelum pertemuan ditutup.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9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0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7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5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286625" y="3514725"/>
            <a:ext cx="571500" cy="42862"/>
            <a:chOff x="0" y="0"/>
            <a:chExt cx="762000" cy="571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62000" cy="57150"/>
            </a:xfrm>
            <a:custGeom>
              <a:avLst/>
              <a:gdLst/>
              <a:ahLst/>
              <a:cxnLst/>
              <a:rect r="r" b="b" t="t" l="l"/>
              <a:pathLst>
                <a:path h="5715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D86F0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3714750" y="4000500"/>
            <a:ext cx="10858500" cy="1000125"/>
            <a:chOff x="0" y="0"/>
            <a:chExt cx="14478000" cy="13335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478000" cy="1333500"/>
            </a:xfrm>
            <a:custGeom>
              <a:avLst/>
              <a:gdLst/>
              <a:ahLst/>
              <a:cxnLst/>
              <a:rect r="r" b="b" t="t" l="l"/>
              <a:pathLst>
                <a:path h="1333500" w="14478000">
                  <a:moveTo>
                    <a:pt x="0" y="0"/>
                  </a:moveTo>
                  <a:lnTo>
                    <a:pt x="14478000" y="0"/>
                  </a:lnTo>
                  <a:lnTo>
                    <a:pt x="14478000" y="1333500"/>
                  </a:lnTo>
                  <a:lnTo>
                    <a:pt x="0" y="13335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551" r="0" b="-16155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33350"/>
              <a:ext cx="14478000" cy="1466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020"/>
                </a:lnSpc>
              </a:pPr>
              <a:r>
                <a:rPr lang="en-US" sz="58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Dari Data ke Draft Paper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143250" y="5143500"/>
            <a:ext cx="12001500" cy="742950"/>
            <a:chOff x="0" y="0"/>
            <a:chExt cx="16002000" cy="9906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002000" cy="990600"/>
            </a:xfrm>
            <a:custGeom>
              <a:avLst/>
              <a:gdLst/>
              <a:ahLst/>
              <a:cxnLst/>
              <a:rect r="r" b="b" t="t" l="l"/>
              <a:pathLst>
                <a:path h="990600" w="16002000">
                  <a:moveTo>
                    <a:pt x="0" y="0"/>
                  </a:moveTo>
                  <a:lnTo>
                    <a:pt x="16002000" y="0"/>
                  </a:lnTo>
                  <a:lnTo>
                    <a:pt x="16002000" y="990600"/>
                  </a:lnTo>
                  <a:lnTo>
                    <a:pt x="0" y="990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4758" r="0" b="-264758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16002000" cy="1047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>
                  <a:solidFill>
                    <a:srgbClr val="D3E0D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Pekerjaan yang sudah dilakukan, masalah yang perlu dibahas, dan keputusan bersama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286500" y="6357938"/>
            <a:ext cx="5715000" cy="428625"/>
            <a:chOff x="0" y="0"/>
            <a:chExt cx="7620000" cy="5715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620000" cy="571500"/>
            </a:xfrm>
            <a:custGeom>
              <a:avLst/>
              <a:gdLst/>
              <a:ahLst/>
              <a:cxnLst/>
              <a:rect r="r" b="b" t="t" l="l"/>
              <a:pathLst>
                <a:path h="571500" w="7620000">
                  <a:moveTo>
                    <a:pt x="0" y="0"/>
                  </a:moveTo>
                  <a:lnTo>
                    <a:pt x="7620000" y="0"/>
                  </a:lnTo>
                  <a:lnTo>
                    <a:pt x="7620000" y="571500"/>
                  </a:lnTo>
                  <a:lnTo>
                    <a:pt x="0" y="5715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762000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25"/>
                </a:lnSpc>
              </a:pPr>
              <a:r>
                <a:rPr lang="en-US" sz="1687">
                  <a:solidFill>
                    <a:srgbClr val="B7CDC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Persiapan Sumatranomics 2026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571500"/>
            <a:chOff x="0" y="0"/>
            <a:chExt cx="24384000" cy="762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762000"/>
            </a:xfrm>
            <a:custGeom>
              <a:avLst/>
              <a:gdLst/>
              <a:ahLst/>
              <a:cxnLst/>
              <a:rect r="r" b="b" t="t" l="l"/>
              <a:pathLst>
                <a:path h="762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15574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100012"/>
            <a:ext cx="16573500" cy="357188"/>
            <a:chOff x="0" y="0"/>
            <a:chExt cx="22098000" cy="4762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098000" cy="476250"/>
            </a:xfrm>
            <a:custGeom>
              <a:avLst/>
              <a:gdLst/>
              <a:ahLst/>
              <a:cxnLst/>
              <a:rect r="r" b="b" t="t" l="l"/>
              <a:pathLst>
                <a:path h="47625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476250"/>
                  </a:lnTo>
                  <a:lnTo>
                    <a:pt x="0" y="476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4105" r="0" b="-85410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2098000" cy="504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755"/>
                </a:lnSpc>
              </a:pPr>
              <a:r>
                <a:rPr lang="en-US" sz="1462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PEMBUKA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57250" y="885825"/>
            <a:ext cx="16573500" cy="771525"/>
            <a:chOff x="0" y="0"/>
            <a:chExt cx="22098000" cy="10287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098000" cy="1028700"/>
            </a:xfrm>
            <a:custGeom>
              <a:avLst/>
              <a:gdLst/>
              <a:ahLst/>
              <a:cxnLst/>
              <a:rect r="r" b="b" t="t" l="l"/>
              <a:pathLst>
                <a:path h="102870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1028700"/>
                  </a:lnTo>
                  <a:lnTo>
                    <a:pt x="0" y="10287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8567" r="0" b="-368567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76200"/>
              <a:ext cx="22098000" cy="1104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sz="4050" b="true">
                  <a:solidFill>
                    <a:srgbClr val="1557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Tiga tujuan untuk pertemuan ini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7002125" y="9686925"/>
            <a:ext cx="500062" cy="257175"/>
            <a:chOff x="0" y="0"/>
            <a:chExt cx="666750" cy="3429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66750" cy="342900"/>
            </a:xfrm>
            <a:custGeom>
              <a:avLst/>
              <a:gdLst/>
              <a:ahLst/>
              <a:cxnLst/>
              <a:rect r="r" b="b" t="t" l="l"/>
              <a:pathLst>
                <a:path h="342900" w="666750">
                  <a:moveTo>
                    <a:pt x="0" y="0"/>
                  </a:moveTo>
                  <a:lnTo>
                    <a:pt x="666750" y="0"/>
                  </a:lnTo>
                  <a:lnTo>
                    <a:pt x="666750" y="342900"/>
                  </a:lnTo>
                  <a:lnTo>
                    <a:pt x="0" y="3429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984" t="0" r="-15984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66750" cy="361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85"/>
                </a:lnSpc>
              </a:pPr>
              <a:r>
                <a:rPr lang="en-US" sz="1237">
                  <a:solidFill>
                    <a:srgbClr val="77736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50106" y="2207419"/>
            <a:ext cx="5014912" cy="4586288"/>
            <a:chOff x="0" y="0"/>
            <a:chExt cx="6686550" cy="61150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686550" cy="6115050"/>
            </a:xfrm>
            <a:custGeom>
              <a:avLst/>
              <a:gdLst/>
              <a:ahLst/>
              <a:cxnLst/>
              <a:rect r="r" b="b" t="t" l="l"/>
              <a:pathLst>
                <a:path h="6115050" w="6686550">
                  <a:moveTo>
                    <a:pt x="0" y="0"/>
                  </a:moveTo>
                  <a:lnTo>
                    <a:pt x="6686550" y="0"/>
                  </a:lnTo>
                  <a:lnTo>
                    <a:pt x="6686550" y="6115050"/>
                  </a:lnTo>
                  <a:lnTo>
                    <a:pt x="0" y="6115050"/>
                  </a:lnTo>
                  <a:close/>
                </a:path>
              </a:pathLst>
            </a:custGeom>
            <a:solidFill>
              <a:srgbClr val="ECE9E3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857250" y="2214562"/>
            <a:ext cx="85725" cy="4572000"/>
            <a:chOff x="0" y="0"/>
            <a:chExt cx="114300" cy="6096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43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114300">
                  <a:moveTo>
                    <a:pt x="0" y="0"/>
                  </a:moveTo>
                  <a:lnTo>
                    <a:pt x="114300" y="0"/>
                  </a:lnTo>
                  <a:lnTo>
                    <a:pt x="114300" y="6096000"/>
                  </a:lnTo>
                  <a:lnTo>
                    <a:pt x="0" y="6096000"/>
                  </a:lnTo>
                  <a:close/>
                </a:path>
              </a:pathLst>
            </a:custGeom>
            <a:solidFill>
              <a:srgbClr val="155744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00150" y="2443162"/>
            <a:ext cx="4400550" cy="485775"/>
            <a:chOff x="0" y="0"/>
            <a:chExt cx="5867400" cy="6477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867400" cy="647700"/>
            </a:xfrm>
            <a:custGeom>
              <a:avLst/>
              <a:gdLst/>
              <a:ahLst/>
              <a:cxnLst/>
              <a:rect r="r" b="b" t="t" l="l"/>
              <a:pathLst>
                <a:path h="647700" w="5867400">
                  <a:moveTo>
                    <a:pt x="0" y="0"/>
                  </a:moveTo>
                  <a:lnTo>
                    <a:pt x="5867400" y="0"/>
                  </a:lnTo>
                  <a:lnTo>
                    <a:pt x="5867400" y="647700"/>
                  </a:lnTo>
                  <a:lnTo>
                    <a:pt x="0" y="6477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6511" r="0" b="-126511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5867400" cy="70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35"/>
                </a:lnSpc>
              </a:pPr>
              <a:r>
                <a:rPr lang="en-US" sz="2362" b="true">
                  <a:solidFill>
                    <a:srgbClr val="1557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 — MENYAMPAIKAN PEKERJAAN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00150" y="3043238"/>
            <a:ext cx="4400550" cy="3486150"/>
            <a:chOff x="0" y="0"/>
            <a:chExt cx="5867400" cy="46482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867400" cy="4648200"/>
            </a:xfrm>
            <a:custGeom>
              <a:avLst/>
              <a:gdLst/>
              <a:ahLst/>
              <a:cxnLst/>
              <a:rect r="r" b="b" t="t" l="l"/>
              <a:pathLst>
                <a:path h="4648200" w="5867400">
                  <a:moveTo>
                    <a:pt x="0" y="0"/>
                  </a:moveTo>
                  <a:lnTo>
                    <a:pt x="5867400" y="0"/>
                  </a:lnTo>
                  <a:lnTo>
                    <a:pt x="5867400" y="4648200"/>
                  </a:lnTo>
                  <a:lnTo>
                    <a:pt x="0" y="4648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1643" t="0" r="-51643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5867400" cy="4686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95"/>
                </a:lnSpc>
              </a:pPr>
              <a:r>
                <a:rPr lang="en-US" sz="1912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Menunjukkan data, klasifikasi berita, target harga, integrasi multimodal, pengujian statistik, dan prototipe model yang sudah dibangun.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636544" y="2207419"/>
            <a:ext cx="5014912" cy="4586288"/>
            <a:chOff x="0" y="0"/>
            <a:chExt cx="6686550" cy="61150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686550" cy="6115050"/>
            </a:xfrm>
            <a:custGeom>
              <a:avLst/>
              <a:gdLst/>
              <a:ahLst/>
              <a:cxnLst/>
              <a:rect r="r" b="b" t="t" l="l"/>
              <a:pathLst>
                <a:path h="6115050" w="6686550">
                  <a:moveTo>
                    <a:pt x="0" y="0"/>
                  </a:moveTo>
                  <a:lnTo>
                    <a:pt x="6686550" y="0"/>
                  </a:lnTo>
                  <a:lnTo>
                    <a:pt x="6686550" y="6115050"/>
                  </a:lnTo>
                  <a:lnTo>
                    <a:pt x="0" y="6115050"/>
                  </a:lnTo>
                  <a:close/>
                </a:path>
              </a:pathLst>
            </a:custGeom>
            <a:solidFill>
              <a:srgbClr val="ECE9E3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6643688" y="2214562"/>
            <a:ext cx="85725" cy="4572000"/>
            <a:chOff x="0" y="0"/>
            <a:chExt cx="114300" cy="60960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43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114300">
                  <a:moveTo>
                    <a:pt x="0" y="0"/>
                  </a:moveTo>
                  <a:lnTo>
                    <a:pt x="114300" y="0"/>
                  </a:lnTo>
                  <a:lnTo>
                    <a:pt x="114300" y="6096000"/>
                  </a:lnTo>
                  <a:lnTo>
                    <a:pt x="0" y="6096000"/>
                  </a:lnTo>
                  <a:close/>
                </a:path>
              </a:pathLst>
            </a:custGeom>
            <a:solidFill>
              <a:srgbClr val="D86F00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6986588" y="2443162"/>
            <a:ext cx="4400550" cy="485775"/>
            <a:chOff x="0" y="0"/>
            <a:chExt cx="5867400" cy="6477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867400" cy="647700"/>
            </a:xfrm>
            <a:custGeom>
              <a:avLst/>
              <a:gdLst/>
              <a:ahLst/>
              <a:cxnLst/>
              <a:rect r="r" b="b" t="t" l="l"/>
              <a:pathLst>
                <a:path h="647700" w="5867400">
                  <a:moveTo>
                    <a:pt x="0" y="0"/>
                  </a:moveTo>
                  <a:lnTo>
                    <a:pt x="5867400" y="0"/>
                  </a:lnTo>
                  <a:lnTo>
                    <a:pt x="5867400" y="647700"/>
                  </a:lnTo>
                  <a:lnTo>
                    <a:pt x="0" y="6477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6511" r="0" b="-126511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5867400" cy="70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35"/>
                </a:lnSpc>
              </a:pPr>
              <a:r>
                <a:rPr lang="en-US" sz="2362" b="true">
                  <a:solidFill>
                    <a:srgbClr val="D86F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 — MEMBAHAS MASALAH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6986588" y="3043238"/>
            <a:ext cx="4400550" cy="3486150"/>
            <a:chOff x="0" y="0"/>
            <a:chExt cx="5867400" cy="46482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867400" cy="4648200"/>
            </a:xfrm>
            <a:custGeom>
              <a:avLst/>
              <a:gdLst/>
              <a:ahLst/>
              <a:cxnLst/>
              <a:rect r="r" b="b" t="t" l="l"/>
              <a:pathLst>
                <a:path h="4648200" w="5867400">
                  <a:moveTo>
                    <a:pt x="0" y="0"/>
                  </a:moveTo>
                  <a:lnTo>
                    <a:pt x="5867400" y="0"/>
                  </a:lnTo>
                  <a:lnTo>
                    <a:pt x="5867400" y="4648200"/>
                  </a:lnTo>
                  <a:lnTo>
                    <a:pt x="0" y="4648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1643" t="0" r="-51643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5867400" cy="4686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95"/>
                </a:lnSpc>
              </a:pPr>
              <a:r>
                <a:rPr lang="en-US" sz="1912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Membuka bagian yang belum kuat, belum konsisten, atau masih membutuhkan pilihan bersama.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2422981" y="2207419"/>
            <a:ext cx="5014912" cy="4586288"/>
            <a:chOff x="0" y="0"/>
            <a:chExt cx="6686550" cy="611505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686550" cy="6115050"/>
            </a:xfrm>
            <a:custGeom>
              <a:avLst/>
              <a:gdLst/>
              <a:ahLst/>
              <a:cxnLst/>
              <a:rect r="r" b="b" t="t" l="l"/>
              <a:pathLst>
                <a:path h="6115050" w="6686550">
                  <a:moveTo>
                    <a:pt x="0" y="0"/>
                  </a:moveTo>
                  <a:lnTo>
                    <a:pt x="6686550" y="0"/>
                  </a:lnTo>
                  <a:lnTo>
                    <a:pt x="6686550" y="6115050"/>
                  </a:lnTo>
                  <a:lnTo>
                    <a:pt x="0" y="6115050"/>
                  </a:lnTo>
                  <a:close/>
                </a:path>
              </a:pathLst>
            </a:custGeom>
            <a:solidFill>
              <a:srgbClr val="ECE9E3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12430125" y="2214562"/>
            <a:ext cx="85725" cy="4572000"/>
            <a:chOff x="0" y="0"/>
            <a:chExt cx="114300" cy="60960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143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114300">
                  <a:moveTo>
                    <a:pt x="0" y="0"/>
                  </a:moveTo>
                  <a:lnTo>
                    <a:pt x="114300" y="0"/>
                  </a:lnTo>
                  <a:lnTo>
                    <a:pt x="114300" y="6096000"/>
                  </a:lnTo>
                  <a:lnTo>
                    <a:pt x="0" y="6096000"/>
                  </a:lnTo>
                  <a:close/>
                </a:path>
              </a:pathLst>
            </a:custGeom>
            <a:solidFill>
              <a:srgbClr val="BE5550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2773025" y="2443162"/>
            <a:ext cx="4400550" cy="485775"/>
            <a:chOff x="0" y="0"/>
            <a:chExt cx="5867400" cy="6477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867400" cy="647700"/>
            </a:xfrm>
            <a:custGeom>
              <a:avLst/>
              <a:gdLst/>
              <a:ahLst/>
              <a:cxnLst/>
              <a:rect r="r" b="b" t="t" l="l"/>
              <a:pathLst>
                <a:path h="647700" w="5867400">
                  <a:moveTo>
                    <a:pt x="0" y="0"/>
                  </a:moveTo>
                  <a:lnTo>
                    <a:pt x="5867400" y="0"/>
                  </a:lnTo>
                  <a:lnTo>
                    <a:pt x="5867400" y="647700"/>
                  </a:lnTo>
                  <a:lnTo>
                    <a:pt x="0" y="6477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6511" r="0" b="-126511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57150"/>
              <a:ext cx="5867400" cy="70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35"/>
                </a:lnSpc>
              </a:pPr>
              <a:r>
                <a:rPr lang="en-US" sz="2362" b="true">
                  <a:solidFill>
                    <a:srgbClr val="BE555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 — MENYEPAKATI HASIL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2773025" y="3043238"/>
            <a:ext cx="4400550" cy="3486150"/>
            <a:chOff x="0" y="0"/>
            <a:chExt cx="5867400" cy="46482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867400" cy="4648200"/>
            </a:xfrm>
            <a:custGeom>
              <a:avLst/>
              <a:gdLst/>
              <a:ahLst/>
              <a:cxnLst/>
              <a:rect r="r" b="b" t="t" l="l"/>
              <a:pathLst>
                <a:path h="4648200" w="5867400">
                  <a:moveTo>
                    <a:pt x="0" y="0"/>
                  </a:moveTo>
                  <a:lnTo>
                    <a:pt x="5867400" y="0"/>
                  </a:lnTo>
                  <a:lnTo>
                    <a:pt x="5867400" y="4648200"/>
                  </a:lnTo>
                  <a:lnTo>
                    <a:pt x="0" y="4648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1643" t="0" r="-51643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5867400" cy="4686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95"/>
                </a:lnSpc>
              </a:pPr>
              <a:r>
                <a:rPr lang="en-US" sz="1912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Mengunci ruang lingkup paper, cara evaluasi, pembagian penulisan, dan kalender menuju submission.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857250" y="7858125"/>
            <a:ext cx="16573500" cy="828675"/>
            <a:chOff x="0" y="0"/>
            <a:chExt cx="22098000" cy="11049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2098000" cy="1104900"/>
            </a:xfrm>
            <a:custGeom>
              <a:avLst/>
              <a:gdLst/>
              <a:ahLst/>
              <a:cxnLst/>
              <a:rect r="r" b="b" t="t" l="l"/>
              <a:pathLst>
                <a:path h="110490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1104900"/>
                  </a:lnTo>
                  <a:lnTo>
                    <a:pt x="0" y="1104900"/>
                  </a:lnTo>
                  <a:close/>
                </a:path>
              </a:pathLst>
            </a:custGeom>
            <a:solidFill>
              <a:srgbClr val="155744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171575" y="7958138"/>
            <a:ext cx="15944850" cy="614362"/>
            <a:chOff x="0" y="0"/>
            <a:chExt cx="21259800" cy="81915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1259800" cy="819150"/>
            </a:xfrm>
            <a:custGeom>
              <a:avLst/>
              <a:gdLst/>
              <a:ahLst/>
              <a:cxnLst/>
              <a:rect r="r" b="b" t="t" l="l"/>
              <a:pathLst>
                <a:path h="819150" w="21259800">
                  <a:moveTo>
                    <a:pt x="0" y="0"/>
                  </a:moveTo>
                  <a:lnTo>
                    <a:pt x="21259800" y="0"/>
                  </a:lnTo>
                  <a:lnTo>
                    <a:pt x="21259800" y="819150"/>
                  </a:lnTo>
                  <a:lnTo>
                    <a:pt x="0" y="8191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5704" r="0" b="-455704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21259800" cy="857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65"/>
                </a:lnSpc>
              </a:pPr>
              <a:r>
                <a:rPr lang="en-US" sz="2137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Pertemuan ini dimulai dari pekerjaan yang sudah ada—bukan dari nol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571500"/>
            <a:chOff x="0" y="0"/>
            <a:chExt cx="24384000" cy="762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762000"/>
            </a:xfrm>
            <a:custGeom>
              <a:avLst/>
              <a:gdLst/>
              <a:ahLst/>
              <a:cxnLst/>
              <a:rect r="r" b="b" t="t" l="l"/>
              <a:pathLst>
                <a:path h="762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15574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100012"/>
            <a:ext cx="16573500" cy="357188"/>
            <a:chOff x="0" y="0"/>
            <a:chExt cx="22098000" cy="4762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098000" cy="476250"/>
            </a:xfrm>
            <a:custGeom>
              <a:avLst/>
              <a:gdLst/>
              <a:ahLst/>
              <a:cxnLst/>
              <a:rect r="r" b="b" t="t" l="l"/>
              <a:pathLst>
                <a:path h="47625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476250"/>
                  </a:lnTo>
                  <a:lnTo>
                    <a:pt x="0" y="476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4105" r="0" b="-85410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2098000" cy="504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755"/>
                </a:lnSpc>
              </a:pPr>
              <a:r>
                <a:rPr lang="en-US" sz="1462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PEMBUKA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57250" y="885825"/>
            <a:ext cx="16573500" cy="771525"/>
            <a:chOff x="0" y="0"/>
            <a:chExt cx="22098000" cy="10287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098000" cy="1028700"/>
            </a:xfrm>
            <a:custGeom>
              <a:avLst/>
              <a:gdLst/>
              <a:ahLst/>
              <a:cxnLst/>
              <a:rect r="r" b="b" t="t" l="l"/>
              <a:pathLst>
                <a:path h="102870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1028700"/>
                  </a:lnTo>
                  <a:lnTo>
                    <a:pt x="0" y="10287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8567" r="0" b="-368567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76200"/>
              <a:ext cx="22098000" cy="1104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sz="4050" b="true">
                  <a:solidFill>
                    <a:srgbClr val="1557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Pekerjaan bergerak dari data mentah menuju paket paper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7002125" y="9686925"/>
            <a:ext cx="500062" cy="257175"/>
            <a:chOff x="0" y="0"/>
            <a:chExt cx="666750" cy="3429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66750" cy="342900"/>
            </a:xfrm>
            <a:custGeom>
              <a:avLst/>
              <a:gdLst/>
              <a:ahLst/>
              <a:cxnLst/>
              <a:rect r="r" b="b" t="t" l="l"/>
              <a:pathLst>
                <a:path h="342900" w="666750">
                  <a:moveTo>
                    <a:pt x="0" y="0"/>
                  </a:moveTo>
                  <a:lnTo>
                    <a:pt x="666750" y="0"/>
                  </a:lnTo>
                  <a:lnTo>
                    <a:pt x="666750" y="342900"/>
                  </a:lnTo>
                  <a:lnTo>
                    <a:pt x="0" y="3429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984" t="0" r="-15984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66750" cy="361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85"/>
                </a:lnSpc>
              </a:pPr>
              <a:r>
                <a:rPr lang="en-US" sz="1237">
                  <a:solidFill>
                    <a:srgbClr val="77736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614738" y="3857625"/>
            <a:ext cx="714375" cy="642938"/>
            <a:chOff x="0" y="0"/>
            <a:chExt cx="952500" cy="8572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52500" cy="857250"/>
            </a:xfrm>
            <a:custGeom>
              <a:avLst/>
              <a:gdLst/>
              <a:ahLst/>
              <a:cxnLst/>
              <a:rect r="r" b="b" t="t" l="l"/>
              <a:pathLst>
                <a:path h="857250" w="952500">
                  <a:moveTo>
                    <a:pt x="0" y="0"/>
                  </a:moveTo>
                  <a:lnTo>
                    <a:pt x="952500" y="0"/>
                  </a:lnTo>
                  <a:lnTo>
                    <a:pt x="952500" y="857250"/>
                  </a:lnTo>
                  <a:lnTo>
                    <a:pt x="0" y="857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5473" t="0" r="-65473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95250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779"/>
                </a:lnSpc>
              </a:pPr>
              <a:r>
                <a:rPr lang="en-US" sz="3150" b="true">
                  <a:solidFill>
                    <a:srgbClr val="77736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92981" y="3064669"/>
            <a:ext cx="2728912" cy="2157412"/>
            <a:chOff x="0" y="0"/>
            <a:chExt cx="3638550" cy="28765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38550" cy="2876550"/>
            </a:xfrm>
            <a:custGeom>
              <a:avLst/>
              <a:gdLst/>
              <a:ahLst/>
              <a:cxnLst/>
              <a:rect r="r" b="b" t="t" l="l"/>
              <a:pathLst>
                <a:path h="2876550" w="3638550">
                  <a:moveTo>
                    <a:pt x="0" y="0"/>
                  </a:moveTo>
                  <a:lnTo>
                    <a:pt x="3638550" y="0"/>
                  </a:lnTo>
                  <a:lnTo>
                    <a:pt x="3638550" y="2876550"/>
                  </a:lnTo>
                  <a:lnTo>
                    <a:pt x="0" y="2876550"/>
                  </a:lnTo>
                  <a:close/>
                </a:path>
              </a:pathLst>
            </a:custGeom>
            <a:solidFill>
              <a:srgbClr val="ECE9E3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228725" y="3314700"/>
            <a:ext cx="500062" cy="428625"/>
            <a:chOff x="0" y="0"/>
            <a:chExt cx="666750" cy="5715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66750" cy="571500"/>
            </a:xfrm>
            <a:custGeom>
              <a:avLst/>
              <a:gdLst/>
              <a:ahLst/>
              <a:cxnLst/>
              <a:rect r="r" b="b" t="t" l="l"/>
              <a:pathLst>
                <a:path h="571500" w="666750">
                  <a:moveTo>
                    <a:pt x="0" y="0"/>
                  </a:moveTo>
                  <a:lnTo>
                    <a:pt x="666750" y="0"/>
                  </a:lnTo>
                  <a:lnTo>
                    <a:pt x="666750" y="571500"/>
                  </a:lnTo>
                  <a:lnTo>
                    <a:pt x="0" y="5715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9974" t="0" r="-59974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666750" cy="619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70"/>
                </a:lnSpc>
              </a:pPr>
              <a:r>
                <a:rPr lang="en-US" sz="2475" b="true">
                  <a:solidFill>
                    <a:srgbClr val="1557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28725" y="3886200"/>
            <a:ext cx="2257425" cy="928688"/>
            <a:chOff x="0" y="0"/>
            <a:chExt cx="3009900" cy="123825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009900" cy="1238250"/>
            </a:xfrm>
            <a:custGeom>
              <a:avLst/>
              <a:gdLst/>
              <a:ahLst/>
              <a:cxnLst/>
              <a:rect r="r" b="b" t="t" l="l"/>
              <a:pathLst>
                <a:path h="1238250" w="3009900">
                  <a:moveTo>
                    <a:pt x="0" y="0"/>
                  </a:moveTo>
                  <a:lnTo>
                    <a:pt x="3009900" y="0"/>
                  </a:lnTo>
                  <a:lnTo>
                    <a:pt x="3009900" y="1238250"/>
                  </a:lnTo>
                  <a:lnTo>
                    <a:pt x="0" y="1238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783" t="0" r="-2783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300990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95"/>
                </a:lnSpc>
              </a:pPr>
              <a:r>
                <a:rPr lang="en-US" sz="1912" b="true">
                  <a:solidFill>
                    <a:srgbClr val="25232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harga, berita,</a:t>
              </a:r>
            </a:p>
            <a:p>
              <a:pPr algn="ctr">
                <a:lnSpc>
                  <a:spcPts val="2295"/>
                </a:lnSpc>
              </a:pPr>
              <a:r>
                <a:rPr lang="en-US" sz="1912" b="true">
                  <a:solidFill>
                    <a:srgbClr val="25232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hujan, vegetasi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6900862" y="3857625"/>
            <a:ext cx="714375" cy="642938"/>
            <a:chOff x="0" y="0"/>
            <a:chExt cx="952500" cy="85725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52500" cy="857250"/>
            </a:xfrm>
            <a:custGeom>
              <a:avLst/>
              <a:gdLst/>
              <a:ahLst/>
              <a:cxnLst/>
              <a:rect r="r" b="b" t="t" l="l"/>
              <a:pathLst>
                <a:path h="857250" w="952500">
                  <a:moveTo>
                    <a:pt x="0" y="0"/>
                  </a:moveTo>
                  <a:lnTo>
                    <a:pt x="952500" y="0"/>
                  </a:lnTo>
                  <a:lnTo>
                    <a:pt x="952500" y="857250"/>
                  </a:lnTo>
                  <a:lnTo>
                    <a:pt x="0" y="857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5473" t="0" r="-65473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66675"/>
              <a:ext cx="95250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779"/>
                </a:lnSpc>
              </a:pPr>
              <a:r>
                <a:rPr lang="en-US" sz="3150" b="true">
                  <a:solidFill>
                    <a:srgbClr val="77736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4279106" y="3064669"/>
            <a:ext cx="2728912" cy="2157412"/>
            <a:chOff x="0" y="0"/>
            <a:chExt cx="3638550" cy="287655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638550" cy="2876550"/>
            </a:xfrm>
            <a:custGeom>
              <a:avLst/>
              <a:gdLst/>
              <a:ahLst/>
              <a:cxnLst/>
              <a:rect r="r" b="b" t="t" l="l"/>
              <a:pathLst>
                <a:path h="2876550" w="3638550">
                  <a:moveTo>
                    <a:pt x="0" y="0"/>
                  </a:moveTo>
                  <a:lnTo>
                    <a:pt x="3638550" y="0"/>
                  </a:lnTo>
                  <a:lnTo>
                    <a:pt x="3638550" y="2876550"/>
                  </a:lnTo>
                  <a:lnTo>
                    <a:pt x="0" y="2876550"/>
                  </a:lnTo>
                  <a:close/>
                </a:path>
              </a:pathLst>
            </a:custGeom>
            <a:solidFill>
              <a:srgbClr val="ECE9E3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4514850" y="3314700"/>
            <a:ext cx="500062" cy="428625"/>
            <a:chOff x="0" y="0"/>
            <a:chExt cx="666750" cy="5715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66750" cy="571500"/>
            </a:xfrm>
            <a:custGeom>
              <a:avLst/>
              <a:gdLst/>
              <a:ahLst/>
              <a:cxnLst/>
              <a:rect r="r" b="b" t="t" l="l"/>
              <a:pathLst>
                <a:path h="571500" w="666750">
                  <a:moveTo>
                    <a:pt x="0" y="0"/>
                  </a:moveTo>
                  <a:lnTo>
                    <a:pt x="666750" y="0"/>
                  </a:lnTo>
                  <a:lnTo>
                    <a:pt x="666750" y="571500"/>
                  </a:lnTo>
                  <a:lnTo>
                    <a:pt x="0" y="5715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9974" t="0" r="-59974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666750" cy="619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70"/>
                </a:lnSpc>
              </a:pPr>
              <a:r>
                <a:rPr lang="en-US" sz="2475" b="true">
                  <a:solidFill>
                    <a:srgbClr val="1557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4514850" y="3886200"/>
            <a:ext cx="2257425" cy="928688"/>
            <a:chOff x="0" y="0"/>
            <a:chExt cx="3009900" cy="123825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009900" cy="1238250"/>
            </a:xfrm>
            <a:custGeom>
              <a:avLst/>
              <a:gdLst/>
              <a:ahLst/>
              <a:cxnLst/>
              <a:rect r="r" b="b" t="t" l="l"/>
              <a:pathLst>
                <a:path h="1238250" w="3009900">
                  <a:moveTo>
                    <a:pt x="0" y="0"/>
                  </a:moveTo>
                  <a:lnTo>
                    <a:pt x="3009900" y="0"/>
                  </a:lnTo>
                  <a:lnTo>
                    <a:pt x="3009900" y="1238250"/>
                  </a:lnTo>
                  <a:lnTo>
                    <a:pt x="0" y="1238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783" t="0" r="-2783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300990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95"/>
                </a:lnSpc>
              </a:pPr>
              <a:r>
                <a:rPr lang="en-US" sz="1912" b="true">
                  <a:solidFill>
                    <a:srgbClr val="25232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Pembersihan dan</a:t>
              </a:r>
            </a:p>
            <a:p>
              <a:pPr algn="ctr">
                <a:lnSpc>
                  <a:spcPts val="2295"/>
                </a:lnSpc>
              </a:pPr>
              <a:r>
                <a:rPr lang="en-US" sz="1912" b="true">
                  <a:solidFill>
                    <a:srgbClr val="25232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klasifikasi berita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0186988" y="3857625"/>
            <a:ext cx="714375" cy="642938"/>
            <a:chOff x="0" y="0"/>
            <a:chExt cx="952500" cy="85725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52500" cy="857250"/>
            </a:xfrm>
            <a:custGeom>
              <a:avLst/>
              <a:gdLst/>
              <a:ahLst/>
              <a:cxnLst/>
              <a:rect r="r" b="b" t="t" l="l"/>
              <a:pathLst>
                <a:path h="857250" w="952500">
                  <a:moveTo>
                    <a:pt x="0" y="0"/>
                  </a:moveTo>
                  <a:lnTo>
                    <a:pt x="952500" y="0"/>
                  </a:lnTo>
                  <a:lnTo>
                    <a:pt x="952500" y="857250"/>
                  </a:lnTo>
                  <a:lnTo>
                    <a:pt x="0" y="857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5473" t="0" r="-65473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66675"/>
              <a:ext cx="95250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779"/>
                </a:lnSpc>
              </a:pPr>
              <a:r>
                <a:rPr lang="en-US" sz="3150" b="true">
                  <a:solidFill>
                    <a:srgbClr val="77736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7565231" y="3064669"/>
            <a:ext cx="2728912" cy="2157412"/>
            <a:chOff x="0" y="0"/>
            <a:chExt cx="3638550" cy="287655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638550" cy="2876550"/>
            </a:xfrm>
            <a:custGeom>
              <a:avLst/>
              <a:gdLst/>
              <a:ahLst/>
              <a:cxnLst/>
              <a:rect r="r" b="b" t="t" l="l"/>
              <a:pathLst>
                <a:path h="2876550" w="3638550">
                  <a:moveTo>
                    <a:pt x="0" y="0"/>
                  </a:moveTo>
                  <a:lnTo>
                    <a:pt x="3638550" y="0"/>
                  </a:lnTo>
                  <a:lnTo>
                    <a:pt x="3638550" y="2876550"/>
                  </a:lnTo>
                  <a:lnTo>
                    <a:pt x="0" y="2876550"/>
                  </a:lnTo>
                  <a:close/>
                </a:path>
              </a:pathLst>
            </a:custGeom>
            <a:solidFill>
              <a:srgbClr val="ECE9E3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7800975" y="3314700"/>
            <a:ext cx="500062" cy="428625"/>
            <a:chOff x="0" y="0"/>
            <a:chExt cx="666750" cy="5715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66750" cy="571500"/>
            </a:xfrm>
            <a:custGeom>
              <a:avLst/>
              <a:gdLst/>
              <a:ahLst/>
              <a:cxnLst/>
              <a:rect r="r" b="b" t="t" l="l"/>
              <a:pathLst>
                <a:path h="571500" w="666750">
                  <a:moveTo>
                    <a:pt x="0" y="0"/>
                  </a:moveTo>
                  <a:lnTo>
                    <a:pt x="666750" y="0"/>
                  </a:lnTo>
                  <a:lnTo>
                    <a:pt x="666750" y="571500"/>
                  </a:lnTo>
                  <a:lnTo>
                    <a:pt x="0" y="5715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9974" t="0" r="-59974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666750" cy="619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70"/>
                </a:lnSpc>
              </a:pPr>
              <a:r>
                <a:rPr lang="en-US" sz="2475" b="true">
                  <a:solidFill>
                    <a:srgbClr val="1557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7800975" y="3886200"/>
            <a:ext cx="2257425" cy="928688"/>
            <a:chOff x="0" y="0"/>
            <a:chExt cx="3009900" cy="123825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009900" cy="1238250"/>
            </a:xfrm>
            <a:custGeom>
              <a:avLst/>
              <a:gdLst/>
              <a:ahLst/>
              <a:cxnLst/>
              <a:rect r="r" b="b" t="t" l="l"/>
              <a:pathLst>
                <a:path h="1238250" w="3009900">
                  <a:moveTo>
                    <a:pt x="0" y="0"/>
                  </a:moveTo>
                  <a:lnTo>
                    <a:pt x="3009900" y="0"/>
                  </a:lnTo>
                  <a:lnTo>
                    <a:pt x="3009900" y="1238250"/>
                  </a:lnTo>
                  <a:lnTo>
                    <a:pt x="0" y="1238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783" t="0" r="-2783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300990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95"/>
                </a:lnSpc>
              </a:pPr>
              <a:r>
                <a:rPr lang="en-US" sz="1912" b="true">
                  <a:solidFill>
                    <a:srgbClr val="25232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Target harga dan</a:t>
              </a:r>
            </a:p>
            <a:p>
              <a:pPr algn="ctr">
                <a:lnSpc>
                  <a:spcPts val="2295"/>
                </a:lnSpc>
              </a:pPr>
              <a:r>
                <a:rPr lang="en-US" sz="1912" b="true">
                  <a:solidFill>
                    <a:srgbClr val="25232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kalender bi-mingguan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3473112" y="3857625"/>
            <a:ext cx="714375" cy="642938"/>
            <a:chOff x="0" y="0"/>
            <a:chExt cx="952500" cy="85725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952500" cy="857250"/>
            </a:xfrm>
            <a:custGeom>
              <a:avLst/>
              <a:gdLst/>
              <a:ahLst/>
              <a:cxnLst/>
              <a:rect r="r" b="b" t="t" l="l"/>
              <a:pathLst>
                <a:path h="857250" w="952500">
                  <a:moveTo>
                    <a:pt x="0" y="0"/>
                  </a:moveTo>
                  <a:lnTo>
                    <a:pt x="952500" y="0"/>
                  </a:lnTo>
                  <a:lnTo>
                    <a:pt x="952500" y="857250"/>
                  </a:lnTo>
                  <a:lnTo>
                    <a:pt x="0" y="857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5473" t="0" r="-65473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66675"/>
              <a:ext cx="95250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779"/>
                </a:lnSpc>
              </a:pPr>
              <a:r>
                <a:rPr lang="en-US" sz="3150" b="true">
                  <a:solidFill>
                    <a:srgbClr val="77736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0851356" y="3064669"/>
            <a:ext cx="2728912" cy="2157412"/>
            <a:chOff x="0" y="0"/>
            <a:chExt cx="3638550" cy="287655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638550" cy="2876550"/>
            </a:xfrm>
            <a:custGeom>
              <a:avLst/>
              <a:gdLst/>
              <a:ahLst/>
              <a:cxnLst/>
              <a:rect r="r" b="b" t="t" l="l"/>
              <a:pathLst>
                <a:path h="2876550" w="3638550">
                  <a:moveTo>
                    <a:pt x="0" y="0"/>
                  </a:moveTo>
                  <a:lnTo>
                    <a:pt x="3638550" y="0"/>
                  </a:lnTo>
                  <a:lnTo>
                    <a:pt x="3638550" y="2876550"/>
                  </a:lnTo>
                  <a:lnTo>
                    <a:pt x="0" y="2876550"/>
                  </a:lnTo>
                  <a:close/>
                </a:path>
              </a:pathLst>
            </a:custGeom>
            <a:solidFill>
              <a:srgbClr val="ECE9E3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11087100" y="3314700"/>
            <a:ext cx="500062" cy="428625"/>
            <a:chOff x="0" y="0"/>
            <a:chExt cx="666750" cy="5715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666750" cy="571500"/>
            </a:xfrm>
            <a:custGeom>
              <a:avLst/>
              <a:gdLst/>
              <a:ahLst/>
              <a:cxnLst/>
              <a:rect r="r" b="b" t="t" l="l"/>
              <a:pathLst>
                <a:path h="571500" w="666750">
                  <a:moveTo>
                    <a:pt x="0" y="0"/>
                  </a:moveTo>
                  <a:lnTo>
                    <a:pt x="666750" y="0"/>
                  </a:lnTo>
                  <a:lnTo>
                    <a:pt x="666750" y="571500"/>
                  </a:lnTo>
                  <a:lnTo>
                    <a:pt x="0" y="5715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9974" t="0" r="-59974" b="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47625"/>
              <a:ext cx="666750" cy="619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70"/>
                </a:lnSpc>
              </a:pPr>
              <a:r>
                <a:rPr lang="en-US" sz="2475" b="true">
                  <a:solidFill>
                    <a:srgbClr val="1557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1087100" y="3886200"/>
            <a:ext cx="2257425" cy="928688"/>
            <a:chOff x="0" y="0"/>
            <a:chExt cx="3009900" cy="123825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3009900" cy="1238250"/>
            </a:xfrm>
            <a:custGeom>
              <a:avLst/>
              <a:gdLst/>
              <a:ahLst/>
              <a:cxnLst/>
              <a:rect r="r" b="b" t="t" l="l"/>
              <a:pathLst>
                <a:path h="1238250" w="3009900">
                  <a:moveTo>
                    <a:pt x="0" y="0"/>
                  </a:moveTo>
                  <a:lnTo>
                    <a:pt x="3009900" y="0"/>
                  </a:lnTo>
                  <a:lnTo>
                    <a:pt x="3009900" y="1238250"/>
                  </a:lnTo>
                  <a:lnTo>
                    <a:pt x="0" y="1238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783" t="0" r="-2783" b="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300990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95"/>
                </a:lnSpc>
              </a:pPr>
              <a:r>
                <a:rPr lang="en-US" sz="1912" b="true">
                  <a:solidFill>
                    <a:srgbClr val="25232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Pengujian statistik</a:t>
              </a:r>
            </a:p>
            <a:p>
              <a:pPr algn="ctr">
                <a:lnSpc>
                  <a:spcPts val="2295"/>
                </a:lnSpc>
              </a:pPr>
              <a:r>
                <a:rPr lang="en-US" sz="1912" b="true">
                  <a:solidFill>
                    <a:srgbClr val="25232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dan integrasi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4144625" y="3071812"/>
            <a:ext cx="2714625" cy="2143125"/>
            <a:chOff x="0" y="0"/>
            <a:chExt cx="3619500" cy="28575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3619500" cy="2857500"/>
            </a:xfrm>
            <a:custGeom>
              <a:avLst/>
              <a:gdLst/>
              <a:ahLst/>
              <a:cxnLst/>
              <a:rect r="r" b="b" t="t" l="l"/>
              <a:pathLst>
                <a:path h="2857500" w="3619500">
                  <a:moveTo>
                    <a:pt x="0" y="0"/>
                  </a:moveTo>
                  <a:lnTo>
                    <a:pt x="3619500" y="0"/>
                  </a:lnTo>
                  <a:lnTo>
                    <a:pt x="3619500" y="2857500"/>
                  </a:lnTo>
                  <a:lnTo>
                    <a:pt x="0" y="2857500"/>
                  </a:lnTo>
                  <a:close/>
                </a:path>
              </a:pathLst>
            </a:custGeom>
            <a:solidFill>
              <a:srgbClr val="155744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4373225" y="3314700"/>
            <a:ext cx="500062" cy="428625"/>
            <a:chOff x="0" y="0"/>
            <a:chExt cx="666750" cy="5715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66750" cy="571500"/>
            </a:xfrm>
            <a:custGeom>
              <a:avLst/>
              <a:gdLst/>
              <a:ahLst/>
              <a:cxnLst/>
              <a:rect r="r" b="b" t="t" l="l"/>
              <a:pathLst>
                <a:path h="571500" w="666750">
                  <a:moveTo>
                    <a:pt x="0" y="0"/>
                  </a:moveTo>
                  <a:lnTo>
                    <a:pt x="666750" y="0"/>
                  </a:lnTo>
                  <a:lnTo>
                    <a:pt x="666750" y="571500"/>
                  </a:lnTo>
                  <a:lnTo>
                    <a:pt x="0" y="5715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9974" t="0" r="-59974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666750" cy="619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70"/>
                </a:lnSpc>
              </a:pPr>
              <a:r>
                <a:rPr lang="en-US" sz="24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4373225" y="3886200"/>
            <a:ext cx="2257425" cy="928688"/>
            <a:chOff x="0" y="0"/>
            <a:chExt cx="3009900" cy="123825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009900" cy="1238250"/>
            </a:xfrm>
            <a:custGeom>
              <a:avLst/>
              <a:gdLst/>
              <a:ahLst/>
              <a:cxnLst/>
              <a:rect r="r" b="b" t="t" l="l"/>
              <a:pathLst>
                <a:path h="1238250" w="3009900">
                  <a:moveTo>
                    <a:pt x="0" y="0"/>
                  </a:moveTo>
                  <a:lnTo>
                    <a:pt x="3009900" y="0"/>
                  </a:lnTo>
                  <a:lnTo>
                    <a:pt x="3009900" y="1238250"/>
                  </a:lnTo>
                  <a:lnTo>
                    <a:pt x="0" y="1238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783" t="0" r="-2783" b="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300990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95"/>
                </a:lnSpc>
              </a:pPr>
              <a:r>
                <a:rPr lang="en-US" sz="1912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BSTS, evaluasi,</a:t>
              </a:r>
            </a:p>
            <a:p>
              <a:pPr algn="ctr">
                <a:lnSpc>
                  <a:spcPts val="2295"/>
                </a:lnSpc>
              </a:pPr>
              <a:r>
                <a:rPr lang="en-US" sz="1912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dan draft paper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857250" y="6715125"/>
            <a:ext cx="16573500" cy="828675"/>
            <a:chOff x="0" y="0"/>
            <a:chExt cx="22098000" cy="11049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2098000" cy="1104900"/>
            </a:xfrm>
            <a:custGeom>
              <a:avLst/>
              <a:gdLst/>
              <a:ahLst/>
              <a:cxnLst/>
              <a:rect r="r" b="b" t="t" l="l"/>
              <a:pathLst>
                <a:path h="110490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1104900"/>
                  </a:lnTo>
                  <a:lnTo>
                    <a:pt x="0" y="1104900"/>
                  </a:lnTo>
                  <a:close/>
                </a:path>
              </a:pathLst>
            </a:custGeom>
            <a:solidFill>
              <a:srgbClr val="D86F00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1171575" y="6815138"/>
            <a:ext cx="15944850" cy="614362"/>
            <a:chOff x="0" y="0"/>
            <a:chExt cx="21259800" cy="81915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21259800" cy="819150"/>
            </a:xfrm>
            <a:custGeom>
              <a:avLst/>
              <a:gdLst/>
              <a:ahLst/>
              <a:cxnLst/>
              <a:rect r="r" b="b" t="t" l="l"/>
              <a:pathLst>
                <a:path h="819150" w="21259800">
                  <a:moveTo>
                    <a:pt x="0" y="0"/>
                  </a:moveTo>
                  <a:lnTo>
                    <a:pt x="21259800" y="0"/>
                  </a:lnTo>
                  <a:lnTo>
                    <a:pt x="21259800" y="819150"/>
                  </a:lnTo>
                  <a:lnTo>
                    <a:pt x="0" y="8191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5704" r="0" b="-455704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21259800" cy="857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65"/>
                </a:lnSpc>
              </a:pPr>
              <a:r>
                <a:rPr lang="en-US" sz="2137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Yang sudah selesai cukup banyak; tantangannya sekarang adalah menyusun bukti menjadi cerita paper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5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28725" y="3600450"/>
            <a:ext cx="628650" cy="42862"/>
            <a:chOff x="0" y="0"/>
            <a:chExt cx="838200" cy="571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38200" cy="57150"/>
            </a:xfrm>
            <a:custGeom>
              <a:avLst/>
              <a:gdLst/>
              <a:ahLst/>
              <a:cxnLst/>
              <a:rect r="r" b="b" t="t" l="l"/>
              <a:pathLst>
                <a:path h="57150" w="838200">
                  <a:moveTo>
                    <a:pt x="0" y="0"/>
                  </a:moveTo>
                  <a:lnTo>
                    <a:pt x="838200" y="0"/>
                  </a:lnTo>
                  <a:lnTo>
                    <a:pt x="8382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D86F0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28725" y="2928938"/>
            <a:ext cx="7143750" cy="428625"/>
            <a:chOff x="0" y="0"/>
            <a:chExt cx="9525000" cy="5715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525000" cy="571500"/>
            </a:xfrm>
            <a:custGeom>
              <a:avLst/>
              <a:gdLst/>
              <a:ahLst/>
              <a:cxnLst/>
              <a:rect r="r" b="b" t="t" l="l"/>
              <a:pathLst>
                <a:path h="571500" w="9525000">
                  <a:moveTo>
                    <a:pt x="0" y="0"/>
                  </a:moveTo>
                  <a:lnTo>
                    <a:pt x="9525000" y="0"/>
                  </a:lnTo>
                  <a:lnTo>
                    <a:pt x="9525000" y="571500"/>
                  </a:lnTo>
                  <a:lnTo>
                    <a:pt x="0" y="5715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9525000" cy="590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BAGIAN 1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28725" y="3857625"/>
            <a:ext cx="15430500" cy="1000125"/>
            <a:chOff x="0" y="0"/>
            <a:chExt cx="20574000" cy="13335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574000" cy="1333500"/>
            </a:xfrm>
            <a:custGeom>
              <a:avLst/>
              <a:gdLst/>
              <a:ahLst/>
              <a:cxnLst/>
              <a:rect r="r" b="b" t="t" l="l"/>
              <a:pathLst>
                <a:path h="1333500" w="20574000">
                  <a:moveTo>
                    <a:pt x="0" y="0"/>
                  </a:moveTo>
                  <a:lnTo>
                    <a:pt x="20574000" y="0"/>
                  </a:lnTo>
                  <a:lnTo>
                    <a:pt x="20574000" y="1333500"/>
                  </a:lnTo>
                  <a:lnTo>
                    <a:pt x="0" y="13335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0626" r="0" b="-250626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04775"/>
              <a:ext cx="20574000" cy="1438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940"/>
                </a:lnSpc>
              </a:pPr>
              <a:r>
                <a:rPr lang="en-US" sz="4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Apa saja yang sudah dikerjakan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28725" y="5000625"/>
            <a:ext cx="15144750" cy="785812"/>
            <a:chOff x="0" y="0"/>
            <a:chExt cx="20193000" cy="10477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193000" cy="1047750"/>
            </a:xfrm>
            <a:custGeom>
              <a:avLst/>
              <a:gdLst/>
              <a:ahLst/>
              <a:cxnLst/>
              <a:rect r="r" b="b" t="t" l="l"/>
              <a:pathLst>
                <a:path h="1047750" w="20193000">
                  <a:moveTo>
                    <a:pt x="0" y="0"/>
                  </a:moveTo>
                  <a:lnTo>
                    <a:pt x="20193000" y="0"/>
                  </a:lnTo>
                  <a:lnTo>
                    <a:pt x="20193000" y="1047750"/>
                  </a:lnTo>
                  <a:lnTo>
                    <a:pt x="0" y="10477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5529" r="0" b="-325529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0193000" cy="1085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65"/>
                </a:lnSpc>
              </a:pPr>
              <a:r>
                <a:rPr lang="en-US" sz="2137">
                  <a:solidFill>
                    <a:srgbClr val="C9D9D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Mulai dari pengumpulan data sampai prototipe model dan bahan penulisan.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571500"/>
            <a:chOff x="0" y="0"/>
            <a:chExt cx="24384000" cy="762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762000"/>
            </a:xfrm>
            <a:custGeom>
              <a:avLst/>
              <a:gdLst/>
              <a:ahLst/>
              <a:cxnLst/>
              <a:rect r="r" b="b" t="t" l="l"/>
              <a:pathLst>
                <a:path h="762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15574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100012"/>
            <a:ext cx="16573500" cy="357188"/>
            <a:chOff x="0" y="0"/>
            <a:chExt cx="22098000" cy="4762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098000" cy="476250"/>
            </a:xfrm>
            <a:custGeom>
              <a:avLst/>
              <a:gdLst/>
              <a:ahLst/>
              <a:cxnLst/>
              <a:rect r="r" b="b" t="t" l="l"/>
              <a:pathLst>
                <a:path h="47625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476250"/>
                  </a:lnTo>
                  <a:lnTo>
                    <a:pt x="0" y="476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4105" r="0" b="-85410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2098000" cy="504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755"/>
                </a:lnSpc>
              </a:pPr>
              <a:r>
                <a:rPr lang="en-US" sz="1462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PEKERJAAN YANG SUDAH DILAKUKAN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57250" y="885825"/>
            <a:ext cx="16573500" cy="771525"/>
            <a:chOff x="0" y="0"/>
            <a:chExt cx="22098000" cy="10287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098000" cy="1028700"/>
            </a:xfrm>
            <a:custGeom>
              <a:avLst/>
              <a:gdLst/>
              <a:ahLst/>
              <a:cxnLst/>
              <a:rect r="r" b="b" t="t" l="l"/>
              <a:pathLst>
                <a:path h="102870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1028700"/>
                  </a:lnTo>
                  <a:lnTo>
                    <a:pt x="0" y="10287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8567" r="0" b="-368567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76200"/>
              <a:ext cx="22098000" cy="1104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sz="4050" b="true">
                  <a:solidFill>
                    <a:srgbClr val="1557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Empat sumber data sudah disatukan pada kalender yang sama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7002125" y="9686925"/>
            <a:ext cx="500062" cy="257175"/>
            <a:chOff x="0" y="0"/>
            <a:chExt cx="666750" cy="3429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66750" cy="342900"/>
            </a:xfrm>
            <a:custGeom>
              <a:avLst/>
              <a:gdLst/>
              <a:ahLst/>
              <a:cxnLst/>
              <a:rect r="r" b="b" t="t" l="l"/>
              <a:pathLst>
                <a:path h="342900" w="666750">
                  <a:moveTo>
                    <a:pt x="0" y="0"/>
                  </a:moveTo>
                  <a:lnTo>
                    <a:pt x="666750" y="0"/>
                  </a:lnTo>
                  <a:lnTo>
                    <a:pt x="666750" y="342900"/>
                  </a:lnTo>
                  <a:lnTo>
                    <a:pt x="0" y="3429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984" t="0" r="-15984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66750" cy="361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85"/>
                </a:lnSpc>
              </a:pPr>
              <a:r>
                <a:rPr lang="en-US" sz="1237">
                  <a:solidFill>
                    <a:srgbClr val="77736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50106" y="2135981"/>
            <a:ext cx="3729038" cy="5014912"/>
            <a:chOff x="0" y="0"/>
            <a:chExt cx="4972050" cy="66865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972050" cy="6686550"/>
            </a:xfrm>
            <a:custGeom>
              <a:avLst/>
              <a:gdLst/>
              <a:ahLst/>
              <a:cxnLst/>
              <a:rect r="r" b="b" t="t" l="l"/>
              <a:pathLst>
                <a:path h="6686550" w="4972050">
                  <a:moveTo>
                    <a:pt x="0" y="0"/>
                  </a:moveTo>
                  <a:lnTo>
                    <a:pt x="4972050" y="0"/>
                  </a:lnTo>
                  <a:lnTo>
                    <a:pt x="4972050" y="6686550"/>
                  </a:lnTo>
                  <a:lnTo>
                    <a:pt x="0" y="6686550"/>
                  </a:lnTo>
                  <a:close/>
                </a:path>
              </a:pathLst>
            </a:custGeom>
            <a:solidFill>
              <a:srgbClr val="ECE9E3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857250" y="2143125"/>
            <a:ext cx="85725" cy="5000625"/>
            <a:chOff x="0" y="0"/>
            <a:chExt cx="114300" cy="66675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4300" cy="6667500"/>
            </a:xfrm>
            <a:custGeom>
              <a:avLst/>
              <a:gdLst/>
              <a:ahLst/>
              <a:cxnLst/>
              <a:rect r="r" b="b" t="t" l="l"/>
              <a:pathLst>
                <a:path h="6667500" w="114300">
                  <a:moveTo>
                    <a:pt x="0" y="0"/>
                  </a:moveTo>
                  <a:lnTo>
                    <a:pt x="114300" y="0"/>
                  </a:lnTo>
                  <a:lnTo>
                    <a:pt x="114300" y="6667500"/>
                  </a:lnTo>
                  <a:lnTo>
                    <a:pt x="0" y="6667500"/>
                  </a:lnTo>
                  <a:close/>
                </a:path>
              </a:pathLst>
            </a:custGeom>
            <a:solidFill>
              <a:srgbClr val="155744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00150" y="2371725"/>
            <a:ext cx="3114675" cy="485775"/>
            <a:chOff x="0" y="0"/>
            <a:chExt cx="4152900" cy="6477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152900" cy="647700"/>
            </a:xfrm>
            <a:custGeom>
              <a:avLst/>
              <a:gdLst/>
              <a:ahLst/>
              <a:cxnLst/>
              <a:rect r="r" b="b" t="t" l="l"/>
              <a:pathLst>
                <a:path h="647700" w="4152900">
                  <a:moveTo>
                    <a:pt x="0" y="0"/>
                  </a:moveTo>
                  <a:lnTo>
                    <a:pt x="4152900" y="0"/>
                  </a:lnTo>
                  <a:lnTo>
                    <a:pt x="4152900" y="647700"/>
                  </a:lnTo>
                  <a:lnTo>
                    <a:pt x="0" y="6477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933" r="0" b="-74933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4152900" cy="70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35"/>
                </a:lnSpc>
              </a:pPr>
              <a:r>
                <a:rPr lang="en-US" sz="2362" b="true">
                  <a:solidFill>
                    <a:srgbClr val="1557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HARGA PIHPS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00150" y="2971800"/>
            <a:ext cx="3114675" cy="3914775"/>
            <a:chOff x="0" y="0"/>
            <a:chExt cx="4152900" cy="52197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152900" cy="5219700"/>
            </a:xfrm>
            <a:custGeom>
              <a:avLst/>
              <a:gdLst/>
              <a:ahLst/>
              <a:cxnLst/>
              <a:rect r="r" b="b" t="t" l="l"/>
              <a:pathLst>
                <a:path h="5219700" w="4152900">
                  <a:moveTo>
                    <a:pt x="0" y="0"/>
                  </a:moveTo>
                  <a:lnTo>
                    <a:pt x="4152900" y="0"/>
                  </a:lnTo>
                  <a:lnTo>
                    <a:pt x="4152900" y="5219700"/>
                  </a:lnTo>
                  <a:lnTo>
                    <a:pt x="0" y="52197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1262" t="0" r="-111262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4152900" cy="5257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95"/>
                </a:lnSpc>
              </a:pPr>
              <a:r>
                <a:rPr lang="en-US" sz="1912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Harga harian pangan Medan</a:t>
              </a:r>
            </a:p>
            <a:p>
              <a:pPr algn="l">
                <a:lnSpc>
                  <a:spcPts val="2295"/>
                </a:lnSpc>
              </a:pPr>
            </a:p>
            <a:p>
              <a:pPr algn="l">
                <a:lnSpc>
                  <a:spcPts val="2295"/>
                </a:lnSpc>
              </a:pPr>
              <a:r>
                <a:rPr lang="en-US" sz="1912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Diubah menjadi indeks dan perubahan dua mingguan.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136356" y="2135981"/>
            <a:ext cx="3729038" cy="5014912"/>
            <a:chOff x="0" y="0"/>
            <a:chExt cx="4972050" cy="66865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972050" cy="6686550"/>
            </a:xfrm>
            <a:custGeom>
              <a:avLst/>
              <a:gdLst/>
              <a:ahLst/>
              <a:cxnLst/>
              <a:rect r="r" b="b" t="t" l="l"/>
              <a:pathLst>
                <a:path h="6686550" w="4972050">
                  <a:moveTo>
                    <a:pt x="0" y="0"/>
                  </a:moveTo>
                  <a:lnTo>
                    <a:pt x="4972050" y="0"/>
                  </a:lnTo>
                  <a:lnTo>
                    <a:pt x="4972050" y="6686550"/>
                  </a:lnTo>
                  <a:lnTo>
                    <a:pt x="0" y="6686550"/>
                  </a:lnTo>
                  <a:close/>
                </a:path>
              </a:pathLst>
            </a:custGeom>
            <a:solidFill>
              <a:srgbClr val="ECE9E3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5143500" y="2143125"/>
            <a:ext cx="85725" cy="5000625"/>
            <a:chOff x="0" y="0"/>
            <a:chExt cx="114300" cy="66675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4300" cy="6667500"/>
            </a:xfrm>
            <a:custGeom>
              <a:avLst/>
              <a:gdLst/>
              <a:ahLst/>
              <a:cxnLst/>
              <a:rect r="r" b="b" t="t" l="l"/>
              <a:pathLst>
                <a:path h="6667500" w="114300">
                  <a:moveTo>
                    <a:pt x="0" y="0"/>
                  </a:moveTo>
                  <a:lnTo>
                    <a:pt x="114300" y="0"/>
                  </a:lnTo>
                  <a:lnTo>
                    <a:pt x="114300" y="6667500"/>
                  </a:lnTo>
                  <a:lnTo>
                    <a:pt x="0" y="6667500"/>
                  </a:lnTo>
                  <a:close/>
                </a:path>
              </a:pathLst>
            </a:custGeom>
            <a:solidFill>
              <a:srgbClr val="D86F00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5486400" y="2371725"/>
            <a:ext cx="3114675" cy="485775"/>
            <a:chOff x="0" y="0"/>
            <a:chExt cx="4152900" cy="6477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152900" cy="647700"/>
            </a:xfrm>
            <a:custGeom>
              <a:avLst/>
              <a:gdLst/>
              <a:ahLst/>
              <a:cxnLst/>
              <a:rect r="r" b="b" t="t" l="l"/>
              <a:pathLst>
                <a:path h="647700" w="4152900">
                  <a:moveTo>
                    <a:pt x="0" y="0"/>
                  </a:moveTo>
                  <a:lnTo>
                    <a:pt x="4152900" y="0"/>
                  </a:lnTo>
                  <a:lnTo>
                    <a:pt x="4152900" y="647700"/>
                  </a:lnTo>
                  <a:lnTo>
                    <a:pt x="0" y="6477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933" r="0" b="-74933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4152900" cy="70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35"/>
                </a:lnSpc>
              </a:pPr>
              <a:r>
                <a:rPr lang="en-US" sz="2362" b="true">
                  <a:solidFill>
                    <a:srgbClr val="D86F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BERITA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5486400" y="2971800"/>
            <a:ext cx="3114675" cy="3914775"/>
            <a:chOff x="0" y="0"/>
            <a:chExt cx="4152900" cy="52197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152900" cy="5219700"/>
            </a:xfrm>
            <a:custGeom>
              <a:avLst/>
              <a:gdLst/>
              <a:ahLst/>
              <a:cxnLst/>
              <a:rect r="r" b="b" t="t" l="l"/>
              <a:pathLst>
                <a:path h="5219700" w="4152900">
                  <a:moveTo>
                    <a:pt x="0" y="0"/>
                  </a:moveTo>
                  <a:lnTo>
                    <a:pt x="4152900" y="0"/>
                  </a:lnTo>
                  <a:lnTo>
                    <a:pt x="4152900" y="5219700"/>
                  </a:lnTo>
                  <a:lnTo>
                    <a:pt x="0" y="52197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1262" t="0" r="-111262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4152900" cy="5257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95"/>
                </a:lnSpc>
              </a:pPr>
              <a:r>
                <a:rPr lang="en-US" sz="1912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Korpus 2.160 artikel</a:t>
              </a:r>
            </a:p>
            <a:p>
              <a:pPr algn="l">
                <a:lnSpc>
                  <a:spcPts val="2295"/>
                </a:lnSpc>
              </a:pPr>
            </a:p>
            <a:p>
              <a:pPr algn="l">
                <a:lnSpc>
                  <a:spcPts val="2295"/>
                </a:lnSpc>
              </a:pPr>
              <a:r>
                <a:rPr lang="en-US" sz="1912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Dibersihkan, diberi label, dan diringkas per periode.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422606" y="2135981"/>
            <a:ext cx="3729038" cy="5014912"/>
            <a:chOff x="0" y="0"/>
            <a:chExt cx="4972050" cy="668655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972050" cy="6686550"/>
            </a:xfrm>
            <a:custGeom>
              <a:avLst/>
              <a:gdLst/>
              <a:ahLst/>
              <a:cxnLst/>
              <a:rect r="r" b="b" t="t" l="l"/>
              <a:pathLst>
                <a:path h="6686550" w="4972050">
                  <a:moveTo>
                    <a:pt x="0" y="0"/>
                  </a:moveTo>
                  <a:lnTo>
                    <a:pt x="4972050" y="0"/>
                  </a:lnTo>
                  <a:lnTo>
                    <a:pt x="4972050" y="6686550"/>
                  </a:lnTo>
                  <a:lnTo>
                    <a:pt x="0" y="6686550"/>
                  </a:lnTo>
                  <a:close/>
                </a:path>
              </a:pathLst>
            </a:custGeom>
            <a:solidFill>
              <a:srgbClr val="ECE9E3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9429750" y="2143125"/>
            <a:ext cx="85725" cy="5000625"/>
            <a:chOff x="0" y="0"/>
            <a:chExt cx="114300" cy="66675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14300" cy="6667500"/>
            </a:xfrm>
            <a:custGeom>
              <a:avLst/>
              <a:gdLst/>
              <a:ahLst/>
              <a:cxnLst/>
              <a:rect r="r" b="b" t="t" l="l"/>
              <a:pathLst>
                <a:path h="6667500" w="114300">
                  <a:moveTo>
                    <a:pt x="0" y="0"/>
                  </a:moveTo>
                  <a:lnTo>
                    <a:pt x="114300" y="0"/>
                  </a:lnTo>
                  <a:lnTo>
                    <a:pt x="114300" y="6667500"/>
                  </a:lnTo>
                  <a:lnTo>
                    <a:pt x="0" y="6667500"/>
                  </a:lnTo>
                  <a:close/>
                </a:path>
              </a:pathLst>
            </a:custGeom>
            <a:solidFill>
              <a:srgbClr val="2D755C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9772650" y="2371725"/>
            <a:ext cx="3114675" cy="485775"/>
            <a:chOff x="0" y="0"/>
            <a:chExt cx="4152900" cy="6477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152900" cy="647700"/>
            </a:xfrm>
            <a:custGeom>
              <a:avLst/>
              <a:gdLst/>
              <a:ahLst/>
              <a:cxnLst/>
              <a:rect r="r" b="b" t="t" l="l"/>
              <a:pathLst>
                <a:path h="647700" w="4152900">
                  <a:moveTo>
                    <a:pt x="0" y="0"/>
                  </a:moveTo>
                  <a:lnTo>
                    <a:pt x="4152900" y="0"/>
                  </a:lnTo>
                  <a:lnTo>
                    <a:pt x="4152900" y="647700"/>
                  </a:lnTo>
                  <a:lnTo>
                    <a:pt x="0" y="6477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933" r="0" b="-74933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57150"/>
              <a:ext cx="4152900" cy="70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35"/>
                </a:lnSpc>
              </a:pPr>
              <a:r>
                <a:rPr lang="en-US" sz="2362" b="true">
                  <a:solidFill>
                    <a:srgbClr val="2D75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HUJAN &amp; VEGETASI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772650" y="2971800"/>
            <a:ext cx="3114675" cy="3914775"/>
            <a:chOff x="0" y="0"/>
            <a:chExt cx="4152900" cy="52197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152900" cy="5219700"/>
            </a:xfrm>
            <a:custGeom>
              <a:avLst/>
              <a:gdLst/>
              <a:ahLst/>
              <a:cxnLst/>
              <a:rect r="r" b="b" t="t" l="l"/>
              <a:pathLst>
                <a:path h="5219700" w="4152900">
                  <a:moveTo>
                    <a:pt x="0" y="0"/>
                  </a:moveTo>
                  <a:lnTo>
                    <a:pt x="4152900" y="0"/>
                  </a:lnTo>
                  <a:lnTo>
                    <a:pt x="4152900" y="5219700"/>
                  </a:lnTo>
                  <a:lnTo>
                    <a:pt x="0" y="52197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1262" t="0" r="-111262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4152900" cy="5257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95"/>
                </a:lnSpc>
              </a:pPr>
              <a:r>
                <a:rPr lang="en-US" sz="1912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CHIRPS dan MODIS VHI untuk wilayah Karo</a:t>
              </a:r>
            </a:p>
            <a:p>
              <a:pPr algn="l">
                <a:lnSpc>
                  <a:spcPts val="2295"/>
                </a:lnSpc>
              </a:pPr>
            </a:p>
            <a:p>
              <a:pPr algn="l">
                <a:lnSpc>
                  <a:spcPts val="2295"/>
                </a:lnSpc>
              </a:pPr>
              <a:r>
                <a:rPr lang="en-US" sz="1912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Dibentuk sebagai lag 2–6 minggu.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3708856" y="2135981"/>
            <a:ext cx="3729038" cy="5014912"/>
            <a:chOff x="0" y="0"/>
            <a:chExt cx="4972050" cy="668655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972050" cy="6686550"/>
            </a:xfrm>
            <a:custGeom>
              <a:avLst/>
              <a:gdLst/>
              <a:ahLst/>
              <a:cxnLst/>
              <a:rect r="r" b="b" t="t" l="l"/>
              <a:pathLst>
                <a:path h="6686550" w="4972050">
                  <a:moveTo>
                    <a:pt x="0" y="0"/>
                  </a:moveTo>
                  <a:lnTo>
                    <a:pt x="4972050" y="0"/>
                  </a:lnTo>
                  <a:lnTo>
                    <a:pt x="4972050" y="6686550"/>
                  </a:lnTo>
                  <a:lnTo>
                    <a:pt x="0" y="6686550"/>
                  </a:lnTo>
                  <a:close/>
                </a:path>
              </a:pathLst>
            </a:custGeom>
            <a:solidFill>
              <a:srgbClr val="ECE9E3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13716000" y="2143125"/>
            <a:ext cx="85725" cy="5000625"/>
            <a:chOff x="0" y="0"/>
            <a:chExt cx="114300" cy="66675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14300" cy="6667500"/>
            </a:xfrm>
            <a:custGeom>
              <a:avLst/>
              <a:gdLst/>
              <a:ahLst/>
              <a:cxnLst/>
              <a:rect r="r" b="b" t="t" l="l"/>
              <a:pathLst>
                <a:path h="6667500" w="114300">
                  <a:moveTo>
                    <a:pt x="0" y="0"/>
                  </a:moveTo>
                  <a:lnTo>
                    <a:pt x="114300" y="0"/>
                  </a:lnTo>
                  <a:lnTo>
                    <a:pt x="114300" y="6667500"/>
                  </a:lnTo>
                  <a:lnTo>
                    <a:pt x="0" y="6667500"/>
                  </a:lnTo>
                  <a:close/>
                </a:path>
              </a:pathLst>
            </a:custGeom>
            <a:solidFill>
              <a:srgbClr val="BE5550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4058900" y="2371725"/>
            <a:ext cx="3114675" cy="485775"/>
            <a:chOff x="0" y="0"/>
            <a:chExt cx="4152900" cy="6477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152900" cy="647700"/>
            </a:xfrm>
            <a:custGeom>
              <a:avLst/>
              <a:gdLst/>
              <a:ahLst/>
              <a:cxnLst/>
              <a:rect r="r" b="b" t="t" l="l"/>
              <a:pathLst>
                <a:path h="647700" w="4152900">
                  <a:moveTo>
                    <a:pt x="0" y="0"/>
                  </a:moveTo>
                  <a:lnTo>
                    <a:pt x="4152900" y="0"/>
                  </a:lnTo>
                  <a:lnTo>
                    <a:pt x="4152900" y="647700"/>
                  </a:lnTo>
                  <a:lnTo>
                    <a:pt x="0" y="6477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933" r="0" b="-74933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57150"/>
              <a:ext cx="4152900" cy="70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35"/>
                </a:lnSpc>
              </a:pPr>
              <a:r>
                <a:rPr lang="en-US" sz="2362" b="true">
                  <a:solidFill>
                    <a:srgbClr val="BE555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KALENDER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4058900" y="2971800"/>
            <a:ext cx="3114675" cy="3914775"/>
            <a:chOff x="0" y="0"/>
            <a:chExt cx="4152900" cy="52197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152900" cy="5219700"/>
            </a:xfrm>
            <a:custGeom>
              <a:avLst/>
              <a:gdLst/>
              <a:ahLst/>
              <a:cxnLst/>
              <a:rect r="r" b="b" t="t" l="l"/>
              <a:pathLst>
                <a:path h="5219700" w="4152900">
                  <a:moveTo>
                    <a:pt x="0" y="0"/>
                  </a:moveTo>
                  <a:lnTo>
                    <a:pt x="4152900" y="0"/>
                  </a:lnTo>
                  <a:lnTo>
                    <a:pt x="4152900" y="5219700"/>
                  </a:lnTo>
                  <a:lnTo>
                    <a:pt x="0" y="52197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1262" t="0" r="-111262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4152900" cy="5257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95"/>
                </a:lnSpc>
              </a:pPr>
              <a:r>
                <a:rPr lang="en-US" sz="1912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Ramadan dan Nataru</a:t>
              </a:r>
            </a:p>
            <a:p>
              <a:pPr algn="l">
                <a:lnSpc>
                  <a:spcPts val="2295"/>
                </a:lnSpc>
              </a:pPr>
            </a:p>
            <a:p>
              <a:pPr algn="l">
                <a:lnSpc>
                  <a:spcPts val="2295"/>
                </a:lnSpc>
              </a:pPr>
              <a:r>
                <a:rPr lang="en-US" sz="1912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Dihitung sebagai porsi hari dalam setiap periode 14 hari.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857250" y="7858125"/>
            <a:ext cx="16573500" cy="828675"/>
            <a:chOff x="0" y="0"/>
            <a:chExt cx="22098000" cy="11049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2098000" cy="1104900"/>
            </a:xfrm>
            <a:custGeom>
              <a:avLst/>
              <a:gdLst/>
              <a:ahLst/>
              <a:cxnLst/>
              <a:rect r="r" b="b" t="t" l="l"/>
              <a:pathLst>
                <a:path h="110490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1104900"/>
                  </a:lnTo>
                  <a:lnTo>
                    <a:pt x="0" y="1104900"/>
                  </a:lnTo>
                  <a:close/>
                </a:path>
              </a:pathLst>
            </a:custGeom>
            <a:solidFill>
              <a:srgbClr val="155744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171575" y="7958138"/>
            <a:ext cx="15944850" cy="614362"/>
            <a:chOff x="0" y="0"/>
            <a:chExt cx="21259800" cy="81915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1259800" cy="819150"/>
            </a:xfrm>
            <a:custGeom>
              <a:avLst/>
              <a:gdLst/>
              <a:ahLst/>
              <a:cxnLst/>
              <a:rect r="r" b="b" t="t" l="l"/>
              <a:pathLst>
                <a:path h="819150" w="21259800">
                  <a:moveTo>
                    <a:pt x="0" y="0"/>
                  </a:moveTo>
                  <a:lnTo>
                    <a:pt x="21259800" y="0"/>
                  </a:lnTo>
                  <a:lnTo>
                    <a:pt x="21259800" y="819150"/>
                  </a:lnTo>
                  <a:lnTo>
                    <a:pt x="0" y="8191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5704" r="0" b="-455704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21259800" cy="857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65"/>
                </a:lnSpc>
              </a:pPr>
              <a:r>
                <a:rPr lang="en-US" sz="2137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Semua sumber dipetakan ke unit analisis yang sama: satu periode 14 hari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571500"/>
            <a:chOff x="0" y="0"/>
            <a:chExt cx="24384000" cy="762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762000"/>
            </a:xfrm>
            <a:custGeom>
              <a:avLst/>
              <a:gdLst/>
              <a:ahLst/>
              <a:cxnLst/>
              <a:rect r="r" b="b" t="t" l="l"/>
              <a:pathLst>
                <a:path h="762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15574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100012"/>
            <a:ext cx="16573500" cy="357188"/>
            <a:chOff x="0" y="0"/>
            <a:chExt cx="22098000" cy="4762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098000" cy="476250"/>
            </a:xfrm>
            <a:custGeom>
              <a:avLst/>
              <a:gdLst/>
              <a:ahLst/>
              <a:cxnLst/>
              <a:rect r="r" b="b" t="t" l="l"/>
              <a:pathLst>
                <a:path h="47625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476250"/>
                  </a:lnTo>
                  <a:lnTo>
                    <a:pt x="0" y="476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4105" r="0" b="-85410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2098000" cy="504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755"/>
                </a:lnSpc>
              </a:pPr>
              <a:r>
                <a:rPr lang="en-US" sz="1462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PEKERJAAN YANG SUDAH DILAKUKAN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57250" y="885825"/>
            <a:ext cx="16573500" cy="771525"/>
            <a:chOff x="0" y="0"/>
            <a:chExt cx="22098000" cy="10287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098000" cy="1028700"/>
            </a:xfrm>
            <a:custGeom>
              <a:avLst/>
              <a:gdLst/>
              <a:ahLst/>
              <a:cxnLst/>
              <a:rect r="r" b="b" t="t" l="l"/>
              <a:pathLst>
                <a:path h="102870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1028700"/>
                  </a:lnTo>
                  <a:lnTo>
                    <a:pt x="0" y="10287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8567" r="0" b="-368567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76200"/>
              <a:ext cx="22098000" cy="1104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sz="4050" b="true">
                  <a:solidFill>
                    <a:srgbClr val="1557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Korpus berita sudah dibersihkan dan diubah menjadi sinyal terukur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7002125" y="9686925"/>
            <a:ext cx="500062" cy="257175"/>
            <a:chOff x="0" y="0"/>
            <a:chExt cx="666750" cy="3429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66750" cy="342900"/>
            </a:xfrm>
            <a:custGeom>
              <a:avLst/>
              <a:gdLst/>
              <a:ahLst/>
              <a:cxnLst/>
              <a:rect r="r" b="b" t="t" l="l"/>
              <a:pathLst>
                <a:path h="342900" w="666750">
                  <a:moveTo>
                    <a:pt x="0" y="0"/>
                  </a:moveTo>
                  <a:lnTo>
                    <a:pt x="666750" y="0"/>
                  </a:lnTo>
                  <a:lnTo>
                    <a:pt x="666750" y="342900"/>
                  </a:lnTo>
                  <a:lnTo>
                    <a:pt x="0" y="3429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984" t="0" r="-15984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66750" cy="361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85"/>
                </a:lnSpc>
              </a:pPr>
              <a:r>
                <a:rPr lang="en-US" sz="1237">
                  <a:solidFill>
                    <a:srgbClr val="77736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57250" y="1657350"/>
            <a:ext cx="7143750" cy="342900"/>
            <a:chOff x="0" y="0"/>
            <a:chExt cx="9525000" cy="457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525000" cy="457200"/>
            </a:xfrm>
            <a:custGeom>
              <a:avLst/>
              <a:gdLst/>
              <a:ahLst/>
              <a:cxnLst/>
              <a:rect r="r" b="b" t="t" l="l"/>
              <a:pathLst>
                <a:path h="457200" w="9525000">
                  <a:moveTo>
                    <a:pt x="0" y="0"/>
                  </a:moveTo>
                  <a:lnTo>
                    <a:pt x="9525000" y="0"/>
                  </a:lnTo>
                  <a:lnTo>
                    <a:pt x="95250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5938" r="0" b="-355938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9525000" cy="485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55"/>
                </a:lnSpc>
              </a:pPr>
              <a:r>
                <a:rPr lang="en-US" sz="1462" b="true">
                  <a:solidFill>
                    <a:srgbClr val="D86F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ALUR PENGOLAHAN BERITA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135981" y="2278856"/>
            <a:ext cx="14016038" cy="842962"/>
            <a:chOff x="0" y="0"/>
            <a:chExt cx="18688050" cy="11239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8688050" cy="1123950"/>
            </a:xfrm>
            <a:custGeom>
              <a:avLst/>
              <a:gdLst/>
              <a:ahLst/>
              <a:cxnLst/>
              <a:rect r="r" b="b" t="t" l="l"/>
              <a:pathLst>
                <a:path h="1123950" w="18688050">
                  <a:moveTo>
                    <a:pt x="0" y="0"/>
                  </a:moveTo>
                  <a:lnTo>
                    <a:pt x="18688050" y="0"/>
                  </a:lnTo>
                  <a:lnTo>
                    <a:pt x="18688050" y="1123950"/>
                  </a:lnTo>
                  <a:lnTo>
                    <a:pt x="0" y="1123950"/>
                  </a:lnTo>
                  <a:close/>
                </a:path>
              </a:pathLst>
            </a:custGeom>
            <a:solidFill>
              <a:srgbClr val="ECE9E3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2500312" y="2400300"/>
            <a:ext cx="13287375" cy="571500"/>
            <a:chOff x="0" y="0"/>
            <a:chExt cx="17716500" cy="762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7716500" cy="762000"/>
            </a:xfrm>
            <a:custGeom>
              <a:avLst/>
              <a:gdLst/>
              <a:ahLst/>
              <a:cxnLst/>
              <a:rect r="r" b="b" t="t" l="l"/>
              <a:pathLst>
                <a:path h="762000" w="17716500">
                  <a:moveTo>
                    <a:pt x="0" y="0"/>
                  </a:moveTo>
                  <a:lnTo>
                    <a:pt x="17716500" y="0"/>
                  </a:lnTo>
                  <a:lnTo>
                    <a:pt x="1771650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3027" r="0" b="-403027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7716500" cy="800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65"/>
                </a:lnSpc>
              </a:pPr>
              <a:r>
                <a:rPr lang="en-US" sz="2137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1. Kumpulkan dan deduplikasi artikel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786812" y="3143250"/>
            <a:ext cx="714375" cy="342900"/>
            <a:chOff x="0" y="0"/>
            <a:chExt cx="952500" cy="4572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52500" cy="457200"/>
            </a:xfrm>
            <a:custGeom>
              <a:avLst/>
              <a:gdLst/>
              <a:ahLst/>
              <a:cxnLst/>
              <a:rect r="r" b="b" t="t" l="l"/>
              <a:pathLst>
                <a:path h="457200" w="952500">
                  <a:moveTo>
                    <a:pt x="0" y="0"/>
                  </a:moveTo>
                  <a:lnTo>
                    <a:pt x="952500" y="0"/>
                  </a:lnTo>
                  <a:lnTo>
                    <a:pt x="9525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585" t="0" r="-11585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952500" cy="504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70"/>
                </a:lnSpc>
              </a:pPr>
              <a:r>
                <a:rPr lang="en-US" sz="2475" b="true">
                  <a:solidFill>
                    <a:srgbClr val="77736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↓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2135981" y="3493294"/>
            <a:ext cx="14016038" cy="842962"/>
            <a:chOff x="0" y="0"/>
            <a:chExt cx="18688050" cy="112395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8688050" cy="1123950"/>
            </a:xfrm>
            <a:custGeom>
              <a:avLst/>
              <a:gdLst/>
              <a:ahLst/>
              <a:cxnLst/>
              <a:rect r="r" b="b" t="t" l="l"/>
              <a:pathLst>
                <a:path h="1123950" w="18688050">
                  <a:moveTo>
                    <a:pt x="0" y="0"/>
                  </a:moveTo>
                  <a:lnTo>
                    <a:pt x="18688050" y="0"/>
                  </a:lnTo>
                  <a:lnTo>
                    <a:pt x="18688050" y="1123950"/>
                  </a:lnTo>
                  <a:lnTo>
                    <a:pt x="0" y="1123950"/>
                  </a:lnTo>
                  <a:close/>
                </a:path>
              </a:pathLst>
            </a:custGeom>
            <a:solidFill>
              <a:srgbClr val="ECE9E3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2500312" y="3614738"/>
            <a:ext cx="13287375" cy="571500"/>
            <a:chOff x="0" y="0"/>
            <a:chExt cx="17716500" cy="7620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7716500" cy="762000"/>
            </a:xfrm>
            <a:custGeom>
              <a:avLst/>
              <a:gdLst/>
              <a:ahLst/>
              <a:cxnLst/>
              <a:rect r="r" b="b" t="t" l="l"/>
              <a:pathLst>
                <a:path h="762000" w="17716500">
                  <a:moveTo>
                    <a:pt x="0" y="0"/>
                  </a:moveTo>
                  <a:lnTo>
                    <a:pt x="17716500" y="0"/>
                  </a:lnTo>
                  <a:lnTo>
                    <a:pt x="1771650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3027" r="0" b="-403027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7716500" cy="800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65"/>
                </a:lnSpc>
              </a:pPr>
              <a:r>
                <a:rPr lang="en-US" sz="2137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2. Pisahkan artikel relevan dan tidak relevan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8786812" y="4357688"/>
            <a:ext cx="714375" cy="342900"/>
            <a:chOff x="0" y="0"/>
            <a:chExt cx="952500" cy="4572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52500" cy="457200"/>
            </a:xfrm>
            <a:custGeom>
              <a:avLst/>
              <a:gdLst/>
              <a:ahLst/>
              <a:cxnLst/>
              <a:rect r="r" b="b" t="t" l="l"/>
              <a:pathLst>
                <a:path h="457200" w="952500">
                  <a:moveTo>
                    <a:pt x="0" y="0"/>
                  </a:moveTo>
                  <a:lnTo>
                    <a:pt x="952500" y="0"/>
                  </a:lnTo>
                  <a:lnTo>
                    <a:pt x="9525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585" t="0" r="-11585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952500" cy="504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70"/>
                </a:lnSpc>
              </a:pPr>
              <a:r>
                <a:rPr lang="en-US" sz="2475" b="true">
                  <a:solidFill>
                    <a:srgbClr val="77736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↓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2135981" y="4707731"/>
            <a:ext cx="14016038" cy="842962"/>
            <a:chOff x="0" y="0"/>
            <a:chExt cx="18688050" cy="112395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8688050" cy="1123950"/>
            </a:xfrm>
            <a:custGeom>
              <a:avLst/>
              <a:gdLst/>
              <a:ahLst/>
              <a:cxnLst/>
              <a:rect r="r" b="b" t="t" l="l"/>
              <a:pathLst>
                <a:path h="1123950" w="18688050">
                  <a:moveTo>
                    <a:pt x="0" y="0"/>
                  </a:moveTo>
                  <a:lnTo>
                    <a:pt x="18688050" y="0"/>
                  </a:lnTo>
                  <a:lnTo>
                    <a:pt x="18688050" y="1123950"/>
                  </a:lnTo>
                  <a:lnTo>
                    <a:pt x="0" y="1123950"/>
                  </a:lnTo>
                  <a:close/>
                </a:path>
              </a:pathLst>
            </a:custGeom>
            <a:solidFill>
              <a:srgbClr val="ECE9E3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2500312" y="4829175"/>
            <a:ext cx="13287375" cy="571500"/>
            <a:chOff x="0" y="0"/>
            <a:chExt cx="17716500" cy="762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7716500" cy="762000"/>
            </a:xfrm>
            <a:custGeom>
              <a:avLst/>
              <a:gdLst/>
              <a:ahLst/>
              <a:cxnLst/>
              <a:rect r="r" b="b" t="t" l="l"/>
              <a:pathLst>
                <a:path h="762000" w="17716500">
                  <a:moveTo>
                    <a:pt x="0" y="0"/>
                  </a:moveTo>
                  <a:lnTo>
                    <a:pt x="17716500" y="0"/>
                  </a:lnTo>
                  <a:lnTo>
                    <a:pt x="1771650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3027" r="0" b="-403027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17716500" cy="800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65"/>
                </a:lnSpc>
              </a:pPr>
              <a:r>
                <a:rPr lang="en-US" sz="2137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3. Klasifikasikan jenis kejadian serta arah sentimen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8786812" y="5572125"/>
            <a:ext cx="714375" cy="342900"/>
            <a:chOff x="0" y="0"/>
            <a:chExt cx="952500" cy="4572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52500" cy="457200"/>
            </a:xfrm>
            <a:custGeom>
              <a:avLst/>
              <a:gdLst/>
              <a:ahLst/>
              <a:cxnLst/>
              <a:rect r="r" b="b" t="t" l="l"/>
              <a:pathLst>
                <a:path h="457200" w="952500">
                  <a:moveTo>
                    <a:pt x="0" y="0"/>
                  </a:moveTo>
                  <a:lnTo>
                    <a:pt x="952500" y="0"/>
                  </a:lnTo>
                  <a:lnTo>
                    <a:pt x="9525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585" t="0" r="-11585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952500" cy="504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70"/>
                </a:lnSpc>
              </a:pPr>
              <a:r>
                <a:rPr lang="en-US" sz="2475" b="true">
                  <a:solidFill>
                    <a:srgbClr val="77736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↓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2143125" y="5929312"/>
            <a:ext cx="14001750" cy="828675"/>
            <a:chOff x="0" y="0"/>
            <a:chExt cx="18669000" cy="11049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8669000" cy="1104900"/>
            </a:xfrm>
            <a:custGeom>
              <a:avLst/>
              <a:gdLst/>
              <a:ahLst/>
              <a:cxnLst/>
              <a:rect r="r" b="b" t="t" l="l"/>
              <a:pathLst>
                <a:path h="1104900" w="18669000">
                  <a:moveTo>
                    <a:pt x="0" y="0"/>
                  </a:moveTo>
                  <a:lnTo>
                    <a:pt x="18669000" y="0"/>
                  </a:lnTo>
                  <a:lnTo>
                    <a:pt x="18669000" y="1104900"/>
                  </a:lnTo>
                  <a:lnTo>
                    <a:pt x="0" y="1104900"/>
                  </a:lnTo>
                  <a:close/>
                </a:path>
              </a:pathLst>
            </a:custGeom>
            <a:solidFill>
              <a:srgbClr val="155744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2500312" y="6043612"/>
            <a:ext cx="13287375" cy="571500"/>
            <a:chOff x="0" y="0"/>
            <a:chExt cx="17716500" cy="7620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7716500" cy="762000"/>
            </a:xfrm>
            <a:custGeom>
              <a:avLst/>
              <a:gdLst/>
              <a:ahLst/>
              <a:cxnLst/>
              <a:rect r="r" b="b" t="t" l="l"/>
              <a:pathLst>
                <a:path h="762000" w="17716500">
                  <a:moveTo>
                    <a:pt x="0" y="0"/>
                  </a:moveTo>
                  <a:lnTo>
                    <a:pt x="17716500" y="0"/>
                  </a:lnTo>
                  <a:lnTo>
                    <a:pt x="1771650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3027" r="0" b="-403027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17716500" cy="800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65"/>
                </a:lnSpc>
              </a:pPr>
              <a:r>
                <a:rPr lang="en-US" sz="2137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4. Agregasikan hasil ke periode dua mingguan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857250" y="8215312"/>
            <a:ext cx="16573500" cy="828675"/>
            <a:chOff x="0" y="0"/>
            <a:chExt cx="22098000" cy="11049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2098000" cy="1104900"/>
            </a:xfrm>
            <a:custGeom>
              <a:avLst/>
              <a:gdLst/>
              <a:ahLst/>
              <a:cxnLst/>
              <a:rect r="r" b="b" t="t" l="l"/>
              <a:pathLst>
                <a:path h="110490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1104900"/>
                  </a:lnTo>
                  <a:lnTo>
                    <a:pt x="0" y="1104900"/>
                  </a:lnTo>
                  <a:close/>
                </a:path>
              </a:pathLst>
            </a:custGeom>
            <a:solidFill>
              <a:srgbClr val="D86F00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171575" y="8315325"/>
            <a:ext cx="15944850" cy="614362"/>
            <a:chOff x="0" y="0"/>
            <a:chExt cx="21259800" cy="81915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1259800" cy="819150"/>
            </a:xfrm>
            <a:custGeom>
              <a:avLst/>
              <a:gdLst/>
              <a:ahLst/>
              <a:cxnLst/>
              <a:rect r="r" b="b" t="t" l="l"/>
              <a:pathLst>
                <a:path h="819150" w="21259800">
                  <a:moveTo>
                    <a:pt x="0" y="0"/>
                  </a:moveTo>
                  <a:lnTo>
                    <a:pt x="21259800" y="0"/>
                  </a:lnTo>
                  <a:lnTo>
                    <a:pt x="21259800" y="819150"/>
                  </a:lnTo>
                  <a:lnTo>
                    <a:pt x="0" y="8191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5704" r="0" b="-455704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21259800" cy="857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65"/>
                </a:lnSpc>
              </a:pPr>
              <a:r>
                <a:rPr lang="en-US" sz="2137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Hasil akhir bukan kumpulan artikel, tetapi fitur berita yang dapat diuji bersama data harga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571500"/>
            <a:chOff x="0" y="0"/>
            <a:chExt cx="24384000" cy="762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762000"/>
            </a:xfrm>
            <a:custGeom>
              <a:avLst/>
              <a:gdLst/>
              <a:ahLst/>
              <a:cxnLst/>
              <a:rect r="r" b="b" t="t" l="l"/>
              <a:pathLst>
                <a:path h="762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15574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100012"/>
            <a:ext cx="16573500" cy="357188"/>
            <a:chOff x="0" y="0"/>
            <a:chExt cx="22098000" cy="4762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098000" cy="476250"/>
            </a:xfrm>
            <a:custGeom>
              <a:avLst/>
              <a:gdLst/>
              <a:ahLst/>
              <a:cxnLst/>
              <a:rect r="r" b="b" t="t" l="l"/>
              <a:pathLst>
                <a:path h="47625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476250"/>
                  </a:lnTo>
                  <a:lnTo>
                    <a:pt x="0" y="476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4105" r="0" b="-85410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2098000" cy="504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755"/>
                </a:lnSpc>
              </a:pPr>
              <a:r>
                <a:rPr lang="en-US" sz="1462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PEKERJAAN YANG SUDAH DILAKUKAN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57250" y="885825"/>
            <a:ext cx="16573500" cy="771525"/>
            <a:chOff x="0" y="0"/>
            <a:chExt cx="22098000" cy="10287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098000" cy="1028700"/>
            </a:xfrm>
            <a:custGeom>
              <a:avLst/>
              <a:gdLst/>
              <a:ahLst/>
              <a:cxnLst/>
              <a:rect r="r" b="b" t="t" l="l"/>
              <a:pathLst>
                <a:path h="102870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1028700"/>
                  </a:lnTo>
                  <a:lnTo>
                    <a:pt x="0" y="10287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8567" r="0" b="-368567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76200"/>
              <a:ext cx="22098000" cy="1104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sz="4050" b="true">
                  <a:solidFill>
                    <a:srgbClr val="1557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Validasi menunjukkan klasifikasi cukup kuat, kecuali kelas demand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7002125" y="9686925"/>
            <a:ext cx="500062" cy="257175"/>
            <a:chOff x="0" y="0"/>
            <a:chExt cx="666750" cy="3429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66750" cy="342900"/>
            </a:xfrm>
            <a:custGeom>
              <a:avLst/>
              <a:gdLst/>
              <a:ahLst/>
              <a:cxnLst/>
              <a:rect r="r" b="b" t="t" l="l"/>
              <a:pathLst>
                <a:path h="342900" w="666750">
                  <a:moveTo>
                    <a:pt x="0" y="0"/>
                  </a:moveTo>
                  <a:lnTo>
                    <a:pt x="666750" y="0"/>
                  </a:lnTo>
                  <a:lnTo>
                    <a:pt x="666750" y="342900"/>
                  </a:lnTo>
                  <a:lnTo>
                    <a:pt x="0" y="3429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984" t="0" r="-15984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66750" cy="361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85"/>
                </a:lnSpc>
              </a:pPr>
              <a:r>
                <a:rPr lang="en-US" sz="1237">
                  <a:solidFill>
                    <a:srgbClr val="77736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50106" y="2064544"/>
            <a:ext cx="3729038" cy="1071562"/>
            <a:chOff x="0" y="0"/>
            <a:chExt cx="4972050" cy="14287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972050" cy="1428750"/>
            </a:xfrm>
            <a:custGeom>
              <a:avLst/>
              <a:gdLst/>
              <a:ahLst/>
              <a:cxnLst/>
              <a:rect r="r" b="b" t="t" l="l"/>
              <a:pathLst>
                <a:path h="1428750" w="4972050">
                  <a:moveTo>
                    <a:pt x="0" y="0"/>
                  </a:moveTo>
                  <a:lnTo>
                    <a:pt x="4972050" y="0"/>
                  </a:lnTo>
                  <a:lnTo>
                    <a:pt x="4972050" y="1428750"/>
                  </a:lnTo>
                  <a:lnTo>
                    <a:pt x="0" y="1428750"/>
                  </a:lnTo>
                  <a:close/>
                </a:path>
              </a:pathLst>
            </a:custGeom>
            <a:solidFill>
              <a:srgbClr val="155744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971550" y="2128838"/>
            <a:ext cx="3486150" cy="942975"/>
            <a:chOff x="0" y="0"/>
            <a:chExt cx="4648200" cy="12573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648200" cy="1257300"/>
            </a:xfrm>
            <a:custGeom>
              <a:avLst/>
              <a:gdLst/>
              <a:ahLst/>
              <a:cxnLst/>
              <a:rect r="r" b="b" t="t" l="l"/>
              <a:pathLst>
                <a:path h="1257300" w="4648200">
                  <a:moveTo>
                    <a:pt x="0" y="0"/>
                  </a:moveTo>
                  <a:lnTo>
                    <a:pt x="4648200" y="0"/>
                  </a:lnTo>
                  <a:lnTo>
                    <a:pt x="4648200" y="1257300"/>
                  </a:lnTo>
                  <a:lnTo>
                    <a:pt x="0" y="12573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035" r="0" b="-22035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464820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Sampel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564856" y="2064544"/>
            <a:ext cx="3228975" cy="1071562"/>
            <a:chOff x="0" y="0"/>
            <a:chExt cx="4305300" cy="14287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305300" cy="1428750"/>
            </a:xfrm>
            <a:custGeom>
              <a:avLst/>
              <a:gdLst/>
              <a:ahLst/>
              <a:cxnLst/>
              <a:rect r="r" b="b" t="t" l="l"/>
              <a:pathLst>
                <a:path h="1428750" w="4305300">
                  <a:moveTo>
                    <a:pt x="0" y="0"/>
                  </a:moveTo>
                  <a:lnTo>
                    <a:pt x="4305300" y="0"/>
                  </a:lnTo>
                  <a:lnTo>
                    <a:pt x="4305300" y="1428750"/>
                  </a:lnTo>
                  <a:lnTo>
                    <a:pt x="0" y="1428750"/>
                  </a:lnTo>
                  <a:close/>
                </a:path>
              </a:pathLst>
            </a:custGeom>
            <a:solidFill>
              <a:srgbClr val="155744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4686300" y="2128838"/>
            <a:ext cx="2986088" cy="942975"/>
            <a:chOff x="0" y="0"/>
            <a:chExt cx="3981450" cy="12573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981450" cy="1257300"/>
            </a:xfrm>
            <a:custGeom>
              <a:avLst/>
              <a:gdLst/>
              <a:ahLst/>
              <a:cxnLst/>
              <a:rect r="r" b="b" t="t" l="l"/>
              <a:pathLst>
                <a:path h="1257300" w="3981450">
                  <a:moveTo>
                    <a:pt x="0" y="0"/>
                  </a:moveTo>
                  <a:lnTo>
                    <a:pt x="3981450" y="0"/>
                  </a:lnTo>
                  <a:lnTo>
                    <a:pt x="3981450" y="1257300"/>
                  </a:lnTo>
                  <a:lnTo>
                    <a:pt x="0" y="12573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02" r="0" b="-11702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398145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Krippendorff α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779544" y="2064544"/>
            <a:ext cx="3228975" cy="1071562"/>
            <a:chOff x="0" y="0"/>
            <a:chExt cx="4305300" cy="14287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305300" cy="1428750"/>
            </a:xfrm>
            <a:custGeom>
              <a:avLst/>
              <a:gdLst/>
              <a:ahLst/>
              <a:cxnLst/>
              <a:rect r="r" b="b" t="t" l="l"/>
              <a:pathLst>
                <a:path h="1428750" w="4305300">
                  <a:moveTo>
                    <a:pt x="0" y="0"/>
                  </a:moveTo>
                  <a:lnTo>
                    <a:pt x="4305300" y="0"/>
                  </a:lnTo>
                  <a:lnTo>
                    <a:pt x="4305300" y="1428750"/>
                  </a:lnTo>
                  <a:lnTo>
                    <a:pt x="0" y="1428750"/>
                  </a:lnTo>
                  <a:close/>
                </a:path>
              </a:pathLst>
            </a:custGeom>
            <a:solidFill>
              <a:srgbClr val="155744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7900988" y="2128838"/>
            <a:ext cx="2986088" cy="942975"/>
            <a:chOff x="0" y="0"/>
            <a:chExt cx="3981450" cy="12573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981450" cy="1257300"/>
            </a:xfrm>
            <a:custGeom>
              <a:avLst/>
              <a:gdLst/>
              <a:ahLst/>
              <a:cxnLst/>
              <a:rect r="r" b="b" t="t" l="l"/>
              <a:pathLst>
                <a:path h="1257300" w="3981450">
                  <a:moveTo>
                    <a:pt x="0" y="0"/>
                  </a:moveTo>
                  <a:lnTo>
                    <a:pt x="3981450" y="0"/>
                  </a:lnTo>
                  <a:lnTo>
                    <a:pt x="3981450" y="1257300"/>
                  </a:lnTo>
                  <a:lnTo>
                    <a:pt x="0" y="12573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02" r="0" b="-11702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398145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Cohen κ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0994231" y="2064544"/>
            <a:ext cx="3228975" cy="1071562"/>
            <a:chOff x="0" y="0"/>
            <a:chExt cx="4305300" cy="142875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305300" cy="1428750"/>
            </a:xfrm>
            <a:custGeom>
              <a:avLst/>
              <a:gdLst/>
              <a:ahLst/>
              <a:cxnLst/>
              <a:rect r="r" b="b" t="t" l="l"/>
              <a:pathLst>
                <a:path h="1428750" w="4305300">
                  <a:moveTo>
                    <a:pt x="0" y="0"/>
                  </a:moveTo>
                  <a:lnTo>
                    <a:pt x="4305300" y="0"/>
                  </a:lnTo>
                  <a:lnTo>
                    <a:pt x="4305300" y="1428750"/>
                  </a:lnTo>
                  <a:lnTo>
                    <a:pt x="0" y="1428750"/>
                  </a:lnTo>
                  <a:close/>
                </a:path>
              </a:pathLst>
            </a:custGeom>
            <a:solidFill>
              <a:srgbClr val="155744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1115675" y="2128838"/>
            <a:ext cx="2986088" cy="942975"/>
            <a:chOff x="0" y="0"/>
            <a:chExt cx="3981450" cy="12573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981450" cy="1257300"/>
            </a:xfrm>
            <a:custGeom>
              <a:avLst/>
              <a:gdLst/>
              <a:ahLst/>
              <a:cxnLst/>
              <a:rect r="r" b="b" t="t" l="l"/>
              <a:pathLst>
                <a:path h="1257300" w="3981450">
                  <a:moveTo>
                    <a:pt x="0" y="0"/>
                  </a:moveTo>
                  <a:lnTo>
                    <a:pt x="3981450" y="0"/>
                  </a:lnTo>
                  <a:lnTo>
                    <a:pt x="3981450" y="1257300"/>
                  </a:lnTo>
                  <a:lnTo>
                    <a:pt x="0" y="12573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02" r="0" b="-11702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398145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Macro-F1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4208919" y="2064544"/>
            <a:ext cx="3228975" cy="1071562"/>
            <a:chOff x="0" y="0"/>
            <a:chExt cx="4305300" cy="142875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305300" cy="1428750"/>
            </a:xfrm>
            <a:custGeom>
              <a:avLst/>
              <a:gdLst/>
              <a:ahLst/>
              <a:cxnLst/>
              <a:rect r="r" b="b" t="t" l="l"/>
              <a:pathLst>
                <a:path h="1428750" w="4305300">
                  <a:moveTo>
                    <a:pt x="0" y="0"/>
                  </a:moveTo>
                  <a:lnTo>
                    <a:pt x="4305300" y="0"/>
                  </a:lnTo>
                  <a:lnTo>
                    <a:pt x="4305300" y="1428750"/>
                  </a:lnTo>
                  <a:lnTo>
                    <a:pt x="0" y="1428750"/>
                  </a:lnTo>
                  <a:close/>
                </a:path>
              </a:pathLst>
            </a:custGeom>
            <a:solidFill>
              <a:srgbClr val="155744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14330362" y="2128838"/>
            <a:ext cx="2986088" cy="942975"/>
            <a:chOff x="0" y="0"/>
            <a:chExt cx="3981450" cy="12573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981450" cy="1257300"/>
            </a:xfrm>
            <a:custGeom>
              <a:avLst/>
              <a:gdLst/>
              <a:ahLst/>
              <a:cxnLst/>
              <a:rect r="r" b="b" t="t" l="l"/>
              <a:pathLst>
                <a:path h="1257300" w="3981450">
                  <a:moveTo>
                    <a:pt x="0" y="0"/>
                  </a:moveTo>
                  <a:lnTo>
                    <a:pt x="3981450" y="0"/>
                  </a:lnTo>
                  <a:lnTo>
                    <a:pt x="3981450" y="1257300"/>
                  </a:lnTo>
                  <a:lnTo>
                    <a:pt x="0" y="12573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02" r="0" b="-11702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398145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Accuracy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850106" y="3121819"/>
            <a:ext cx="3729038" cy="1071562"/>
            <a:chOff x="0" y="0"/>
            <a:chExt cx="4972050" cy="142875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972050" cy="1428750"/>
            </a:xfrm>
            <a:custGeom>
              <a:avLst/>
              <a:gdLst/>
              <a:ahLst/>
              <a:cxnLst/>
              <a:rect r="r" b="b" t="t" l="l"/>
              <a:pathLst>
                <a:path h="1428750" w="4972050">
                  <a:moveTo>
                    <a:pt x="0" y="0"/>
                  </a:moveTo>
                  <a:lnTo>
                    <a:pt x="4972050" y="0"/>
                  </a:lnTo>
                  <a:lnTo>
                    <a:pt x="4972050" y="1428750"/>
                  </a:lnTo>
                  <a:lnTo>
                    <a:pt x="0" y="1428750"/>
                  </a:lnTo>
                  <a:close/>
                </a:path>
              </a:pathLst>
            </a:custGeom>
            <a:solidFill>
              <a:srgbClr val="F7F5F0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971550" y="3186112"/>
            <a:ext cx="3486150" cy="942975"/>
            <a:chOff x="0" y="0"/>
            <a:chExt cx="4648200" cy="12573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648200" cy="1257300"/>
            </a:xfrm>
            <a:custGeom>
              <a:avLst/>
              <a:gdLst/>
              <a:ahLst/>
              <a:cxnLst/>
              <a:rect r="r" b="b" t="t" l="l"/>
              <a:pathLst>
                <a:path h="1257300" w="4648200">
                  <a:moveTo>
                    <a:pt x="0" y="0"/>
                  </a:moveTo>
                  <a:lnTo>
                    <a:pt x="4648200" y="0"/>
                  </a:lnTo>
                  <a:lnTo>
                    <a:pt x="4648200" y="1257300"/>
                  </a:lnTo>
                  <a:lnTo>
                    <a:pt x="0" y="12573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035" r="0" b="-22035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464820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200 artikel; 2 rater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4564856" y="3121819"/>
            <a:ext cx="3228975" cy="1071562"/>
            <a:chOff x="0" y="0"/>
            <a:chExt cx="4305300" cy="142875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305300" cy="1428750"/>
            </a:xfrm>
            <a:custGeom>
              <a:avLst/>
              <a:gdLst/>
              <a:ahLst/>
              <a:cxnLst/>
              <a:rect r="r" b="b" t="t" l="l"/>
              <a:pathLst>
                <a:path h="1428750" w="4305300">
                  <a:moveTo>
                    <a:pt x="0" y="0"/>
                  </a:moveTo>
                  <a:lnTo>
                    <a:pt x="4305300" y="0"/>
                  </a:lnTo>
                  <a:lnTo>
                    <a:pt x="4305300" y="1428750"/>
                  </a:lnTo>
                  <a:lnTo>
                    <a:pt x="0" y="1428750"/>
                  </a:lnTo>
                  <a:close/>
                </a:path>
              </a:pathLst>
            </a:custGeom>
            <a:solidFill>
              <a:srgbClr val="F7F5F0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4686300" y="3186112"/>
            <a:ext cx="2986088" cy="942975"/>
            <a:chOff x="0" y="0"/>
            <a:chExt cx="3981450" cy="12573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981450" cy="1257300"/>
            </a:xfrm>
            <a:custGeom>
              <a:avLst/>
              <a:gdLst/>
              <a:ahLst/>
              <a:cxnLst/>
              <a:rect r="r" b="b" t="t" l="l"/>
              <a:pathLst>
                <a:path h="1257300" w="3981450">
                  <a:moveTo>
                    <a:pt x="0" y="0"/>
                  </a:moveTo>
                  <a:lnTo>
                    <a:pt x="3981450" y="0"/>
                  </a:lnTo>
                  <a:lnTo>
                    <a:pt x="3981450" y="1257300"/>
                  </a:lnTo>
                  <a:lnTo>
                    <a:pt x="0" y="12573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02" r="0" b="-11702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398145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0,7398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7779544" y="3121819"/>
            <a:ext cx="3228975" cy="1071562"/>
            <a:chOff x="0" y="0"/>
            <a:chExt cx="4305300" cy="142875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305300" cy="1428750"/>
            </a:xfrm>
            <a:custGeom>
              <a:avLst/>
              <a:gdLst/>
              <a:ahLst/>
              <a:cxnLst/>
              <a:rect r="r" b="b" t="t" l="l"/>
              <a:pathLst>
                <a:path h="1428750" w="4305300">
                  <a:moveTo>
                    <a:pt x="0" y="0"/>
                  </a:moveTo>
                  <a:lnTo>
                    <a:pt x="4305300" y="0"/>
                  </a:lnTo>
                  <a:lnTo>
                    <a:pt x="4305300" y="1428750"/>
                  </a:lnTo>
                  <a:lnTo>
                    <a:pt x="0" y="1428750"/>
                  </a:lnTo>
                  <a:close/>
                </a:path>
              </a:pathLst>
            </a:custGeom>
            <a:solidFill>
              <a:srgbClr val="F7F5F0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7900988" y="3186112"/>
            <a:ext cx="2986088" cy="942975"/>
            <a:chOff x="0" y="0"/>
            <a:chExt cx="3981450" cy="12573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981450" cy="1257300"/>
            </a:xfrm>
            <a:custGeom>
              <a:avLst/>
              <a:gdLst/>
              <a:ahLst/>
              <a:cxnLst/>
              <a:rect r="r" b="b" t="t" l="l"/>
              <a:pathLst>
                <a:path h="1257300" w="3981450">
                  <a:moveTo>
                    <a:pt x="0" y="0"/>
                  </a:moveTo>
                  <a:lnTo>
                    <a:pt x="3981450" y="0"/>
                  </a:lnTo>
                  <a:lnTo>
                    <a:pt x="3981450" y="1257300"/>
                  </a:lnTo>
                  <a:lnTo>
                    <a:pt x="0" y="12573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02" r="0" b="-11702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398145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0,7396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0994231" y="3121819"/>
            <a:ext cx="3228975" cy="1071562"/>
            <a:chOff x="0" y="0"/>
            <a:chExt cx="4305300" cy="142875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305300" cy="1428750"/>
            </a:xfrm>
            <a:custGeom>
              <a:avLst/>
              <a:gdLst/>
              <a:ahLst/>
              <a:cxnLst/>
              <a:rect r="r" b="b" t="t" l="l"/>
              <a:pathLst>
                <a:path h="1428750" w="4305300">
                  <a:moveTo>
                    <a:pt x="0" y="0"/>
                  </a:moveTo>
                  <a:lnTo>
                    <a:pt x="4305300" y="0"/>
                  </a:lnTo>
                  <a:lnTo>
                    <a:pt x="4305300" y="1428750"/>
                  </a:lnTo>
                  <a:lnTo>
                    <a:pt x="0" y="1428750"/>
                  </a:lnTo>
                  <a:close/>
                </a:path>
              </a:pathLst>
            </a:custGeom>
            <a:solidFill>
              <a:srgbClr val="F7F5F0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11115675" y="3186112"/>
            <a:ext cx="2986088" cy="942975"/>
            <a:chOff x="0" y="0"/>
            <a:chExt cx="3981450" cy="12573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3981450" cy="1257300"/>
            </a:xfrm>
            <a:custGeom>
              <a:avLst/>
              <a:gdLst/>
              <a:ahLst/>
              <a:cxnLst/>
              <a:rect r="r" b="b" t="t" l="l"/>
              <a:pathLst>
                <a:path h="1257300" w="3981450">
                  <a:moveTo>
                    <a:pt x="0" y="0"/>
                  </a:moveTo>
                  <a:lnTo>
                    <a:pt x="3981450" y="0"/>
                  </a:lnTo>
                  <a:lnTo>
                    <a:pt x="3981450" y="1257300"/>
                  </a:lnTo>
                  <a:lnTo>
                    <a:pt x="0" y="12573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02" r="0" b="-11702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398145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0,8185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4208919" y="3121819"/>
            <a:ext cx="3228975" cy="1071562"/>
            <a:chOff x="0" y="0"/>
            <a:chExt cx="4305300" cy="142875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4305300" cy="1428750"/>
            </a:xfrm>
            <a:custGeom>
              <a:avLst/>
              <a:gdLst/>
              <a:ahLst/>
              <a:cxnLst/>
              <a:rect r="r" b="b" t="t" l="l"/>
              <a:pathLst>
                <a:path h="1428750" w="4305300">
                  <a:moveTo>
                    <a:pt x="0" y="0"/>
                  </a:moveTo>
                  <a:lnTo>
                    <a:pt x="4305300" y="0"/>
                  </a:lnTo>
                  <a:lnTo>
                    <a:pt x="4305300" y="1428750"/>
                  </a:lnTo>
                  <a:lnTo>
                    <a:pt x="0" y="1428750"/>
                  </a:lnTo>
                  <a:close/>
                </a:path>
              </a:pathLst>
            </a:custGeom>
            <a:solidFill>
              <a:srgbClr val="F7F5F0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14330362" y="3186112"/>
            <a:ext cx="2986088" cy="942975"/>
            <a:chOff x="0" y="0"/>
            <a:chExt cx="3981450" cy="12573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3981450" cy="1257300"/>
            </a:xfrm>
            <a:custGeom>
              <a:avLst/>
              <a:gdLst/>
              <a:ahLst/>
              <a:cxnLst/>
              <a:rect r="r" b="b" t="t" l="l"/>
              <a:pathLst>
                <a:path h="1257300" w="3981450">
                  <a:moveTo>
                    <a:pt x="0" y="0"/>
                  </a:moveTo>
                  <a:lnTo>
                    <a:pt x="3981450" y="0"/>
                  </a:lnTo>
                  <a:lnTo>
                    <a:pt x="3981450" y="1257300"/>
                  </a:lnTo>
                  <a:lnTo>
                    <a:pt x="0" y="12573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02" r="0" b="-11702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398145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0,8970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850106" y="4779169"/>
            <a:ext cx="4300538" cy="785812"/>
            <a:chOff x="0" y="0"/>
            <a:chExt cx="5734050" cy="104775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5734050" cy="1047750"/>
            </a:xfrm>
            <a:custGeom>
              <a:avLst/>
              <a:gdLst/>
              <a:ahLst/>
              <a:cxnLst/>
              <a:rect r="r" b="b" t="t" l="l"/>
              <a:pathLst>
                <a:path h="1047750" w="5734050">
                  <a:moveTo>
                    <a:pt x="0" y="0"/>
                  </a:moveTo>
                  <a:lnTo>
                    <a:pt x="5734050" y="0"/>
                  </a:lnTo>
                  <a:lnTo>
                    <a:pt x="5734050" y="1047750"/>
                  </a:lnTo>
                  <a:lnTo>
                    <a:pt x="0" y="1047750"/>
                  </a:lnTo>
                  <a:close/>
                </a:path>
              </a:pathLst>
            </a:custGeom>
            <a:solidFill>
              <a:srgbClr val="155744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65" id="65"/>
          <p:cNvGrpSpPr/>
          <p:nvPr/>
        </p:nvGrpSpPr>
        <p:grpSpPr>
          <a:xfrm rot="0">
            <a:off x="971550" y="4843462"/>
            <a:ext cx="4057650" cy="657225"/>
            <a:chOff x="0" y="0"/>
            <a:chExt cx="5410200" cy="8763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5410200" cy="876300"/>
            </a:xfrm>
            <a:custGeom>
              <a:avLst/>
              <a:gdLst/>
              <a:ahLst/>
              <a:cxnLst/>
              <a:rect r="r" b="b" t="t" l="l"/>
              <a:pathLst>
                <a:path h="876300" w="5410200">
                  <a:moveTo>
                    <a:pt x="0" y="0"/>
                  </a:moveTo>
                  <a:lnTo>
                    <a:pt x="5410200" y="0"/>
                  </a:lnTo>
                  <a:lnTo>
                    <a:pt x="5410200" y="876300"/>
                  </a:lnTo>
                  <a:lnTo>
                    <a:pt x="0" y="8763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298" r="0" b="-70298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541020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Kelas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5136356" y="4779169"/>
            <a:ext cx="2728912" cy="785812"/>
            <a:chOff x="0" y="0"/>
            <a:chExt cx="3638550" cy="104775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3638550" cy="1047750"/>
            </a:xfrm>
            <a:custGeom>
              <a:avLst/>
              <a:gdLst/>
              <a:ahLst/>
              <a:cxnLst/>
              <a:rect r="r" b="b" t="t" l="l"/>
              <a:pathLst>
                <a:path h="1047750" w="3638550">
                  <a:moveTo>
                    <a:pt x="0" y="0"/>
                  </a:moveTo>
                  <a:lnTo>
                    <a:pt x="3638550" y="0"/>
                  </a:lnTo>
                  <a:lnTo>
                    <a:pt x="3638550" y="1047750"/>
                  </a:lnTo>
                  <a:lnTo>
                    <a:pt x="0" y="1047750"/>
                  </a:lnTo>
                  <a:close/>
                </a:path>
              </a:pathLst>
            </a:custGeom>
            <a:solidFill>
              <a:srgbClr val="155744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70" id="70"/>
          <p:cNvGrpSpPr/>
          <p:nvPr/>
        </p:nvGrpSpPr>
        <p:grpSpPr>
          <a:xfrm rot="0">
            <a:off x="5257800" y="4843462"/>
            <a:ext cx="2486025" cy="657225"/>
            <a:chOff x="0" y="0"/>
            <a:chExt cx="3314700" cy="87630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314700" cy="876300"/>
            </a:xfrm>
            <a:custGeom>
              <a:avLst/>
              <a:gdLst/>
              <a:ahLst/>
              <a:cxnLst/>
              <a:rect r="r" b="b" t="t" l="l"/>
              <a:pathLst>
                <a:path h="876300" w="3314700">
                  <a:moveTo>
                    <a:pt x="0" y="0"/>
                  </a:moveTo>
                  <a:lnTo>
                    <a:pt x="3314700" y="0"/>
                  </a:lnTo>
                  <a:lnTo>
                    <a:pt x="3314700" y="876300"/>
                  </a:lnTo>
                  <a:lnTo>
                    <a:pt x="0" y="8763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704" r="0" b="-23704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331470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F1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7850981" y="4779169"/>
            <a:ext cx="9586912" cy="785812"/>
            <a:chOff x="0" y="0"/>
            <a:chExt cx="12782550" cy="104775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2782550" cy="1047750"/>
            </a:xfrm>
            <a:custGeom>
              <a:avLst/>
              <a:gdLst/>
              <a:ahLst/>
              <a:cxnLst/>
              <a:rect r="r" b="b" t="t" l="l"/>
              <a:pathLst>
                <a:path h="1047750" w="12782550">
                  <a:moveTo>
                    <a:pt x="0" y="0"/>
                  </a:moveTo>
                  <a:lnTo>
                    <a:pt x="12782550" y="0"/>
                  </a:lnTo>
                  <a:lnTo>
                    <a:pt x="12782550" y="1047750"/>
                  </a:lnTo>
                  <a:lnTo>
                    <a:pt x="0" y="1047750"/>
                  </a:lnTo>
                  <a:close/>
                </a:path>
              </a:pathLst>
            </a:custGeom>
            <a:solidFill>
              <a:srgbClr val="155744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75" id="75"/>
          <p:cNvGrpSpPr/>
          <p:nvPr/>
        </p:nvGrpSpPr>
        <p:grpSpPr>
          <a:xfrm rot="0">
            <a:off x="7972425" y="4843462"/>
            <a:ext cx="9344025" cy="657225"/>
            <a:chOff x="0" y="0"/>
            <a:chExt cx="12458700" cy="87630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2458700" cy="876300"/>
            </a:xfrm>
            <a:custGeom>
              <a:avLst/>
              <a:gdLst/>
              <a:ahLst/>
              <a:cxnLst/>
              <a:rect r="r" b="b" t="t" l="l"/>
              <a:pathLst>
                <a:path h="876300" w="12458700">
                  <a:moveTo>
                    <a:pt x="0" y="0"/>
                  </a:moveTo>
                  <a:lnTo>
                    <a:pt x="12458700" y="0"/>
                  </a:lnTo>
                  <a:lnTo>
                    <a:pt x="12458700" y="876300"/>
                  </a:lnTo>
                  <a:lnTo>
                    <a:pt x="0" y="8763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7026" r="0" b="-227026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38100"/>
              <a:ext cx="1245870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Makna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850106" y="5550694"/>
            <a:ext cx="4300538" cy="785812"/>
            <a:chOff x="0" y="0"/>
            <a:chExt cx="5734050" cy="104775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5734050" cy="1047750"/>
            </a:xfrm>
            <a:custGeom>
              <a:avLst/>
              <a:gdLst/>
              <a:ahLst/>
              <a:cxnLst/>
              <a:rect r="r" b="b" t="t" l="l"/>
              <a:pathLst>
                <a:path h="1047750" w="5734050">
                  <a:moveTo>
                    <a:pt x="0" y="0"/>
                  </a:moveTo>
                  <a:lnTo>
                    <a:pt x="5734050" y="0"/>
                  </a:lnTo>
                  <a:lnTo>
                    <a:pt x="5734050" y="1047750"/>
                  </a:lnTo>
                  <a:lnTo>
                    <a:pt x="0" y="1047750"/>
                  </a:lnTo>
                  <a:close/>
                </a:path>
              </a:pathLst>
            </a:custGeom>
            <a:solidFill>
              <a:srgbClr val="F7F5F0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80" id="80"/>
          <p:cNvGrpSpPr/>
          <p:nvPr/>
        </p:nvGrpSpPr>
        <p:grpSpPr>
          <a:xfrm rot="0">
            <a:off x="971550" y="5614988"/>
            <a:ext cx="4057650" cy="657225"/>
            <a:chOff x="0" y="0"/>
            <a:chExt cx="5410200" cy="87630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5410200" cy="876300"/>
            </a:xfrm>
            <a:custGeom>
              <a:avLst/>
              <a:gdLst/>
              <a:ahLst/>
              <a:cxnLst/>
              <a:rect r="r" b="b" t="t" l="l"/>
              <a:pathLst>
                <a:path h="876300" w="5410200">
                  <a:moveTo>
                    <a:pt x="0" y="0"/>
                  </a:moveTo>
                  <a:lnTo>
                    <a:pt x="5410200" y="0"/>
                  </a:lnTo>
                  <a:lnTo>
                    <a:pt x="5410200" y="876300"/>
                  </a:lnTo>
                  <a:lnTo>
                    <a:pt x="0" y="8763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298" r="0" b="-70298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541020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Supply shock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5136356" y="5550694"/>
            <a:ext cx="2728912" cy="785812"/>
            <a:chOff x="0" y="0"/>
            <a:chExt cx="3638550" cy="104775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3638550" cy="1047750"/>
            </a:xfrm>
            <a:custGeom>
              <a:avLst/>
              <a:gdLst/>
              <a:ahLst/>
              <a:cxnLst/>
              <a:rect r="r" b="b" t="t" l="l"/>
              <a:pathLst>
                <a:path h="1047750" w="3638550">
                  <a:moveTo>
                    <a:pt x="0" y="0"/>
                  </a:moveTo>
                  <a:lnTo>
                    <a:pt x="3638550" y="0"/>
                  </a:lnTo>
                  <a:lnTo>
                    <a:pt x="3638550" y="1047750"/>
                  </a:lnTo>
                  <a:lnTo>
                    <a:pt x="0" y="1047750"/>
                  </a:lnTo>
                  <a:close/>
                </a:path>
              </a:pathLst>
            </a:custGeom>
            <a:solidFill>
              <a:srgbClr val="F7F5F0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85" id="85"/>
          <p:cNvGrpSpPr/>
          <p:nvPr/>
        </p:nvGrpSpPr>
        <p:grpSpPr>
          <a:xfrm rot="0">
            <a:off x="5257800" y="5614988"/>
            <a:ext cx="2486025" cy="657225"/>
            <a:chOff x="0" y="0"/>
            <a:chExt cx="3314700" cy="87630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3314700" cy="876300"/>
            </a:xfrm>
            <a:custGeom>
              <a:avLst/>
              <a:gdLst/>
              <a:ahLst/>
              <a:cxnLst/>
              <a:rect r="r" b="b" t="t" l="l"/>
              <a:pathLst>
                <a:path h="876300" w="3314700">
                  <a:moveTo>
                    <a:pt x="0" y="0"/>
                  </a:moveTo>
                  <a:lnTo>
                    <a:pt x="3314700" y="0"/>
                  </a:lnTo>
                  <a:lnTo>
                    <a:pt x="3314700" y="876300"/>
                  </a:lnTo>
                  <a:lnTo>
                    <a:pt x="0" y="8763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704" r="0" b="-23704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38100"/>
              <a:ext cx="331470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0,8718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7850981" y="5550694"/>
            <a:ext cx="9586912" cy="785812"/>
            <a:chOff x="0" y="0"/>
            <a:chExt cx="12782550" cy="104775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12782550" cy="1047750"/>
            </a:xfrm>
            <a:custGeom>
              <a:avLst/>
              <a:gdLst/>
              <a:ahLst/>
              <a:cxnLst/>
              <a:rect r="r" b="b" t="t" l="l"/>
              <a:pathLst>
                <a:path h="1047750" w="12782550">
                  <a:moveTo>
                    <a:pt x="0" y="0"/>
                  </a:moveTo>
                  <a:lnTo>
                    <a:pt x="12782550" y="0"/>
                  </a:lnTo>
                  <a:lnTo>
                    <a:pt x="12782550" y="1047750"/>
                  </a:lnTo>
                  <a:lnTo>
                    <a:pt x="0" y="1047750"/>
                  </a:lnTo>
                  <a:close/>
                </a:path>
              </a:pathLst>
            </a:custGeom>
            <a:solidFill>
              <a:srgbClr val="F7F5F0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90" id="90"/>
          <p:cNvGrpSpPr/>
          <p:nvPr/>
        </p:nvGrpSpPr>
        <p:grpSpPr>
          <a:xfrm rot="0">
            <a:off x="7972425" y="5614988"/>
            <a:ext cx="9344025" cy="657225"/>
            <a:chOff x="0" y="0"/>
            <a:chExt cx="12458700" cy="87630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2458700" cy="876300"/>
            </a:xfrm>
            <a:custGeom>
              <a:avLst/>
              <a:gdLst/>
              <a:ahLst/>
              <a:cxnLst/>
              <a:rect r="r" b="b" t="t" l="l"/>
              <a:pathLst>
                <a:path h="876300" w="12458700">
                  <a:moveTo>
                    <a:pt x="0" y="0"/>
                  </a:moveTo>
                  <a:lnTo>
                    <a:pt x="12458700" y="0"/>
                  </a:lnTo>
                  <a:lnTo>
                    <a:pt x="12458700" y="876300"/>
                  </a:lnTo>
                  <a:lnTo>
                    <a:pt x="0" y="8763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7026" r="0" b="-227026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38100"/>
              <a:ext cx="1245870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Cukup kuat sebagai sinyal utama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850106" y="6322219"/>
            <a:ext cx="4300538" cy="785812"/>
            <a:chOff x="0" y="0"/>
            <a:chExt cx="5734050" cy="104775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5734050" cy="1047750"/>
            </a:xfrm>
            <a:custGeom>
              <a:avLst/>
              <a:gdLst/>
              <a:ahLst/>
              <a:cxnLst/>
              <a:rect r="r" b="b" t="t" l="l"/>
              <a:pathLst>
                <a:path h="1047750" w="5734050">
                  <a:moveTo>
                    <a:pt x="0" y="0"/>
                  </a:moveTo>
                  <a:lnTo>
                    <a:pt x="5734050" y="0"/>
                  </a:lnTo>
                  <a:lnTo>
                    <a:pt x="5734050" y="1047750"/>
                  </a:lnTo>
                  <a:lnTo>
                    <a:pt x="0" y="1047750"/>
                  </a:lnTo>
                  <a:close/>
                </a:path>
              </a:pathLst>
            </a:custGeom>
            <a:solidFill>
              <a:srgbClr val="ECE9E3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95" id="95"/>
          <p:cNvGrpSpPr/>
          <p:nvPr/>
        </p:nvGrpSpPr>
        <p:grpSpPr>
          <a:xfrm rot="0">
            <a:off x="971550" y="6386512"/>
            <a:ext cx="4057650" cy="657225"/>
            <a:chOff x="0" y="0"/>
            <a:chExt cx="5410200" cy="87630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5410200" cy="876300"/>
            </a:xfrm>
            <a:custGeom>
              <a:avLst/>
              <a:gdLst/>
              <a:ahLst/>
              <a:cxnLst/>
              <a:rect r="r" b="b" t="t" l="l"/>
              <a:pathLst>
                <a:path h="876300" w="5410200">
                  <a:moveTo>
                    <a:pt x="0" y="0"/>
                  </a:moveTo>
                  <a:lnTo>
                    <a:pt x="5410200" y="0"/>
                  </a:lnTo>
                  <a:lnTo>
                    <a:pt x="5410200" y="876300"/>
                  </a:lnTo>
                  <a:lnTo>
                    <a:pt x="0" y="8763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298" r="0" b="-70298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38100"/>
              <a:ext cx="541020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Price report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5136356" y="6322219"/>
            <a:ext cx="2728912" cy="785812"/>
            <a:chOff x="0" y="0"/>
            <a:chExt cx="3638550" cy="104775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3638550" cy="1047750"/>
            </a:xfrm>
            <a:custGeom>
              <a:avLst/>
              <a:gdLst/>
              <a:ahLst/>
              <a:cxnLst/>
              <a:rect r="r" b="b" t="t" l="l"/>
              <a:pathLst>
                <a:path h="1047750" w="3638550">
                  <a:moveTo>
                    <a:pt x="0" y="0"/>
                  </a:moveTo>
                  <a:lnTo>
                    <a:pt x="3638550" y="0"/>
                  </a:lnTo>
                  <a:lnTo>
                    <a:pt x="3638550" y="1047750"/>
                  </a:lnTo>
                  <a:lnTo>
                    <a:pt x="0" y="1047750"/>
                  </a:lnTo>
                  <a:close/>
                </a:path>
              </a:pathLst>
            </a:custGeom>
            <a:solidFill>
              <a:srgbClr val="ECE9E3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100" id="100"/>
          <p:cNvGrpSpPr/>
          <p:nvPr/>
        </p:nvGrpSpPr>
        <p:grpSpPr>
          <a:xfrm rot="0">
            <a:off x="5257800" y="6386512"/>
            <a:ext cx="2486025" cy="657225"/>
            <a:chOff x="0" y="0"/>
            <a:chExt cx="3314700" cy="87630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3314700" cy="876300"/>
            </a:xfrm>
            <a:custGeom>
              <a:avLst/>
              <a:gdLst/>
              <a:ahLst/>
              <a:cxnLst/>
              <a:rect r="r" b="b" t="t" l="l"/>
              <a:pathLst>
                <a:path h="876300" w="3314700">
                  <a:moveTo>
                    <a:pt x="0" y="0"/>
                  </a:moveTo>
                  <a:lnTo>
                    <a:pt x="3314700" y="0"/>
                  </a:lnTo>
                  <a:lnTo>
                    <a:pt x="3314700" y="876300"/>
                  </a:lnTo>
                  <a:lnTo>
                    <a:pt x="0" y="8763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704" r="0" b="-23704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38100"/>
              <a:ext cx="331470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0,8095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7850981" y="6322219"/>
            <a:ext cx="9586912" cy="785812"/>
            <a:chOff x="0" y="0"/>
            <a:chExt cx="12782550" cy="1047750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12782550" cy="1047750"/>
            </a:xfrm>
            <a:custGeom>
              <a:avLst/>
              <a:gdLst/>
              <a:ahLst/>
              <a:cxnLst/>
              <a:rect r="r" b="b" t="t" l="l"/>
              <a:pathLst>
                <a:path h="1047750" w="12782550">
                  <a:moveTo>
                    <a:pt x="0" y="0"/>
                  </a:moveTo>
                  <a:lnTo>
                    <a:pt x="12782550" y="0"/>
                  </a:lnTo>
                  <a:lnTo>
                    <a:pt x="12782550" y="1047750"/>
                  </a:lnTo>
                  <a:lnTo>
                    <a:pt x="0" y="1047750"/>
                  </a:lnTo>
                  <a:close/>
                </a:path>
              </a:pathLst>
            </a:custGeom>
            <a:solidFill>
              <a:srgbClr val="ECE9E3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105" id="105"/>
          <p:cNvGrpSpPr/>
          <p:nvPr/>
        </p:nvGrpSpPr>
        <p:grpSpPr>
          <a:xfrm rot="0">
            <a:off x="7972425" y="6386512"/>
            <a:ext cx="9344025" cy="657225"/>
            <a:chOff x="0" y="0"/>
            <a:chExt cx="12458700" cy="876300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12458700" cy="876300"/>
            </a:xfrm>
            <a:custGeom>
              <a:avLst/>
              <a:gdLst/>
              <a:ahLst/>
              <a:cxnLst/>
              <a:rect r="r" b="b" t="t" l="l"/>
              <a:pathLst>
                <a:path h="876300" w="12458700">
                  <a:moveTo>
                    <a:pt x="0" y="0"/>
                  </a:moveTo>
                  <a:lnTo>
                    <a:pt x="12458700" y="0"/>
                  </a:lnTo>
                  <a:lnTo>
                    <a:pt x="12458700" y="876300"/>
                  </a:lnTo>
                  <a:lnTo>
                    <a:pt x="0" y="8763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7026" r="0" b="-227026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38100"/>
              <a:ext cx="1245870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Cukup stabil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850106" y="7093744"/>
            <a:ext cx="4300538" cy="785812"/>
            <a:chOff x="0" y="0"/>
            <a:chExt cx="5734050" cy="1047750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5734050" cy="1047750"/>
            </a:xfrm>
            <a:custGeom>
              <a:avLst/>
              <a:gdLst/>
              <a:ahLst/>
              <a:cxnLst/>
              <a:rect r="r" b="b" t="t" l="l"/>
              <a:pathLst>
                <a:path h="1047750" w="5734050">
                  <a:moveTo>
                    <a:pt x="0" y="0"/>
                  </a:moveTo>
                  <a:lnTo>
                    <a:pt x="5734050" y="0"/>
                  </a:lnTo>
                  <a:lnTo>
                    <a:pt x="5734050" y="1047750"/>
                  </a:lnTo>
                  <a:lnTo>
                    <a:pt x="0" y="1047750"/>
                  </a:lnTo>
                  <a:close/>
                </a:path>
              </a:pathLst>
            </a:custGeom>
            <a:solidFill>
              <a:srgbClr val="F7F5F0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110" id="110"/>
          <p:cNvGrpSpPr/>
          <p:nvPr/>
        </p:nvGrpSpPr>
        <p:grpSpPr>
          <a:xfrm rot="0">
            <a:off x="971550" y="7158038"/>
            <a:ext cx="4057650" cy="657225"/>
            <a:chOff x="0" y="0"/>
            <a:chExt cx="5410200" cy="87630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5410200" cy="876300"/>
            </a:xfrm>
            <a:custGeom>
              <a:avLst/>
              <a:gdLst/>
              <a:ahLst/>
              <a:cxnLst/>
              <a:rect r="r" b="b" t="t" l="l"/>
              <a:pathLst>
                <a:path h="876300" w="5410200">
                  <a:moveTo>
                    <a:pt x="0" y="0"/>
                  </a:moveTo>
                  <a:lnTo>
                    <a:pt x="5410200" y="0"/>
                  </a:lnTo>
                  <a:lnTo>
                    <a:pt x="5410200" y="876300"/>
                  </a:lnTo>
                  <a:lnTo>
                    <a:pt x="0" y="8763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298" r="0" b="-70298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38100"/>
              <a:ext cx="541020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Irrelevant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5136356" y="7093744"/>
            <a:ext cx="2728912" cy="785812"/>
            <a:chOff x="0" y="0"/>
            <a:chExt cx="3638550" cy="104775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3638550" cy="1047750"/>
            </a:xfrm>
            <a:custGeom>
              <a:avLst/>
              <a:gdLst/>
              <a:ahLst/>
              <a:cxnLst/>
              <a:rect r="r" b="b" t="t" l="l"/>
              <a:pathLst>
                <a:path h="1047750" w="3638550">
                  <a:moveTo>
                    <a:pt x="0" y="0"/>
                  </a:moveTo>
                  <a:lnTo>
                    <a:pt x="3638550" y="0"/>
                  </a:lnTo>
                  <a:lnTo>
                    <a:pt x="3638550" y="1047750"/>
                  </a:lnTo>
                  <a:lnTo>
                    <a:pt x="0" y="1047750"/>
                  </a:lnTo>
                  <a:close/>
                </a:path>
              </a:pathLst>
            </a:custGeom>
            <a:solidFill>
              <a:srgbClr val="F7F5F0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115" id="115"/>
          <p:cNvGrpSpPr/>
          <p:nvPr/>
        </p:nvGrpSpPr>
        <p:grpSpPr>
          <a:xfrm rot="0">
            <a:off x="5257800" y="7158038"/>
            <a:ext cx="2486025" cy="657225"/>
            <a:chOff x="0" y="0"/>
            <a:chExt cx="3314700" cy="876300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3314700" cy="876300"/>
            </a:xfrm>
            <a:custGeom>
              <a:avLst/>
              <a:gdLst/>
              <a:ahLst/>
              <a:cxnLst/>
              <a:rect r="r" b="b" t="t" l="l"/>
              <a:pathLst>
                <a:path h="876300" w="3314700">
                  <a:moveTo>
                    <a:pt x="0" y="0"/>
                  </a:moveTo>
                  <a:lnTo>
                    <a:pt x="3314700" y="0"/>
                  </a:lnTo>
                  <a:lnTo>
                    <a:pt x="3314700" y="876300"/>
                  </a:lnTo>
                  <a:lnTo>
                    <a:pt x="0" y="8763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704" r="0" b="-23704"/>
              </a:stretch>
            </a:blipFill>
          </p:spPr>
        </p:sp>
        <p:sp>
          <p:nvSpPr>
            <p:cNvPr name="TextBox 117" id="117"/>
            <p:cNvSpPr txBox="true"/>
            <p:nvPr/>
          </p:nvSpPr>
          <p:spPr>
            <a:xfrm>
              <a:off x="0" y="-38100"/>
              <a:ext cx="331470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0,9677</a:t>
              </a:r>
            </a:p>
          </p:txBody>
        </p:sp>
      </p:grpSp>
      <p:grpSp>
        <p:nvGrpSpPr>
          <p:cNvPr name="Group 118" id="118"/>
          <p:cNvGrpSpPr/>
          <p:nvPr/>
        </p:nvGrpSpPr>
        <p:grpSpPr>
          <a:xfrm rot="0">
            <a:off x="7850981" y="7093744"/>
            <a:ext cx="9586912" cy="785812"/>
            <a:chOff x="0" y="0"/>
            <a:chExt cx="12782550" cy="1047750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12782550" cy="1047750"/>
            </a:xfrm>
            <a:custGeom>
              <a:avLst/>
              <a:gdLst/>
              <a:ahLst/>
              <a:cxnLst/>
              <a:rect r="r" b="b" t="t" l="l"/>
              <a:pathLst>
                <a:path h="1047750" w="12782550">
                  <a:moveTo>
                    <a:pt x="0" y="0"/>
                  </a:moveTo>
                  <a:lnTo>
                    <a:pt x="12782550" y="0"/>
                  </a:lnTo>
                  <a:lnTo>
                    <a:pt x="12782550" y="1047750"/>
                  </a:lnTo>
                  <a:lnTo>
                    <a:pt x="0" y="1047750"/>
                  </a:lnTo>
                  <a:close/>
                </a:path>
              </a:pathLst>
            </a:custGeom>
            <a:solidFill>
              <a:srgbClr val="F7F5F0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120" id="120"/>
          <p:cNvGrpSpPr/>
          <p:nvPr/>
        </p:nvGrpSpPr>
        <p:grpSpPr>
          <a:xfrm rot="0">
            <a:off x="7972425" y="7158038"/>
            <a:ext cx="9344025" cy="657225"/>
            <a:chOff x="0" y="0"/>
            <a:chExt cx="12458700" cy="876300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12458700" cy="876300"/>
            </a:xfrm>
            <a:custGeom>
              <a:avLst/>
              <a:gdLst/>
              <a:ahLst/>
              <a:cxnLst/>
              <a:rect r="r" b="b" t="t" l="l"/>
              <a:pathLst>
                <a:path h="876300" w="12458700">
                  <a:moveTo>
                    <a:pt x="0" y="0"/>
                  </a:moveTo>
                  <a:lnTo>
                    <a:pt x="12458700" y="0"/>
                  </a:lnTo>
                  <a:lnTo>
                    <a:pt x="12458700" y="876300"/>
                  </a:lnTo>
                  <a:lnTo>
                    <a:pt x="0" y="8763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7026" r="0" b="-227026"/>
              </a:stretch>
            </a:blipFill>
          </p:spPr>
        </p:sp>
        <p:sp>
          <p:nvSpPr>
            <p:cNvPr name="TextBox 122" id="122"/>
            <p:cNvSpPr txBox="true"/>
            <p:nvPr/>
          </p:nvSpPr>
          <p:spPr>
            <a:xfrm>
              <a:off x="0" y="-38100"/>
              <a:ext cx="1245870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Sangat baik</a:t>
              </a:r>
            </a:p>
          </p:txBody>
        </p:sp>
      </p:grpSp>
      <p:grpSp>
        <p:nvGrpSpPr>
          <p:cNvPr name="Group 123" id="123"/>
          <p:cNvGrpSpPr/>
          <p:nvPr/>
        </p:nvGrpSpPr>
        <p:grpSpPr>
          <a:xfrm rot="0">
            <a:off x="850106" y="7865269"/>
            <a:ext cx="4300538" cy="785812"/>
            <a:chOff x="0" y="0"/>
            <a:chExt cx="5734050" cy="1047750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5734050" cy="1047750"/>
            </a:xfrm>
            <a:custGeom>
              <a:avLst/>
              <a:gdLst/>
              <a:ahLst/>
              <a:cxnLst/>
              <a:rect r="r" b="b" t="t" l="l"/>
              <a:pathLst>
                <a:path h="1047750" w="5734050">
                  <a:moveTo>
                    <a:pt x="0" y="0"/>
                  </a:moveTo>
                  <a:lnTo>
                    <a:pt x="5734050" y="0"/>
                  </a:lnTo>
                  <a:lnTo>
                    <a:pt x="5734050" y="1047750"/>
                  </a:lnTo>
                  <a:lnTo>
                    <a:pt x="0" y="1047750"/>
                  </a:lnTo>
                  <a:close/>
                </a:path>
              </a:pathLst>
            </a:custGeom>
            <a:solidFill>
              <a:srgbClr val="ECE9E3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125" id="125"/>
          <p:cNvGrpSpPr/>
          <p:nvPr/>
        </p:nvGrpSpPr>
        <p:grpSpPr>
          <a:xfrm rot="0">
            <a:off x="971550" y="7929562"/>
            <a:ext cx="4057650" cy="657225"/>
            <a:chOff x="0" y="0"/>
            <a:chExt cx="5410200" cy="876300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5410200" cy="876300"/>
            </a:xfrm>
            <a:custGeom>
              <a:avLst/>
              <a:gdLst/>
              <a:ahLst/>
              <a:cxnLst/>
              <a:rect r="r" b="b" t="t" l="l"/>
              <a:pathLst>
                <a:path h="876300" w="5410200">
                  <a:moveTo>
                    <a:pt x="0" y="0"/>
                  </a:moveTo>
                  <a:lnTo>
                    <a:pt x="5410200" y="0"/>
                  </a:lnTo>
                  <a:lnTo>
                    <a:pt x="5410200" y="876300"/>
                  </a:lnTo>
                  <a:lnTo>
                    <a:pt x="0" y="8763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298" r="0" b="-70298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38100"/>
              <a:ext cx="541020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Demand shock</a:t>
              </a: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5136356" y="7865269"/>
            <a:ext cx="2728912" cy="785812"/>
            <a:chOff x="0" y="0"/>
            <a:chExt cx="3638550" cy="1047750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3638550" cy="1047750"/>
            </a:xfrm>
            <a:custGeom>
              <a:avLst/>
              <a:gdLst/>
              <a:ahLst/>
              <a:cxnLst/>
              <a:rect r="r" b="b" t="t" l="l"/>
              <a:pathLst>
                <a:path h="1047750" w="3638550">
                  <a:moveTo>
                    <a:pt x="0" y="0"/>
                  </a:moveTo>
                  <a:lnTo>
                    <a:pt x="3638550" y="0"/>
                  </a:lnTo>
                  <a:lnTo>
                    <a:pt x="3638550" y="1047750"/>
                  </a:lnTo>
                  <a:lnTo>
                    <a:pt x="0" y="1047750"/>
                  </a:lnTo>
                  <a:close/>
                </a:path>
              </a:pathLst>
            </a:custGeom>
            <a:solidFill>
              <a:srgbClr val="ECE9E3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130" id="130"/>
          <p:cNvGrpSpPr/>
          <p:nvPr/>
        </p:nvGrpSpPr>
        <p:grpSpPr>
          <a:xfrm rot="0">
            <a:off x="5257800" y="7929562"/>
            <a:ext cx="2486025" cy="657225"/>
            <a:chOff x="0" y="0"/>
            <a:chExt cx="3314700" cy="876300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3314700" cy="876300"/>
            </a:xfrm>
            <a:custGeom>
              <a:avLst/>
              <a:gdLst/>
              <a:ahLst/>
              <a:cxnLst/>
              <a:rect r="r" b="b" t="t" l="l"/>
              <a:pathLst>
                <a:path h="876300" w="3314700">
                  <a:moveTo>
                    <a:pt x="0" y="0"/>
                  </a:moveTo>
                  <a:lnTo>
                    <a:pt x="3314700" y="0"/>
                  </a:lnTo>
                  <a:lnTo>
                    <a:pt x="3314700" y="876300"/>
                  </a:lnTo>
                  <a:lnTo>
                    <a:pt x="0" y="8763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704" r="0" b="-23704"/>
              </a:stretch>
            </a:blipFill>
          </p:spPr>
        </p:sp>
        <p:sp>
          <p:nvSpPr>
            <p:cNvPr name="TextBox 132" id="132"/>
            <p:cNvSpPr txBox="true"/>
            <p:nvPr/>
          </p:nvSpPr>
          <p:spPr>
            <a:xfrm>
              <a:off x="0" y="-38100"/>
              <a:ext cx="331470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0,6250</a:t>
              </a:r>
            </a:p>
          </p:txBody>
        </p:sp>
      </p:grpSp>
      <p:grpSp>
        <p:nvGrpSpPr>
          <p:cNvPr name="Group 133" id="133"/>
          <p:cNvGrpSpPr/>
          <p:nvPr/>
        </p:nvGrpSpPr>
        <p:grpSpPr>
          <a:xfrm rot="0">
            <a:off x="7850981" y="7865269"/>
            <a:ext cx="9586912" cy="785812"/>
            <a:chOff x="0" y="0"/>
            <a:chExt cx="12782550" cy="1047750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12782550" cy="1047750"/>
            </a:xfrm>
            <a:custGeom>
              <a:avLst/>
              <a:gdLst/>
              <a:ahLst/>
              <a:cxnLst/>
              <a:rect r="r" b="b" t="t" l="l"/>
              <a:pathLst>
                <a:path h="1047750" w="12782550">
                  <a:moveTo>
                    <a:pt x="0" y="0"/>
                  </a:moveTo>
                  <a:lnTo>
                    <a:pt x="12782550" y="0"/>
                  </a:lnTo>
                  <a:lnTo>
                    <a:pt x="12782550" y="1047750"/>
                  </a:lnTo>
                  <a:lnTo>
                    <a:pt x="0" y="1047750"/>
                  </a:lnTo>
                  <a:close/>
                </a:path>
              </a:pathLst>
            </a:custGeom>
            <a:solidFill>
              <a:srgbClr val="ECE9E3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135" id="135"/>
          <p:cNvGrpSpPr/>
          <p:nvPr/>
        </p:nvGrpSpPr>
        <p:grpSpPr>
          <a:xfrm rot="0">
            <a:off x="7972425" y="7929562"/>
            <a:ext cx="9344025" cy="657225"/>
            <a:chOff x="0" y="0"/>
            <a:chExt cx="12458700" cy="876300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12458700" cy="876300"/>
            </a:xfrm>
            <a:custGeom>
              <a:avLst/>
              <a:gdLst/>
              <a:ahLst/>
              <a:cxnLst/>
              <a:rect r="r" b="b" t="t" l="l"/>
              <a:pathLst>
                <a:path h="876300" w="12458700">
                  <a:moveTo>
                    <a:pt x="0" y="0"/>
                  </a:moveTo>
                  <a:lnTo>
                    <a:pt x="12458700" y="0"/>
                  </a:lnTo>
                  <a:lnTo>
                    <a:pt x="12458700" y="876300"/>
                  </a:lnTo>
                  <a:lnTo>
                    <a:pt x="0" y="8763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7026" r="0" b="-227026"/>
              </a:stretch>
            </a:blipFill>
          </p:spPr>
        </p:sp>
        <p:sp>
          <p:nvSpPr>
            <p:cNvPr name="TextBox 137" id="137"/>
            <p:cNvSpPr txBox="true"/>
            <p:nvPr/>
          </p:nvSpPr>
          <p:spPr>
            <a:xfrm>
              <a:off x="0" y="-38100"/>
              <a:ext cx="1245870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Masih lemah; recall hanya 0,50</a:t>
              </a:r>
            </a:p>
          </p:txBody>
        </p:sp>
      </p:grpSp>
      <p:grpSp>
        <p:nvGrpSpPr>
          <p:cNvPr name="Group 138" id="138"/>
          <p:cNvGrpSpPr/>
          <p:nvPr/>
        </p:nvGrpSpPr>
        <p:grpSpPr>
          <a:xfrm rot="0">
            <a:off x="857250" y="8786812"/>
            <a:ext cx="16573500" cy="828675"/>
            <a:chOff x="0" y="0"/>
            <a:chExt cx="22098000" cy="1104900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22098000" cy="1104900"/>
            </a:xfrm>
            <a:custGeom>
              <a:avLst/>
              <a:gdLst/>
              <a:ahLst/>
              <a:cxnLst/>
              <a:rect r="r" b="b" t="t" l="l"/>
              <a:pathLst>
                <a:path h="110490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1104900"/>
                  </a:lnTo>
                  <a:lnTo>
                    <a:pt x="0" y="1104900"/>
                  </a:lnTo>
                  <a:close/>
                </a:path>
              </a:pathLst>
            </a:custGeom>
            <a:solidFill>
              <a:srgbClr val="D86F00"/>
            </a:solidFill>
          </p:spPr>
        </p:sp>
      </p:grpSp>
      <p:grpSp>
        <p:nvGrpSpPr>
          <p:cNvPr name="Group 140" id="140"/>
          <p:cNvGrpSpPr/>
          <p:nvPr/>
        </p:nvGrpSpPr>
        <p:grpSpPr>
          <a:xfrm rot="0">
            <a:off x="1171575" y="8886825"/>
            <a:ext cx="15944850" cy="614362"/>
            <a:chOff x="0" y="0"/>
            <a:chExt cx="21259800" cy="819150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21259800" cy="819150"/>
            </a:xfrm>
            <a:custGeom>
              <a:avLst/>
              <a:gdLst/>
              <a:ahLst/>
              <a:cxnLst/>
              <a:rect r="r" b="b" t="t" l="l"/>
              <a:pathLst>
                <a:path h="819150" w="21259800">
                  <a:moveTo>
                    <a:pt x="0" y="0"/>
                  </a:moveTo>
                  <a:lnTo>
                    <a:pt x="21259800" y="0"/>
                  </a:lnTo>
                  <a:lnTo>
                    <a:pt x="21259800" y="819150"/>
                  </a:lnTo>
                  <a:lnTo>
                    <a:pt x="0" y="8191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5704" r="0" b="-455704"/>
              </a:stretch>
            </a:blipFill>
          </p:spPr>
        </p:sp>
        <p:sp>
          <p:nvSpPr>
            <p:cNvPr name="TextBox 142" id="142"/>
            <p:cNvSpPr txBox="true"/>
            <p:nvPr/>
          </p:nvSpPr>
          <p:spPr>
            <a:xfrm>
              <a:off x="0" y="-38100"/>
              <a:ext cx="21259800" cy="857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65"/>
                </a:lnSpc>
              </a:pPr>
              <a:r>
                <a:rPr lang="en-US" sz="2137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Keputusan sementara: demand dilaporkan, tetapi tidak dijadikan fitur utama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571500"/>
            <a:chOff x="0" y="0"/>
            <a:chExt cx="24384000" cy="762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762000"/>
            </a:xfrm>
            <a:custGeom>
              <a:avLst/>
              <a:gdLst/>
              <a:ahLst/>
              <a:cxnLst/>
              <a:rect r="r" b="b" t="t" l="l"/>
              <a:pathLst>
                <a:path h="762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15574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100012"/>
            <a:ext cx="16573500" cy="357188"/>
            <a:chOff x="0" y="0"/>
            <a:chExt cx="22098000" cy="4762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098000" cy="476250"/>
            </a:xfrm>
            <a:custGeom>
              <a:avLst/>
              <a:gdLst/>
              <a:ahLst/>
              <a:cxnLst/>
              <a:rect r="r" b="b" t="t" l="l"/>
              <a:pathLst>
                <a:path h="47625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476250"/>
                  </a:lnTo>
                  <a:lnTo>
                    <a:pt x="0" y="476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4105" r="0" b="-85410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2098000" cy="504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755"/>
                </a:lnSpc>
              </a:pPr>
              <a:r>
                <a:rPr lang="en-US" sz="1462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PEKERJAAN YANG SUDAH DILAKUKAN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57250" y="885825"/>
            <a:ext cx="16573500" cy="809262"/>
            <a:chOff x="0" y="0"/>
            <a:chExt cx="22098000" cy="107901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098000" cy="1079016"/>
            </a:xfrm>
            <a:custGeom>
              <a:avLst/>
              <a:gdLst/>
              <a:ahLst/>
              <a:cxnLst/>
              <a:rect r="r" b="b" t="t" l="l"/>
              <a:pathLst>
                <a:path h="1079016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1079016"/>
                  </a:lnTo>
                  <a:lnTo>
                    <a:pt x="0" y="10790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1380" r="0" b="-346717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76200"/>
              <a:ext cx="22098000" cy="115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sz="4050" b="true">
                  <a:solidFill>
                    <a:srgbClr val="1557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</a:t>
              </a:r>
              <a:r>
                <a:rPr lang="en-US" sz="4050" b="true">
                  <a:solidFill>
                    <a:srgbClr val="1557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andidat target dibangun dari PIHPS dan BPS untuk dievaluasi secara setara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7002125" y="9686925"/>
            <a:ext cx="500062" cy="257175"/>
            <a:chOff x="0" y="0"/>
            <a:chExt cx="666750" cy="3429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66750" cy="342900"/>
            </a:xfrm>
            <a:custGeom>
              <a:avLst/>
              <a:gdLst/>
              <a:ahLst/>
              <a:cxnLst/>
              <a:rect r="r" b="b" t="t" l="l"/>
              <a:pathLst>
                <a:path h="342900" w="666750">
                  <a:moveTo>
                    <a:pt x="0" y="0"/>
                  </a:moveTo>
                  <a:lnTo>
                    <a:pt x="666750" y="0"/>
                  </a:lnTo>
                  <a:lnTo>
                    <a:pt x="666750" y="342900"/>
                  </a:lnTo>
                  <a:lnTo>
                    <a:pt x="0" y="3429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984" t="0" r="-15984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66750" cy="361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85"/>
                </a:lnSpc>
              </a:pPr>
              <a:r>
                <a:rPr lang="en-US" sz="1237">
                  <a:solidFill>
                    <a:srgbClr val="77736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57250" y="2071688"/>
            <a:ext cx="16573500" cy="828675"/>
            <a:chOff x="0" y="0"/>
            <a:chExt cx="22098000" cy="11049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098000" cy="1104900"/>
            </a:xfrm>
            <a:custGeom>
              <a:avLst/>
              <a:gdLst/>
              <a:ahLst/>
              <a:cxnLst/>
              <a:rect r="r" b="b" t="t" l="l"/>
              <a:pathLst>
                <a:path h="110490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1104900"/>
                  </a:lnTo>
                  <a:lnTo>
                    <a:pt x="0" y="1104900"/>
                  </a:lnTo>
                  <a:close/>
                </a:path>
              </a:pathLst>
            </a:custGeom>
            <a:solidFill>
              <a:srgbClr val="155744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171575" y="2171700"/>
            <a:ext cx="15944850" cy="614362"/>
            <a:chOff x="0" y="0"/>
            <a:chExt cx="21259800" cy="8191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259800" cy="819150"/>
            </a:xfrm>
            <a:custGeom>
              <a:avLst/>
              <a:gdLst/>
              <a:ahLst/>
              <a:cxnLst/>
              <a:rect r="r" b="b" t="t" l="l"/>
              <a:pathLst>
                <a:path h="819150" w="21259800">
                  <a:moveTo>
                    <a:pt x="0" y="0"/>
                  </a:moveTo>
                  <a:lnTo>
                    <a:pt x="21259800" y="0"/>
                  </a:lnTo>
                  <a:lnTo>
                    <a:pt x="21259800" y="819150"/>
                  </a:lnTo>
                  <a:lnTo>
                    <a:pt x="0" y="8191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5704" r="0" b="-455704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21259800" cy="857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65"/>
                </a:lnSpc>
              </a:pPr>
              <a:r>
                <a:rPr lang="en-US" sz="2137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</a:t>
              </a:r>
              <a:r>
                <a:rPr lang="en-US" sz="2137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andidat target dibangun dari PIHPS dan BPS untuk dievaluasi secara setara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50106" y="3421856"/>
            <a:ext cx="7586662" cy="4157662"/>
            <a:chOff x="0" y="0"/>
            <a:chExt cx="10115550" cy="55435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115550" cy="5543550"/>
            </a:xfrm>
            <a:custGeom>
              <a:avLst/>
              <a:gdLst/>
              <a:ahLst/>
              <a:cxnLst/>
              <a:rect r="r" b="b" t="t" l="l"/>
              <a:pathLst>
                <a:path h="5543550" w="10115550">
                  <a:moveTo>
                    <a:pt x="0" y="0"/>
                  </a:moveTo>
                  <a:lnTo>
                    <a:pt x="10115550" y="0"/>
                  </a:lnTo>
                  <a:lnTo>
                    <a:pt x="10115550" y="5543550"/>
                  </a:lnTo>
                  <a:lnTo>
                    <a:pt x="0" y="5543550"/>
                  </a:lnTo>
                  <a:close/>
                </a:path>
              </a:pathLst>
            </a:custGeom>
            <a:solidFill>
              <a:srgbClr val="ECE9E3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857250" y="3429000"/>
            <a:ext cx="85725" cy="4143375"/>
            <a:chOff x="0" y="0"/>
            <a:chExt cx="114300" cy="55245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4300" cy="5524500"/>
            </a:xfrm>
            <a:custGeom>
              <a:avLst/>
              <a:gdLst/>
              <a:ahLst/>
              <a:cxnLst/>
              <a:rect r="r" b="b" t="t" l="l"/>
              <a:pathLst>
                <a:path h="5524500" w="114300">
                  <a:moveTo>
                    <a:pt x="0" y="0"/>
                  </a:moveTo>
                  <a:lnTo>
                    <a:pt x="114300" y="0"/>
                  </a:lnTo>
                  <a:lnTo>
                    <a:pt x="114300" y="5524500"/>
                  </a:lnTo>
                  <a:lnTo>
                    <a:pt x="0" y="5524500"/>
                  </a:lnTo>
                  <a:close/>
                </a:path>
              </a:pathLst>
            </a:custGeom>
            <a:solidFill>
              <a:srgbClr val="155744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200150" y="3657600"/>
            <a:ext cx="6972300" cy="485775"/>
            <a:chOff x="0" y="0"/>
            <a:chExt cx="9296400" cy="6477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296400" cy="647700"/>
            </a:xfrm>
            <a:custGeom>
              <a:avLst/>
              <a:gdLst/>
              <a:ahLst/>
              <a:cxnLst/>
              <a:rect r="r" b="b" t="t" l="l"/>
              <a:pathLst>
                <a:path h="647700" w="9296400">
                  <a:moveTo>
                    <a:pt x="0" y="0"/>
                  </a:moveTo>
                  <a:lnTo>
                    <a:pt x="9296400" y="0"/>
                  </a:lnTo>
                  <a:lnTo>
                    <a:pt x="9296400" y="647700"/>
                  </a:lnTo>
                  <a:lnTo>
                    <a:pt x="0" y="6477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9667" r="0" b="-229667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9296400" cy="70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35"/>
                </a:lnSpc>
              </a:pPr>
              <a:r>
                <a:rPr lang="en-US" sz="2362" b="true">
                  <a:solidFill>
                    <a:srgbClr val="1557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</a:t>
              </a:r>
              <a:r>
                <a:rPr lang="en-US" sz="2362" b="true">
                  <a:solidFill>
                    <a:srgbClr val="1557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ANDIDAT BERBASIS PIHPS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200150" y="4257675"/>
            <a:ext cx="6972300" cy="3057525"/>
            <a:chOff x="0" y="0"/>
            <a:chExt cx="9296400" cy="40767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296400" cy="4076700"/>
            </a:xfrm>
            <a:custGeom>
              <a:avLst/>
              <a:gdLst/>
              <a:ahLst/>
              <a:cxnLst/>
              <a:rect r="r" b="b" t="t" l="l"/>
              <a:pathLst>
                <a:path h="4076700" w="9296400">
                  <a:moveTo>
                    <a:pt x="0" y="0"/>
                  </a:moveTo>
                  <a:lnTo>
                    <a:pt x="9296400" y="0"/>
                  </a:lnTo>
                  <a:lnTo>
                    <a:pt x="9296400" y="4076700"/>
                  </a:lnTo>
                  <a:lnTo>
                    <a:pt x="0" y="40767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264" t="0" r="-6264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9296400" cy="4114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12909" indent="-206454" lvl="1">
                <a:lnSpc>
                  <a:spcPts val="2295"/>
                </a:lnSpc>
                <a:buFont typeface="Arial"/>
                <a:buChar char="•"/>
              </a:pPr>
              <a:r>
                <a:rPr lang="en-US" b="true" sz="1912">
                  <a:solidFill>
                    <a:srgbClr val="25232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Equal-weight Jevons IHP-8</a:t>
              </a:r>
            </a:p>
            <a:p>
              <a:pPr algn="l" marL="412909" indent="-206454" lvl="1">
                <a:lnSpc>
                  <a:spcPts val="2295"/>
                </a:lnSpc>
                <a:buFont typeface="Arial"/>
                <a:buChar char="•"/>
              </a:pPr>
              <a:r>
                <a:rPr lang="en-US" sz="1912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Proksi transparan tanpa bobot historis.</a:t>
              </a:r>
            </a:p>
            <a:p>
              <a:pPr algn="l" marL="412909" indent="-206454" lvl="1">
                <a:lnSpc>
                  <a:spcPts val="2295"/>
                </a:lnSpc>
                <a:buFont typeface="Arial"/>
                <a:buChar char="•"/>
              </a:pPr>
              <a:r>
                <a:rPr lang="en-US" b="true" sz="1912">
                  <a:solidFill>
                    <a:srgbClr val="25232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Weighted Jevons IHP-8</a:t>
              </a:r>
            </a:p>
            <a:p>
              <a:pPr algn="l" marL="412909" indent="-206454" lvl="1">
                <a:lnSpc>
                  <a:spcPts val="2295"/>
                </a:lnSpc>
                <a:buFont typeface="Arial"/>
                <a:buChar char="•"/>
              </a:pPr>
              <a:r>
                <a:rPr lang="en-US" sz="1912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Proksi dengan mean-absolute ANDIL weights empiris—bukan bobot konsumsi resmi.</a:t>
              </a:r>
            </a:p>
            <a:p>
              <a:pPr algn="l">
                <a:lnSpc>
                  <a:spcPts val="2295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279731" y="3421856"/>
            <a:ext cx="8158162" cy="4157662"/>
            <a:chOff x="0" y="0"/>
            <a:chExt cx="10877550" cy="554355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877550" cy="5543550"/>
            </a:xfrm>
            <a:custGeom>
              <a:avLst/>
              <a:gdLst/>
              <a:ahLst/>
              <a:cxnLst/>
              <a:rect r="r" b="b" t="t" l="l"/>
              <a:pathLst>
                <a:path h="5543550" w="10877550">
                  <a:moveTo>
                    <a:pt x="0" y="0"/>
                  </a:moveTo>
                  <a:lnTo>
                    <a:pt x="10877550" y="0"/>
                  </a:lnTo>
                  <a:lnTo>
                    <a:pt x="10877550" y="5543550"/>
                  </a:lnTo>
                  <a:lnTo>
                    <a:pt x="0" y="5543550"/>
                  </a:lnTo>
                  <a:close/>
                </a:path>
              </a:pathLst>
            </a:custGeom>
            <a:solidFill>
              <a:srgbClr val="ECE9E3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9286875" y="3429000"/>
            <a:ext cx="85725" cy="4143375"/>
            <a:chOff x="0" y="0"/>
            <a:chExt cx="114300" cy="55245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14300" cy="5524500"/>
            </a:xfrm>
            <a:custGeom>
              <a:avLst/>
              <a:gdLst/>
              <a:ahLst/>
              <a:cxnLst/>
              <a:rect r="r" b="b" t="t" l="l"/>
              <a:pathLst>
                <a:path h="5524500" w="114300">
                  <a:moveTo>
                    <a:pt x="0" y="0"/>
                  </a:moveTo>
                  <a:lnTo>
                    <a:pt x="114300" y="0"/>
                  </a:lnTo>
                  <a:lnTo>
                    <a:pt x="114300" y="5524500"/>
                  </a:lnTo>
                  <a:lnTo>
                    <a:pt x="0" y="5524500"/>
                  </a:lnTo>
                  <a:close/>
                </a:path>
              </a:pathLst>
            </a:custGeom>
            <a:solidFill>
              <a:srgbClr val="D86F00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629775" y="3657600"/>
            <a:ext cx="7543800" cy="485775"/>
            <a:chOff x="0" y="0"/>
            <a:chExt cx="10058400" cy="6477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058400" cy="647700"/>
            </a:xfrm>
            <a:custGeom>
              <a:avLst/>
              <a:gdLst/>
              <a:ahLst/>
              <a:cxnLst/>
              <a:rect r="r" b="b" t="t" l="l"/>
              <a:pathLst>
                <a:path h="64770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647700"/>
                  </a:lnTo>
                  <a:lnTo>
                    <a:pt x="0" y="6477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2591" r="0" b="-252591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57150"/>
              <a:ext cx="10058400" cy="70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35"/>
                </a:lnSpc>
              </a:pPr>
              <a:r>
                <a:rPr lang="en-US" sz="2362" b="true">
                  <a:solidFill>
                    <a:srgbClr val="D86F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</a:t>
              </a:r>
              <a:r>
                <a:rPr lang="en-US" sz="2362" b="true">
                  <a:solidFill>
                    <a:srgbClr val="D86F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ANDIDAT DAN SENSITIVITAS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629775" y="4257675"/>
            <a:ext cx="7543800" cy="3057525"/>
            <a:chOff x="0" y="0"/>
            <a:chExt cx="10058400" cy="40767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058400" cy="4076700"/>
            </a:xfrm>
            <a:custGeom>
              <a:avLst/>
              <a:gdLst/>
              <a:ahLst/>
              <a:cxnLst/>
              <a:rect r="r" b="b" t="t" l="l"/>
              <a:pathLst>
                <a:path h="407670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4076700"/>
                  </a:lnTo>
                  <a:lnTo>
                    <a:pt x="0" y="40767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001" t="0" r="-2001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10058400" cy="4114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12909" indent="-206454" lvl="1">
                <a:lnSpc>
                  <a:spcPts val="2295"/>
                </a:lnSpc>
                <a:buFont typeface="Arial"/>
                <a:buChar char="•"/>
              </a:pPr>
              <a:r>
                <a:rPr lang="en-US" b="true" sz="1912">
                  <a:solidFill>
                    <a:srgbClr val="25232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Denton additive dievaluasi setara sebagai kandidat berbasis BPS.</a:t>
              </a:r>
            </a:p>
            <a:p>
              <a:pPr algn="l" marL="412909" indent="-206454" lvl="1">
                <a:lnSpc>
                  <a:spcPts val="2295"/>
                </a:lnSpc>
                <a:buFont typeface="Arial"/>
                <a:buChar char="•"/>
              </a:pPr>
              <a:r>
                <a:rPr lang="en-US" b="true" sz="1912">
                  <a:solidFill>
                    <a:srgbClr val="25232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Cubic spline digunakan sebagai robustness tambahan.</a:t>
              </a:r>
            </a:p>
            <a:p>
              <a:pPr algn="l" marL="412909" indent="-206454" lvl="1">
                <a:lnSpc>
                  <a:spcPts val="2295"/>
                </a:lnSpc>
                <a:buFont typeface="Arial"/>
                <a:buChar char="•"/>
              </a:pPr>
              <a:r>
                <a:rPr lang="en-US" sz="1912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PIHPS-10 menguji sensitivitas cakupan komoditas.</a:t>
              </a:r>
            </a:p>
            <a:p>
              <a:pPr algn="l" marL="412909" indent="-206454" lvl="1">
                <a:lnSpc>
                  <a:spcPts val="2295"/>
                </a:lnSpc>
                <a:buFont typeface="Arial"/>
                <a:buChar char="•"/>
              </a:pPr>
              <a:r>
                <a:rPr lang="en-US" sz="1912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BPS bulanan tetap menjadi referensi resmi.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857250" y="8215312"/>
            <a:ext cx="16573500" cy="828675"/>
            <a:chOff x="0" y="0"/>
            <a:chExt cx="22098000" cy="11049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2098000" cy="1104900"/>
            </a:xfrm>
            <a:custGeom>
              <a:avLst/>
              <a:gdLst/>
              <a:ahLst/>
              <a:cxnLst/>
              <a:rect r="r" b="b" t="t" l="l"/>
              <a:pathLst>
                <a:path h="110490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1104900"/>
                  </a:lnTo>
                  <a:lnTo>
                    <a:pt x="0" y="1104900"/>
                  </a:lnTo>
                  <a:close/>
                </a:path>
              </a:pathLst>
            </a:custGeom>
            <a:solidFill>
              <a:srgbClr val="155744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171575" y="8315325"/>
            <a:ext cx="15944850" cy="614362"/>
            <a:chOff x="0" y="0"/>
            <a:chExt cx="21259800" cy="81915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1259800" cy="819150"/>
            </a:xfrm>
            <a:custGeom>
              <a:avLst/>
              <a:gdLst/>
              <a:ahLst/>
              <a:cxnLst/>
              <a:rect r="r" b="b" t="t" l="l"/>
              <a:pathLst>
                <a:path h="819150" w="21259800">
                  <a:moveTo>
                    <a:pt x="0" y="0"/>
                  </a:moveTo>
                  <a:lnTo>
                    <a:pt x="21259800" y="0"/>
                  </a:lnTo>
                  <a:lnTo>
                    <a:pt x="21259800" y="819150"/>
                  </a:lnTo>
                  <a:lnTo>
                    <a:pt x="0" y="8191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5704" r="0" b="-455704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21259800" cy="857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65"/>
                </a:lnSpc>
              </a:pPr>
              <a:r>
                <a:rPr lang="en-US" sz="2137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Tid</a:t>
              </a:r>
              <a:r>
                <a:rPr lang="en-US" sz="2137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ak ada target yang ditetapkan unggul secara a priori; seluruh kandidat dievaluasi dengan protokol BSTS yang sama.</a:t>
              </a: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0" y="9906000"/>
            <a:ext cx="18288000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KANDIDAT BERBASIS PIHPS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571500"/>
            <a:chOff x="0" y="0"/>
            <a:chExt cx="24384000" cy="762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762000"/>
            </a:xfrm>
            <a:custGeom>
              <a:avLst/>
              <a:gdLst/>
              <a:ahLst/>
              <a:cxnLst/>
              <a:rect r="r" b="b" t="t" l="l"/>
              <a:pathLst>
                <a:path h="762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15574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100012"/>
            <a:ext cx="16573500" cy="357188"/>
            <a:chOff x="0" y="0"/>
            <a:chExt cx="22098000" cy="4762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098000" cy="476250"/>
            </a:xfrm>
            <a:custGeom>
              <a:avLst/>
              <a:gdLst/>
              <a:ahLst/>
              <a:cxnLst/>
              <a:rect r="r" b="b" t="t" l="l"/>
              <a:pathLst>
                <a:path h="47625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476250"/>
                  </a:lnTo>
                  <a:lnTo>
                    <a:pt x="0" y="476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4105" r="0" b="-85410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2098000" cy="504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755"/>
                </a:lnSpc>
              </a:pPr>
              <a:r>
                <a:rPr lang="en-US" sz="1462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PEKERJAAN YANG SUDAH DILAKUKAN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57250" y="885825"/>
            <a:ext cx="16573500" cy="771525"/>
            <a:chOff x="0" y="0"/>
            <a:chExt cx="22098000" cy="10287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098000" cy="1028700"/>
            </a:xfrm>
            <a:custGeom>
              <a:avLst/>
              <a:gdLst/>
              <a:ahLst/>
              <a:cxnLst/>
              <a:rect r="r" b="b" t="t" l="l"/>
              <a:pathLst>
                <a:path h="102870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1028700"/>
                  </a:lnTo>
                  <a:lnTo>
                    <a:pt x="0" y="10287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8567" r="0" b="-368567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76200"/>
              <a:ext cx="22098000" cy="1104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sz="4050" b="true">
                  <a:solidFill>
                    <a:srgbClr val="1557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PIHPS mengikuti banyak gerakan BPS, meski tidak sama persis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7002125" y="9686925"/>
            <a:ext cx="500062" cy="257175"/>
            <a:chOff x="0" y="0"/>
            <a:chExt cx="666750" cy="3429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66750" cy="342900"/>
            </a:xfrm>
            <a:custGeom>
              <a:avLst/>
              <a:gdLst/>
              <a:ahLst/>
              <a:cxnLst/>
              <a:rect r="r" b="b" t="t" l="l"/>
              <a:pathLst>
                <a:path h="342900" w="666750">
                  <a:moveTo>
                    <a:pt x="0" y="0"/>
                  </a:moveTo>
                  <a:lnTo>
                    <a:pt x="666750" y="0"/>
                  </a:lnTo>
                  <a:lnTo>
                    <a:pt x="666750" y="342900"/>
                  </a:lnTo>
                  <a:lnTo>
                    <a:pt x="0" y="3429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984" t="0" r="-15984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66750" cy="361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85"/>
                </a:lnSpc>
              </a:pPr>
              <a:r>
                <a:rPr lang="en-US" sz="1237">
                  <a:solidFill>
                    <a:srgbClr val="77736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9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00125" y="2143125"/>
            <a:ext cx="2714625" cy="428625"/>
            <a:chOff x="0" y="0"/>
            <a:chExt cx="3619500" cy="5715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619500" cy="571500"/>
            </a:xfrm>
            <a:custGeom>
              <a:avLst/>
              <a:gdLst/>
              <a:ahLst/>
              <a:cxnLst/>
              <a:rect r="r" b="b" t="t" l="l"/>
              <a:pathLst>
                <a:path h="571500" w="3619500">
                  <a:moveTo>
                    <a:pt x="0" y="0"/>
                  </a:moveTo>
                  <a:lnTo>
                    <a:pt x="3619500" y="0"/>
                  </a:lnTo>
                  <a:lnTo>
                    <a:pt x="3619500" y="571500"/>
                  </a:lnTo>
                  <a:lnTo>
                    <a:pt x="0" y="5715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405" r="0" b="-73405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361950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25"/>
                </a:lnSpc>
              </a:pPr>
              <a:r>
                <a:rPr lang="en-US" sz="1687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Cabai rawit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3857625" y="2228850"/>
            <a:ext cx="7269480" cy="271462"/>
            <a:chOff x="0" y="0"/>
            <a:chExt cx="9692640" cy="3619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692640" cy="361950"/>
            </a:xfrm>
            <a:custGeom>
              <a:avLst/>
              <a:gdLst/>
              <a:ahLst/>
              <a:cxnLst/>
              <a:rect r="r" b="b" t="t" l="l"/>
              <a:pathLst>
                <a:path h="36195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361950"/>
                  </a:lnTo>
                  <a:lnTo>
                    <a:pt x="0" y="361950"/>
                  </a:lnTo>
                  <a:close/>
                </a:path>
              </a:pathLst>
            </a:custGeom>
            <a:solidFill>
              <a:srgbClr val="155744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1501438" y="2114550"/>
            <a:ext cx="1000125" cy="428625"/>
            <a:chOff x="0" y="0"/>
            <a:chExt cx="1333500" cy="5715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33500" cy="571500"/>
            </a:xfrm>
            <a:custGeom>
              <a:avLst/>
              <a:gdLst/>
              <a:ahLst/>
              <a:cxnLst/>
              <a:rect r="r" b="b" t="t" l="l"/>
              <a:pathLst>
                <a:path h="571500" w="1333500">
                  <a:moveTo>
                    <a:pt x="0" y="0"/>
                  </a:moveTo>
                  <a:lnTo>
                    <a:pt x="1333500" y="0"/>
                  </a:lnTo>
                  <a:lnTo>
                    <a:pt x="1333500" y="571500"/>
                  </a:lnTo>
                  <a:lnTo>
                    <a:pt x="0" y="5715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87" t="0" r="-4987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33350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25"/>
                </a:lnSpc>
              </a:pPr>
              <a:r>
                <a:rPr lang="en-US" sz="1687" b="true">
                  <a:solidFill>
                    <a:srgbClr val="1557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0,96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00125" y="2814638"/>
            <a:ext cx="2714625" cy="428625"/>
            <a:chOff x="0" y="0"/>
            <a:chExt cx="3619500" cy="5715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619500" cy="571500"/>
            </a:xfrm>
            <a:custGeom>
              <a:avLst/>
              <a:gdLst/>
              <a:ahLst/>
              <a:cxnLst/>
              <a:rect r="r" b="b" t="t" l="l"/>
              <a:pathLst>
                <a:path h="571500" w="3619500">
                  <a:moveTo>
                    <a:pt x="0" y="0"/>
                  </a:moveTo>
                  <a:lnTo>
                    <a:pt x="3619500" y="0"/>
                  </a:lnTo>
                  <a:lnTo>
                    <a:pt x="3619500" y="571500"/>
                  </a:lnTo>
                  <a:lnTo>
                    <a:pt x="0" y="5715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405" r="0" b="-73405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361950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25"/>
                </a:lnSpc>
              </a:pPr>
              <a:r>
                <a:rPr lang="en-US" sz="1687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Cabai merah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3857625" y="2900362"/>
            <a:ext cx="6966585" cy="271462"/>
            <a:chOff x="0" y="0"/>
            <a:chExt cx="9288780" cy="36195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288780" cy="361950"/>
            </a:xfrm>
            <a:custGeom>
              <a:avLst/>
              <a:gdLst/>
              <a:ahLst/>
              <a:cxnLst/>
              <a:rect r="r" b="b" t="t" l="l"/>
              <a:pathLst>
                <a:path h="361950" w="9288780">
                  <a:moveTo>
                    <a:pt x="0" y="0"/>
                  </a:moveTo>
                  <a:lnTo>
                    <a:pt x="9288780" y="0"/>
                  </a:lnTo>
                  <a:lnTo>
                    <a:pt x="9288780" y="361950"/>
                  </a:lnTo>
                  <a:lnTo>
                    <a:pt x="0" y="361950"/>
                  </a:lnTo>
                  <a:close/>
                </a:path>
              </a:pathLst>
            </a:custGeom>
            <a:solidFill>
              <a:srgbClr val="155744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1501438" y="2786062"/>
            <a:ext cx="1000125" cy="428625"/>
            <a:chOff x="0" y="0"/>
            <a:chExt cx="1333500" cy="5715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333500" cy="571500"/>
            </a:xfrm>
            <a:custGeom>
              <a:avLst/>
              <a:gdLst/>
              <a:ahLst/>
              <a:cxnLst/>
              <a:rect r="r" b="b" t="t" l="l"/>
              <a:pathLst>
                <a:path h="571500" w="1333500">
                  <a:moveTo>
                    <a:pt x="0" y="0"/>
                  </a:moveTo>
                  <a:lnTo>
                    <a:pt x="1333500" y="0"/>
                  </a:lnTo>
                  <a:lnTo>
                    <a:pt x="1333500" y="571500"/>
                  </a:lnTo>
                  <a:lnTo>
                    <a:pt x="0" y="5715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87" t="0" r="-4987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33350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25"/>
                </a:lnSpc>
              </a:pPr>
              <a:r>
                <a:rPr lang="en-US" sz="1687" b="true">
                  <a:solidFill>
                    <a:srgbClr val="1557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0,92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00125" y="3486150"/>
            <a:ext cx="2714625" cy="428625"/>
            <a:chOff x="0" y="0"/>
            <a:chExt cx="3619500" cy="5715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619500" cy="571500"/>
            </a:xfrm>
            <a:custGeom>
              <a:avLst/>
              <a:gdLst/>
              <a:ahLst/>
              <a:cxnLst/>
              <a:rect r="r" b="b" t="t" l="l"/>
              <a:pathLst>
                <a:path h="571500" w="3619500">
                  <a:moveTo>
                    <a:pt x="0" y="0"/>
                  </a:moveTo>
                  <a:lnTo>
                    <a:pt x="3619500" y="0"/>
                  </a:lnTo>
                  <a:lnTo>
                    <a:pt x="3619500" y="571500"/>
                  </a:lnTo>
                  <a:lnTo>
                    <a:pt x="0" y="5715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405" r="0" b="-73405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361950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25"/>
                </a:lnSpc>
              </a:pPr>
              <a:r>
                <a:rPr lang="en-US" sz="1687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Bawang merah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3857625" y="3571875"/>
            <a:ext cx="6815138" cy="271462"/>
            <a:chOff x="0" y="0"/>
            <a:chExt cx="9086850" cy="36195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086850" cy="361950"/>
            </a:xfrm>
            <a:custGeom>
              <a:avLst/>
              <a:gdLst/>
              <a:ahLst/>
              <a:cxnLst/>
              <a:rect r="r" b="b" t="t" l="l"/>
              <a:pathLst>
                <a:path h="361950" w="9086850">
                  <a:moveTo>
                    <a:pt x="0" y="0"/>
                  </a:moveTo>
                  <a:lnTo>
                    <a:pt x="9086850" y="0"/>
                  </a:lnTo>
                  <a:lnTo>
                    <a:pt x="9086850" y="361950"/>
                  </a:lnTo>
                  <a:lnTo>
                    <a:pt x="0" y="361950"/>
                  </a:lnTo>
                  <a:close/>
                </a:path>
              </a:pathLst>
            </a:custGeom>
            <a:solidFill>
              <a:srgbClr val="155744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1501438" y="3457575"/>
            <a:ext cx="1000125" cy="428625"/>
            <a:chOff x="0" y="0"/>
            <a:chExt cx="1333500" cy="5715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333500" cy="571500"/>
            </a:xfrm>
            <a:custGeom>
              <a:avLst/>
              <a:gdLst/>
              <a:ahLst/>
              <a:cxnLst/>
              <a:rect r="r" b="b" t="t" l="l"/>
              <a:pathLst>
                <a:path h="571500" w="1333500">
                  <a:moveTo>
                    <a:pt x="0" y="0"/>
                  </a:moveTo>
                  <a:lnTo>
                    <a:pt x="1333500" y="0"/>
                  </a:lnTo>
                  <a:lnTo>
                    <a:pt x="1333500" y="571500"/>
                  </a:lnTo>
                  <a:lnTo>
                    <a:pt x="0" y="5715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87" t="0" r="-4987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133350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25"/>
                </a:lnSpc>
              </a:pPr>
              <a:r>
                <a:rPr lang="en-US" sz="1687" b="true">
                  <a:solidFill>
                    <a:srgbClr val="1557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0,90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000125" y="4157662"/>
            <a:ext cx="2714625" cy="428625"/>
            <a:chOff x="0" y="0"/>
            <a:chExt cx="3619500" cy="5715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619500" cy="571500"/>
            </a:xfrm>
            <a:custGeom>
              <a:avLst/>
              <a:gdLst/>
              <a:ahLst/>
              <a:cxnLst/>
              <a:rect r="r" b="b" t="t" l="l"/>
              <a:pathLst>
                <a:path h="571500" w="3619500">
                  <a:moveTo>
                    <a:pt x="0" y="0"/>
                  </a:moveTo>
                  <a:lnTo>
                    <a:pt x="3619500" y="0"/>
                  </a:lnTo>
                  <a:lnTo>
                    <a:pt x="3619500" y="571500"/>
                  </a:lnTo>
                  <a:lnTo>
                    <a:pt x="0" y="5715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405" r="0" b="-73405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361950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25"/>
                </a:lnSpc>
              </a:pPr>
              <a:r>
                <a:rPr lang="en-US" sz="1687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Ayam / bawang putih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3857625" y="4243388"/>
            <a:ext cx="6663690" cy="271462"/>
            <a:chOff x="0" y="0"/>
            <a:chExt cx="8884920" cy="36195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884920" cy="361950"/>
            </a:xfrm>
            <a:custGeom>
              <a:avLst/>
              <a:gdLst/>
              <a:ahLst/>
              <a:cxnLst/>
              <a:rect r="r" b="b" t="t" l="l"/>
              <a:pathLst>
                <a:path h="361950" w="8884920">
                  <a:moveTo>
                    <a:pt x="0" y="0"/>
                  </a:moveTo>
                  <a:lnTo>
                    <a:pt x="8884920" y="0"/>
                  </a:lnTo>
                  <a:lnTo>
                    <a:pt x="8884920" y="361950"/>
                  </a:lnTo>
                  <a:lnTo>
                    <a:pt x="0" y="361950"/>
                  </a:lnTo>
                  <a:close/>
                </a:path>
              </a:pathLst>
            </a:custGeom>
            <a:solidFill>
              <a:srgbClr val="155744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1501438" y="4129088"/>
            <a:ext cx="1000125" cy="428625"/>
            <a:chOff x="0" y="0"/>
            <a:chExt cx="1333500" cy="5715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333500" cy="571500"/>
            </a:xfrm>
            <a:custGeom>
              <a:avLst/>
              <a:gdLst/>
              <a:ahLst/>
              <a:cxnLst/>
              <a:rect r="r" b="b" t="t" l="l"/>
              <a:pathLst>
                <a:path h="571500" w="1333500">
                  <a:moveTo>
                    <a:pt x="0" y="0"/>
                  </a:moveTo>
                  <a:lnTo>
                    <a:pt x="1333500" y="0"/>
                  </a:lnTo>
                  <a:lnTo>
                    <a:pt x="1333500" y="571500"/>
                  </a:lnTo>
                  <a:lnTo>
                    <a:pt x="0" y="5715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87" t="0" r="-4987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133350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25"/>
                </a:lnSpc>
              </a:pPr>
              <a:r>
                <a:rPr lang="en-US" sz="1687" b="true">
                  <a:solidFill>
                    <a:srgbClr val="1557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0,88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000125" y="4829175"/>
            <a:ext cx="2714625" cy="428625"/>
            <a:chOff x="0" y="0"/>
            <a:chExt cx="3619500" cy="5715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619500" cy="571500"/>
            </a:xfrm>
            <a:custGeom>
              <a:avLst/>
              <a:gdLst/>
              <a:ahLst/>
              <a:cxnLst/>
              <a:rect r="r" b="b" t="t" l="l"/>
              <a:pathLst>
                <a:path h="571500" w="3619500">
                  <a:moveTo>
                    <a:pt x="0" y="0"/>
                  </a:moveTo>
                  <a:lnTo>
                    <a:pt x="3619500" y="0"/>
                  </a:lnTo>
                  <a:lnTo>
                    <a:pt x="3619500" y="571500"/>
                  </a:lnTo>
                  <a:lnTo>
                    <a:pt x="0" y="5715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405" r="0" b="-73405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361950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25"/>
                </a:lnSpc>
              </a:pPr>
              <a:r>
                <a:rPr lang="en-US" sz="1687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Telur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3857625" y="4914900"/>
            <a:ext cx="6209347" cy="271462"/>
            <a:chOff x="0" y="0"/>
            <a:chExt cx="8279130" cy="36195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279130" cy="361950"/>
            </a:xfrm>
            <a:custGeom>
              <a:avLst/>
              <a:gdLst/>
              <a:ahLst/>
              <a:cxnLst/>
              <a:rect r="r" b="b" t="t" l="l"/>
              <a:pathLst>
                <a:path h="361950" w="8279130">
                  <a:moveTo>
                    <a:pt x="0" y="0"/>
                  </a:moveTo>
                  <a:lnTo>
                    <a:pt x="8279130" y="0"/>
                  </a:lnTo>
                  <a:lnTo>
                    <a:pt x="8279130" y="361950"/>
                  </a:lnTo>
                  <a:lnTo>
                    <a:pt x="0" y="361950"/>
                  </a:lnTo>
                  <a:close/>
                </a:path>
              </a:pathLst>
            </a:custGeom>
            <a:solidFill>
              <a:srgbClr val="155744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1501438" y="4800600"/>
            <a:ext cx="1000125" cy="428625"/>
            <a:chOff x="0" y="0"/>
            <a:chExt cx="1333500" cy="5715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333500" cy="571500"/>
            </a:xfrm>
            <a:custGeom>
              <a:avLst/>
              <a:gdLst/>
              <a:ahLst/>
              <a:cxnLst/>
              <a:rect r="r" b="b" t="t" l="l"/>
              <a:pathLst>
                <a:path h="571500" w="1333500">
                  <a:moveTo>
                    <a:pt x="0" y="0"/>
                  </a:moveTo>
                  <a:lnTo>
                    <a:pt x="1333500" y="0"/>
                  </a:lnTo>
                  <a:lnTo>
                    <a:pt x="1333500" y="571500"/>
                  </a:lnTo>
                  <a:lnTo>
                    <a:pt x="0" y="5715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87" t="0" r="-4987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133350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25"/>
                </a:lnSpc>
              </a:pPr>
              <a:r>
                <a:rPr lang="en-US" sz="1687" b="true">
                  <a:solidFill>
                    <a:srgbClr val="1557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0,82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000125" y="5500688"/>
            <a:ext cx="2714625" cy="428625"/>
            <a:chOff x="0" y="0"/>
            <a:chExt cx="3619500" cy="5715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619500" cy="571500"/>
            </a:xfrm>
            <a:custGeom>
              <a:avLst/>
              <a:gdLst/>
              <a:ahLst/>
              <a:cxnLst/>
              <a:rect r="r" b="b" t="t" l="l"/>
              <a:pathLst>
                <a:path h="571500" w="3619500">
                  <a:moveTo>
                    <a:pt x="0" y="0"/>
                  </a:moveTo>
                  <a:lnTo>
                    <a:pt x="3619500" y="0"/>
                  </a:lnTo>
                  <a:lnTo>
                    <a:pt x="3619500" y="571500"/>
                  </a:lnTo>
                  <a:lnTo>
                    <a:pt x="0" y="5715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405" r="0" b="-73405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361950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25"/>
                </a:lnSpc>
              </a:pPr>
              <a:r>
                <a:rPr lang="en-US" sz="1687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Beras/Minyak Goreng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3857625" y="5586412"/>
            <a:ext cx="5679281" cy="271462"/>
            <a:chOff x="0" y="0"/>
            <a:chExt cx="7572375" cy="36195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7572375" cy="361950"/>
            </a:xfrm>
            <a:custGeom>
              <a:avLst/>
              <a:gdLst/>
              <a:ahLst/>
              <a:cxnLst/>
              <a:rect r="r" b="b" t="t" l="l"/>
              <a:pathLst>
                <a:path h="361950" w="7572375">
                  <a:moveTo>
                    <a:pt x="0" y="0"/>
                  </a:moveTo>
                  <a:lnTo>
                    <a:pt x="7572375" y="0"/>
                  </a:lnTo>
                  <a:lnTo>
                    <a:pt x="7572375" y="361950"/>
                  </a:lnTo>
                  <a:lnTo>
                    <a:pt x="0" y="361950"/>
                  </a:lnTo>
                  <a:close/>
                </a:path>
              </a:pathLst>
            </a:custGeom>
            <a:solidFill>
              <a:srgbClr val="155744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1501438" y="5472112"/>
            <a:ext cx="1000125" cy="428625"/>
            <a:chOff x="0" y="0"/>
            <a:chExt cx="1333500" cy="5715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333500" cy="571500"/>
            </a:xfrm>
            <a:custGeom>
              <a:avLst/>
              <a:gdLst/>
              <a:ahLst/>
              <a:cxnLst/>
              <a:rect r="r" b="b" t="t" l="l"/>
              <a:pathLst>
                <a:path h="571500" w="1333500">
                  <a:moveTo>
                    <a:pt x="0" y="0"/>
                  </a:moveTo>
                  <a:lnTo>
                    <a:pt x="1333500" y="0"/>
                  </a:lnTo>
                  <a:lnTo>
                    <a:pt x="1333500" y="571500"/>
                  </a:lnTo>
                  <a:lnTo>
                    <a:pt x="0" y="5715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87" t="0" r="-4987" b="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133350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25"/>
                </a:lnSpc>
              </a:pPr>
              <a:r>
                <a:rPr lang="en-US" sz="1687" b="true">
                  <a:solidFill>
                    <a:srgbClr val="1557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0,75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000125" y="6172200"/>
            <a:ext cx="2714625" cy="428625"/>
            <a:chOff x="0" y="0"/>
            <a:chExt cx="3619500" cy="5715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3619500" cy="571500"/>
            </a:xfrm>
            <a:custGeom>
              <a:avLst/>
              <a:gdLst/>
              <a:ahLst/>
              <a:cxnLst/>
              <a:rect r="r" b="b" t="t" l="l"/>
              <a:pathLst>
                <a:path h="571500" w="3619500">
                  <a:moveTo>
                    <a:pt x="0" y="0"/>
                  </a:moveTo>
                  <a:lnTo>
                    <a:pt x="3619500" y="0"/>
                  </a:lnTo>
                  <a:lnTo>
                    <a:pt x="3619500" y="571500"/>
                  </a:lnTo>
                  <a:lnTo>
                    <a:pt x="0" y="5715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405" r="0" b="-73405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361950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25"/>
                </a:lnSpc>
              </a:pPr>
              <a:r>
                <a:rPr lang="en-US" sz="1687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Gula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3857625" y="6257925"/>
            <a:ext cx="4089083" cy="271462"/>
            <a:chOff x="0" y="0"/>
            <a:chExt cx="5452110" cy="36195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5452110" cy="361950"/>
            </a:xfrm>
            <a:custGeom>
              <a:avLst/>
              <a:gdLst/>
              <a:ahLst/>
              <a:cxnLst/>
              <a:rect r="r" b="b" t="t" l="l"/>
              <a:pathLst>
                <a:path h="361950" w="5452110">
                  <a:moveTo>
                    <a:pt x="0" y="0"/>
                  </a:moveTo>
                  <a:lnTo>
                    <a:pt x="5452110" y="0"/>
                  </a:lnTo>
                  <a:lnTo>
                    <a:pt x="5452110" y="361950"/>
                  </a:lnTo>
                  <a:lnTo>
                    <a:pt x="0" y="361950"/>
                  </a:lnTo>
                  <a:close/>
                </a:path>
              </a:pathLst>
            </a:custGeom>
            <a:solidFill>
              <a:srgbClr val="D86F00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1501438" y="6143625"/>
            <a:ext cx="1000125" cy="428625"/>
            <a:chOff x="0" y="0"/>
            <a:chExt cx="1333500" cy="57150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333500" cy="571500"/>
            </a:xfrm>
            <a:custGeom>
              <a:avLst/>
              <a:gdLst/>
              <a:ahLst/>
              <a:cxnLst/>
              <a:rect r="r" b="b" t="t" l="l"/>
              <a:pathLst>
                <a:path h="571500" w="1333500">
                  <a:moveTo>
                    <a:pt x="0" y="0"/>
                  </a:moveTo>
                  <a:lnTo>
                    <a:pt x="1333500" y="0"/>
                  </a:lnTo>
                  <a:lnTo>
                    <a:pt x="1333500" y="571500"/>
                  </a:lnTo>
                  <a:lnTo>
                    <a:pt x="0" y="5715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87" t="0" r="-4987" b="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133350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25"/>
                </a:lnSpc>
              </a:pPr>
              <a:r>
                <a:rPr lang="en-US" sz="1687" b="true">
                  <a:solidFill>
                    <a:srgbClr val="D86F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0,54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000125" y="6843712"/>
            <a:ext cx="2714625" cy="428625"/>
            <a:chOff x="0" y="0"/>
            <a:chExt cx="3619500" cy="57150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3619500" cy="571500"/>
            </a:xfrm>
            <a:custGeom>
              <a:avLst/>
              <a:gdLst/>
              <a:ahLst/>
              <a:cxnLst/>
              <a:rect r="r" b="b" t="t" l="l"/>
              <a:pathLst>
                <a:path h="571500" w="3619500">
                  <a:moveTo>
                    <a:pt x="0" y="0"/>
                  </a:moveTo>
                  <a:lnTo>
                    <a:pt x="3619500" y="0"/>
                  </a:lnTo>
                  <a:lnTo>
                    <a:pt x="3619500" y="571500"/>
                  </a:lnTo>
                  <a:lnTo>
                    <a:pt x="0" y="5715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405" r="0" b="-73405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38100"/>
              <a:ext cx="361950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25"/>
                </a:lnSpc>
              </a:pPr>
              <a:r>
                <a:rPr lang="en-US" sz="1687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Daging sapi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3857625" y="6929438"/>
            <a:ext cx="3256121" cy="271462"/>
            <a:chOff x="0" y="0"/>
            <a:chExt cx="4341495" cy="36195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4341495" cy="361950"/>
            </a:xfrm>
            <a:custGeom>
              <a:avLst/>
              <a:gdLst/>
              <a:ahLst/>
              <a:cxnLst/>
              <a:rect r="r" b="b" t="t" l="l"/>
              <a:pathLst>
                <a:path h="361950" w="4341495">
                  <a:moveTo>
                    <a:pt x="0" y="0"/>
                  </a:moveTo>
                  <a:lnTo>
                    <a:pt x="4341495" y="0"/>
                  </a:lnTo>
                  <a:lnTo>
                    <a:pt x="4341495" y="361950"/>
                  </a:lnTo>
                  <a:lnTo>
                    <a:pt x="0" y="361950"/>
                  </a:lnTo>
                  <a:close/>
                </a:path>
              </a:pathLst>
            </a:custGeom>
            <a:solidFill>
              <a:srgbClr val="BE5550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11501438" y="6815138"/>
            <a:ext cx="1000125" cy="428625"/>
            <a:chOff x="0" y="0"/>
            <a:chExt cx="1333500" cy="57150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333500" cy="571500"/>
            </a:xfrm>
            <a:custGeom>
              <a:avLst/>
              <a:gdLst/>
              <a:ahLst/>
              <a:cxnLst/>
              <a:rect r="r" b="b" t="t" l="l"/>
              <a:pathLst>
                <a:path h="571500" w="1333500">
                  <a:moveTo>
                    <a:pt x="0" y="0"/>
                  </a:moveTo>
                  <a:lnTo>
                    <a:pt x="1333500" y="0"/>
                  </a:lnTo>
                  <a:lnTo>
                    <a:pt x="1333500" y="571500"/>
                  </a:lnTo>
                  <a:lnTo>
                    <a:pt x="0" y="5715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87" t="0" r="-4987" b="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133350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25"/>
                </a:lnSpc>
              </a:pPr>
              <a:r>
                <a:rPr lang="en-US" sz="1687" b="true">
                  <a:solidFill>
                    <a:srgbClr val="D86F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0,43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3065919" y="2135981"/>
            <a:ext cx="4371975" cy="4943475"/>
            <a:chOff x="0" y="0"/>
            <a:chExt cx="5829300" cy="659130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5829300" cy="6591300"/>
            </a:xfrm>
            <a:custGeom>
              <a:avLst/>
              <a:gdLst/>
              <a:ahLst/>
              <a:cxnLst/>
              <a:rect r="r" b="b" t="t" l="l"/>
              <a:pathLst>
                <a:path h="6591300" w="5829300">
                  <a:moveTo>
                    <a:pt x="0" y="0"/>
                  </a:moveTo>
                  <a:lnTo>
                    <a:pt x="5829300" y="0"/>
                  </a:lnTo>
                  <a:lnTo>
                    <a:pt x="5829300" y="6591300"/>
                  </a:lnTo>
                  <a:lnTo>
                    <a:pt x="0" y="6591300"/>
                  </a:lnTo>
                  <a:close/>
                </a:path>
              </a:pathLst>
            </a:custGeom>
            <a:solidFill>
              <a:srgbClr val="ECE9E3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79" id="79"/>
          <p:cNvGrpSpPr/>
          <p:nvPr/>
        </p:nvGrpSpPr>
        <p:grpSpPr>
          <a:xfrm rot="0">
            <a:off x="13073062" y="2143125"/>
            <a:ext cx="85725" cy="4929188"/>
            <a:chOff x="0" y="0"/>
            <a:chExt cx="114300" cy="657225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14300" cy="6572250"/>
            </a:xfrm>
            <a:custGeom>
              <a:avLst/>
              <a:gdLst/>
              <a:ahLst/>
              <a:cxnLst/>
              <a:rect r="r" b="b" t="t" l="l"/>
              <a:pathLst>
                <a:path h="6572250" w="114300">
                  <a:moveTo>
                    <a:pt x="0" y="0"/>
                  </a:moveTo>
                  <a:lnTo>
                    <a:pt x="114300" y="0"/>
                  </a:lnTo>
                  <a:lnTo>
                    <a:pt x="114300" y="6572250"/>
                  </a:lnTo>
                  <a:lnTo>
                    <a:pt x="0" y="6572250"/>
                  </a:lnTo>
                  <a:close/>
                </a:path>
              </a:pathLst>
            </a:custGeom>
            <a:solidFill>
              <a:srgbClr val="155744"/>
            </a:solid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13415962" y="2371725"/>
            <a:ext cx="3757612" cy="485775"/>
            <a:chOff x="0" y="0"/>
            <a:chExt cx="5010150" cy="64770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5010150" cy="647700"/>
            </a:xfrm>
            <a:custGeom>
              <a:avLst/>
              <a:gdLst/>
              <a:ahLst/>
              <a:cxnLst/>
              <a:rect r="r" b="b" t="t" l="l"/>
              <a:pathLst>
                <a:path h="647700" w="5010150">
                  <a:moveTo>
                    <a:pt x="0" y="0"/>
                  </a:moveTo>
                  <a:lnTo>
                    <a:pt x="5010150" y="0"/>
                  </a:lnTo>
                  <a:lnTo>
                    <a:pt x="5010150" y="647700"/>
                  </a:lnTo>
                  <a:lnTo>
                    <a:pt x="0" y="6477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722" r="0" b="-100722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57150"/>
              <a:ext cx="5010150" cy="70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35"/>
                </a:lnSpc>
              </a:pPr>
              <a:r>
                <a:rPr lang="en-US" sz="2362" b="true">
                  <a:solidFill>
                    <a:srgbClr val="1557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CARA MEMBACANYA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13415962" y="2971800"/>
            <a:ext cx="3757612" cy="3843338"/>
            <a:chOff x="0" y="0"/>
            <a:chExt cx="5010150" cy="512445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5010150" cy="5124450"/>
            </a:xfrm>
            <a:custGeom>
              <a:avLst/>
              <a:gdLst/>
              <a:ahLst/>
              <a:cxnLst/>
              <a:rect r="r" b="b" t="t" l="l"/>
              <a:pathLst>
                <a:path h="5124450" w="5010150">
                  <a:moveTo>
                    <a:pt x="0" y="0"/>
                  </a:moveTo>
                  <a:lnTo>
                    <a:pt x="5010150" y="0"/>
                  </a:lnTo>
                  <a:lnTo>
                    <a:pt x="5010150" y="5124450"/>
                  </a:lnTo>
                  <a:lnTo>
                    <a:pt x="0" y="51244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1230" t="0" r="-81230" b="0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38100"/>
              <a:ext cx="5010150" cy="5162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95"/>
                </a:lnSpc>
              </a:pPr>
              <a:r>
                <a:rPr lang="en-US" sz="1912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Korelasi dihitung dari perubahan bulanan pada 49 bulan yang berpasangan.</a:t>
              </a:r>
            </a:p>
            <a:p>
              <a:pPr algn="l">
                <a:lnSpc>
                  <a:spcPts val="2295"/>
                </a:lnSpc>
              </a:pPr>
            </a:p>
            <a:p>
              <a:pPr algn="l">
                <a:lnSpc>
                  <a:spcPts val="2295"/>
                </a:lnSpc>
              </a:pPr>
              <a:r>
                <a:rPr lang="en-US" sz="1912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Gula dan daging lebih rendah karena pasar, kualitas, waktu pencatatan, dan kebijakan yang ditangkap PIHPS dan BPS tidak sepenuhnya sama.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857250" y="8215312"/>
            <a:ext cx="16573500" cy="828675"/>
            <a:chOff x="0" y="0"/>
            <a:chExt cx="22098000" cy="110490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22098000" cy="1104900"/>
            </a:xfrm>
            <a:custGeom>
              <a:avLst/>
              <a:gdLst/>
              <a:ahLst/>
              <a:cxnLst/>
              <a:rect r="r" b="b" t="t" l="l"/>
              <a:pathLst>
                <a:path h="110490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1104900"/>
                  </a:lnTo>
                  <a:lnTo>
                    <a:pt x="0" y="1104900"/>
                  </a:lnTo>
                  <a:close/>
                </a:path>
              </a:pathLst>
            </a:custGeom>
            <a:solidFill>
              <a:srgbClr val="155744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1171575" y="8315325"/>
            <a:ext cx="15944850" cy="614362"/>
            <a:chOff x="0" y="0"/>
            <a:chExt cx="21259800" cy="81915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21259800" cy="819150"/>
            </a:xfrm>
            <a:custGeom>
              <a:avLst/>
              <a:gdLst/>
              <a:ahLst/>
              <a:cxnLst/>
              <a:rect r="r" b="b" t="t" l="l"/>
              <a:pathLst>
                <a:path h="819150" w="21259800">
                  <a:moveTo>
                    <a:pt x="0" y="0"/>
                  </a:moveTo>
                  <a:lnTo>
                    <a:pt x="21259800" y="0"/>
                  </a:lnTo>
                  <a:lnTo>
                    <a:pt x="21259800" y="819150"/>
                  </a:lnTo>
                  <a:lnTo>
                    <a:pt x="0" y="8191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5704" r="0" b="-455704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21259800" cy="857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65"/>
                </a:lnSpc>
              </a:pPr>
              <a:r>
                <a:rPr lang="en-US" sz="2137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Kesimpulan: PIHPS berguna sebagai proksi, tetapi tidak menggantikan inflasi resmi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571500"/>
            <a:chOff x="0" y="0"/>
            <a:chExt cx="24384000" cy="762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762000"/>
            </a:xfrm>
            <a:custGeom>
              <a:avLst/>
              <a:gdLst/>
              <a:ahLst/>
              <a:cxnLst/>
              <a:rect r="r" b="b" t="t" l="l"/>
              <a:pathLst>
                <a:path h="762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15574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100012"/>
            <a:ext cx="16573500" cy="357188"/>
            <a:chOff x="0" y="0"/>
            <a:chExt cx="22098000" cy="4762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098000" cy="476250"/>
            </a:xfrm>
            <a:custGeom>
              <a:avLst/>
              <a:gdLst/>
              <a:ahLst/>
              <a:cxnLst/>
              <a:rect r="r" b="b" t="t" l="l"/>
              <a:pathLst>
                <a:path h="47625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476250"/>
                  </a:lnTo>
                  <a:lnTo>
                    <a:pt x="0" y="476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4105" r="0" b="-85410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2098000" cy="504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755"/>
                </a:lnSpc>
              </a:pPr>
              <a:r>
                <a:rPr lang="en-US" sz="1462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PEKERJAAN YANG SUDAH DILAKUKAN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57250" y="885825"/>
            <a:ext cx="16573500" cy="771525"/>
            <a:chOff x="0" y="0"/>
            <a:chExt cx="22098000" cy="10287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098000" cy="1028700"/>
            </a:xfrm>
            <a:custGeom>
              <a:avLst/>
              <a:gdLst/>
              <a:ahLst/>
              <a:cxnLst/>
              <a:rect r="r" b="b" t="t" l="l"/>
              <a:pathLst>
                <a:path h="102870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1028700"/>
                  </a:lnTo>
                  <a:lnTo>
                    <a:pt x="0" y="10287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8567" r="0" b="-368567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76200"/>
              <a:ext cx="22098000" cy="1104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sz="4050" b="true">
                  <a:solidFill>
                    <a:srgbClr val="1557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Semua fitur sudah dijaga agar tidak memakai informasi masa depan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7002125" y="9686925"/>
            <a:ext cx="500062" cy="257175"/>
            <a:chOff x="0" y="0"/>
            <a:chExt cx="666750" cy="3429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66750" cy="342900"/>
            </a:xfrm>
            <a:custGeom>
              <a:avLst/>
              <a:gdLst/>
              <a:ahLst/>
              <a:cxnLst/>
              <a:rect r="r" b="b" t="t" l="l"/>
              <a:pathLst>
                <a:path h="342900" w="666750">
                  <a:moveTo>
                    <a:pt x="0" y="0"/>
                  </a:moveTo>
                  <a:lnTo>
                    <a:pt x="666750" y="0"/>
                  </a:lnTo>
                  <a:lnTo>
                    <a:pt x="666750" y="342900"/>
                  </a:lnTo>
                  <a:lnTo>
                    <a:pt x="0" y="3429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984" t="0" r="-15984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66750" cy="361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85"/>
                </a:lnSpc>
              </a:pPr>
              <a:r>
                <a:rPr lang="en-US" sz="1237">
                  <a:solidFill>
                    <a:srgbClr val="77736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50106" y="2064544"/>
            <a:ext cx="4729162" cy="900112"/>
            <a:chOff x="0" y="0"/>
            <a:chExt cx="6305550" cy="12001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305550" cy="1200150"/>
            </a:xfrm>
            <a:custGeom>
              <a:avLst/>
              <a:gdLst/>
              <a:ahLst/>
              <a:cxnLst/>
              <a:rect r="r" b="b" t="t" l="l"/>
              <a:pathLst>
                <a:path h="1200150" w="6305550">
                  <a:moveTo>
                    <a:pt x="0" y="0"/>
                  </a:moveTo>
                  <a:lnTo>
                    <a:pt x="6305550" y="0"/>
                  </a:lnTo>
                  <a:lnTo>
                    <a:pt x="6305550" y="1200150"/>
                  </a:lnTo>
                  <a:lnTo>
                    <a:pt x="0" y="1200150"/>
                  </a:lnTo>
                  <a:close/>
                </a:path>
              </a:pathLst>
            </a:custGeom>
            <a:solidFill>
              <a:srgbClr val="155744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971550" y="2128838"/>
            <a:ext cx="4486275" cy="771525"/>
            <a:chOff x="0" y="0"/>
            <a:chExt cx="5981700" cy="10287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981700" cy="1028700"/>
            </a:xfrm>
            <a:custGeom>
              <a:avLst/>
              <a:gdLst/>
              <a:ahLst/>
              <a:cxnLst/>
              <a:rect r="r" b="b" t="t" l="l"/>
              <a:pathLst>
                <a:path h="1028700" w="5981700">
                  <a:moveTo>
                    <a:pt x="0" y="0"/>
                  </a:moveTo>
                  <a:lnTo>
                    <a:pt x="5981700" y="0"/>
                  </a:lnTo>
                  <a:lnTo>
                    <a:pt x="5981700" y="1028700"/>
                  </a:lnTo>
                  <a:lnTo>
                    <a:pt x="0" y="10287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301" r="0" b="-63301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5981700" cy="1066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Kelompok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564981" y="2064544"/>
            <a:ext cx="5586412" cy="900112"/>
            <a:chOff x="0" y="0"/>
            <a:chExt cx="7448550" cy="12001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448550" cy="1200150"/>
            </a:xfrm>
            <a:custGeom>
              <a:avLst/>
              <a:gdLst/>
              <a:ahLst/>
              <a:cxnLst/>
              <a:rect r="r" b="b" t="t" l="l"/>
              <a:pathLst>
                <a:path h="1200150" w="7448550">
                  <a:moveTo>
                    <a:pt x="0" y="0"/>
                  </a:moveTo>
                  <a:lnTo>
                    <a:pt x="7448550" y="0"/>
                  </a:lnTo>
                  <a:lnTo>
                    <a:pt x="7448550" y="1200150"/>
                  </a:lnTo>
                  <a:lnTo>
                    <a:pt x="0" y="1200150"/>
                  </a:lnTo>
                  <a:close/>
                </a:path>
              </a:pathLst>
            </a:custGeom>
            <a:solidFill>
              <a:srgbClr val="155744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5686425" y="2128838"/>
            <a:ext cx="5343525" cy="771525"/>
            <a:chOff x="0" y="0"/>
            <a:chExt cx="7124700" cy="10287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124700" cy="1028700"/>
            </a:xfrm>
            <a:custGeom>
              <a:avLst/>
              <a:gdLst/>
              <a:ahLst/>
              <a:cxnLst/>
              <a:rect r="r" b="b" t="t" l="l"/>
              <a:pathLst>
                <a:path h="1028700" w="7124700">
                  <a:moveTo>
                    <a:pt x="0" y="0"/>
                  </a:moveTo>
                  <a:lnTo>
                    <a:pt x="7124700" y="0"/>
                  </a:lnTo>
                  <a:lnTo>
                    <a:pt x="7124700" y="1028700"/>
                  </a:lnTo>
                  <a:lnTo>
                    <a:pt x="0" y="10287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951" r="0" b="-8495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7124700" cy="1066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Fitur yang digunakan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137106" y="2064544"/>
            <a:ext cx="6300788" cy="900112"/>
            <a:chOff x="0" y="0"/>
            <a:chExt cx="8401050" cy="12001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401050" cy="1200150"/>
            </a:xfrm>
            <a:custGeom>
              <a:avLst/>
              <a:gdLst/>
              <a:ahLst/>
              <a:cxnLst/>
              <a:rect r="r" b="b" t="t" l="l"/>
              <a:pathLst>
                <a:path h="1200150" w="8401050">
                  <a:moveTo>
                    <a:pt x="0" y="0"/>
                  </a:moveTo>
                  <a:lnTo>
                    <a:pt x="8401050" y="0"/>
                  </a:lnTo>
                  <a:lnTo>
                    <a:pt x="8401050" y="1200150"/>
                  </a:lnTo>
                  <a:lnTo>
                    <a:pt x="0" y="1200150"/>
                  </a:lnTo>
                  <a:close/>
                </a:path>
              </a:pathLst>
            </a:custGeom>
            <a:solidFill>
              <a:srgbClr val="155744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1258550" y="2128838"/>
            <a:ext cx="6057900" cy="771525"/>
            <a:chOff x="0" y="0"/>
            <a:chExt cx="8077200" cy="10287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077200" cy="1028700"/>
            </a:xfrm>
            <a:custGeom>
              <a:avLst/>
              <a:gdLst/>
              <a:ahLst/>
              <a:cxnLst/>
              <a:rect r="r" b="b" t="t" l="l"/>
              <a:pathLst>
                <a:path h="1028700" w="8077200">
                  <a:moveTo>
                    <a:pt x="0" y="0"/>
                  </a:moveTo>
                  <a:lnTo>
                    <a:pt x="8077200" y="0"/>
                  </a:lnTo>
                  <a:lnTo>
                    <a:pt x="8077200" y="1028700"/>
                  </a:lnTo>
                  <a:lnTo>
                    <a:pt x="0" y="10287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2993" r="0" b="-102993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8077200" cy="1066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Kapan informasinya tersedia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850106" y="2950369"/>
            <a:ext cx="4729162" cy="900112"/>
            <a:chOff x="0" y="0"/>
            <a:chExt cx="6305550" cy="120015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305550" cy="1200150"/>
            </a:xfrm>
            <a:custGeom>
              <a:avLst/>
              <a:gdLst/>
              <a:ahLst/>
              <a:cxnLst/>
              <a:rect r="r" b="b" t="t" l="l"/>
              <a:pathLst>
                <a:path h="1200150" w="6305550">
                  <a:moveTo>
                    <a:pt x="0" y="0"/>
                  </a:moveTo>
                  <a:lnTo>
                    <a:pt x="6305550" y="0"/>
                  </a:lnTo>
                  <a:lnTo>
                    <a:pt x="6305550" y="1200150"/>
                  </a:lnTo>
                  <a:lnTo>
                    <a:pt x="0" y="1200150"/>
                  </a:lnTo>
                  <a:close/>
                </a:path>
              </a:pathLst>
            </a:custGeom>
            <a:solidFill>
              <a:srgbClr val="F7F5F0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971550" y="3014662"/>
            <a:ext cx="4486275" cy="771525"/>
            <a:chOff x="0" y="0"/>
            <a:chExt cx="5981700" cy="10287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981700" cy="1028700"/>
            </a:xfrm>
            <a:custGeom>
              <a:avLst/>
              <a:gdLst/>
              <a:ahLst/>
              <a:cxnLst/>
              <a:rect r="r" b="b" t="t" l="l"/>
              <a:pathLst>
                <a:path h="1028700" w="5981700">
                  <a:moveTo>
                    <a:pt x="0" y="0"/>
                  </a:moveTo>
                  <a:lnTo>
                    <a:pt x="5981700" y="0"/>
                  </a:lnTo>
                  <a:lnTo>
                    <a:pt x="5981700" y="1028700"/>
                  </a:lnTo>
                  <a:lnTo>
                    <a:pt x="0" y="10287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301" r="0" b="-63301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5981700" cy="1066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Lag Target 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5564981" y="2950369"/>
            <a:ext cx="5586412" cy="900112"/>
            <a:chOff x="0" y="0"/>
            <a:chExt cx="7448550" cy="120015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448550" cy="1200150"/>
            </a:xfrm>
            <a:custGeom>
              <a:avLst/>
              <a:gdLst/>
              <a:ahLst/>
              <a:cxnLst/>
              <a:rect r="r" b="b" t="t" l="l"/>
              <a:pathLst>
                <a:path h="1200150" w="7448550">
                  <a:moveTo>
                    <a:pt x="0" y="0"/>
                  </a:moveTo>
                  <a:lnTo>
                    <a:pt x="7448550" y="0"/>
                  </a:lnTo>
                  <a:lnTo>
                    <a:pt x="7448550" y="1200150"/>
                  </a:lnTo>
                  <a:lnTo>
                    <a:pt x="0" y="1200150"/>
                  </a:lnTo>
                  <a:close/>
                </a:path>
              </a:pathLst>
            </a:custGeom>
            <a:solidFill>
              <a:srgbClr val="F7F5F0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5686425" y="3014662"/>
            <a:ext cx="5343525" cy="771525"/>
            <a:chOff x="0" y="0"/>
            <a:chExt cx="7124700" cy="10287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124700" cy="1028700"/>
            </a:xfrm>
            <a:custGeom>
              <a:avLst/>
              <a:gdLst/>
              <a:ahLst/>
              <a:cxnLst/>
              <a:rect r="r" b="b" t="t" l="l"/>
              <a:pathLst>
                <a:path h="1028700" w="7124700">
                  <a:moveTo>
                    <a:pt x="0" y="0"/>
                  </a:moveTo>
                  <a:lnTo>
                    <a:pt x="7124700" y="0"/>
                  </a:lnTo>
                  <a:lnTo>
                    <a:pt x="7124700" y="1028700"/>
                  </a:lnTo>
                  <a:lnTo>
                    <a:pt x="0" y="10287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951" r="0" b="-84951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7124700" cy="1066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target L1 dan L2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1137106" y="2950369"/>
            <a:ext cx="6300788" cy="900112"/>
            <a:chOff x="0" y="0"/>
            <a:chExt cx="8401050" cy="120015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401050" cy="1200150"/>
            </a:xfrm>
            <a:custGeom>
              <a:avLst/>
              <a:gdLst/>
              <a:ahLst/>
              <a:cxnLst/>
              <a:rect r="r" b="b" t="t" l="l"/>
              <a:pathLst>
                <a:path h="1200150" w="8401050">
                  <a:moveTo>
                    <a:pt x="0" y="0"/>
                  </a:moveTo>
                  <a:lnTo>
                    <a:pt x="8401050" y="0"/>
                  </a:lnTo>
                  <a:lnTo>
                    <a:pt x="8401050" y="1200150"/>
                  </a:lnTo>
                  <a:lnTo>
                    <a:pt x="0" y="1200150"/>
                  </a:lnTo>
                  <a:close/>
                </a:path>
              </a:pathLst>
            </a:custGeom>
            <a:solidFill>
              <a:srgbClr val="F7F5F0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1258550" y="3014662"/>
            <a:ext cx="6057900" cy="771525"/>
            <a:chOff x="0" y="0"/>
            <a:chExt cx="8077200" cy="10287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077200" cy="1028700"/>
            </a:xfrm>
            <a:custGeom>
              <a:avLst/>
              <a:gdLst/>
              <a:ahLst/>
              <a:cxnLst/>
              <a:rect r="r" b="b" t="t" l="l"/>
              <a:pathLst>
                <a:path h="1028700" w="8077200">
                  <a:moveTo>
                    <a:pt x="0" y="0"/>
                  </a:moveTo>
                  <a:lnTo>
                    <a:pt x="8077200" y="0"/>
                  </a:lnTo>
                  <a:lnTo>
                    <a:pt x="8077200" y="1028700"/>
                  </a:lnTo>
                  <a:lnTo>
                    <a:pt x="0" y="10287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2993" r="0" b="-102993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8077200" cy="1066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14 dan 28 hari sebelumnya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850106" y="3836194"/>
            <a:ext cx="4729162" cy="900112"/>
            <a:chOff x="0" y="0"/>
            <a:chExt cx="6305550" cy="120015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305550" cy="1200150"/>
            </a:xfrm>
            <a:custGeom>
              <a:avLst/>
              <a:gdLst/>
              <a:ahLst/>
              <a:cxnLst/>
              <a:rect r="r" b="b" t="t" l="l"/>
              <a:pathLst>
                <a:path h="1200150" w="6305550">
                  <a:moveTo>
                    <a:pt x="0" y="0"/>
                  </a:moveTo>
                  <a:lnTo>
                    <a:pt x="6305550" y="0"/>
                  </a:lnTo>
                  <a:lnTo>
                    <a:pt x="6305550" y="1200150"/>
                  </a:lnTo>
                  <a:lnTo>
                    <a:pt x="0" y="1200150"/>
                  </a:lnTo>
                  <a:close/>
                </a:path>
              </a:pathLst>
            </a:custGeom>
            <a:solidFill>
              <a:srgbClr val="ECE9E3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971550" y="3900488"/>
            <a:ext cx="4486275" cy="771525"/>
            <a:chOff x="0" y="0"/>
            <a:chExt cx="5981700" cy="10287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981700" cy="1028700"/>
            </a:xfrm>
            <a:custGeom>
              <a:avLst/>
              <a:gdLst/>
              <a:ahLst/>
              <a:cxnLst/>
              <a:rect r="r" b="b" t="t" l="l"/>
              <a:pathLst>
                <a:path h="1028700" w="5981700">
                  <a:moveTo>
                    <a:pt x="0" y="0"/>
                  </a:moveTo>
                  <a:lnTo>
                    <a:pt x="5981700" y="0"/>
                  </a:lnTo>
                  <a:lnTo>
                    <a:pt x="5981700" y="1028700"/>
                  </a:lnTo>
                  <a:lnTo>
                    <a:pt x="0" y="10287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301" r="0" b="-63301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5981700" cy="1066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Berita Type A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5564981" y="3836194"/>
            <a:ext cx="5586412" cy="900112"/>
            <a:chOff x="0" y="0"/>
            <a:chExt cx="7448550" cy="120015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7448550" cy="1200150"/>
            </a:xfrm>
            <a:custGeom>
              <a:avLst/>
              <a:gdLst/>
              <a:ahLst/>
              <a:cxnLst/>
              <a:rect r="r" b="b" t="t" l="l"/>
              <a:pathLst>
                <a:path h="1200150" w="7448550">
                  <a:moveTo>
                    <a:pt x="0" y="0"/>
                  </a:moveTo>
                  <a:lnTo>
                    <a:pt x="7448550" y="0"/>
                  </a:lnTo>
                  <a:lnTo>
                    <a:pt x="7448550" y="1200150"/>
                  </a:lnTo>
                  <a:lnTo>
                    <a:pt x="0" y="1200150"/>
                  </a:lnTo>
                  <a:close/>
                </a:path>
              </a:pathLst>
            </a:custGeom>
            <a:solidFill>
              <a:srgbClr val="ECE9E3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5686425" y="3900488"/>
            <a:ext cx="5343525" cy="771525"/>
            <a:chOff x="0" y="0"/>
            <a:chExt cx="7124700" cy="10287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124700" cy="1028700"/>
            </a:xfrm>
            <a:custGeom>
              <a:avLst/>
              <a:gdLst/>
              <a:ahLst/>
              <a:cxnLst/>
              <a:rect r="r" b="b" t="t" l="l"/>
              <a:pathLst>
                <a:path h="1028700" w="7124700">
                  <a:moveTo>
                    <a:pt x="0" y="0"/>
                  </a:moveTo>
                  <a:lnTo>
                    <a:pt x="7124700" y="0"/>
                  </a:lnTo>
                  <a:lnTo>
                    <a:pt x="7124700" y="1028700"/>
                  </a:lnTo>
                  <a:lnTo>
                    <a:pt x="0" y="10287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951" r="0" b="-84951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7124700" cy="1066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sentiment L1 dan L2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1137106" y="3836194"/>
            <a:ext cx="6300788" cy="900112"/>
            <a:chOff x="0" y="0"/>
            <a:chExt cx="8401050" cy="120015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8401050" cy="1200150"/>
            </a:xfrm>
            <a:custGeom>
              <a:avLst/>
              <a:gdLst/>
              <a:ahLst/>
              <a:cxnLst/>
              <a:rect r="r" b="b" t="t" l="l"/>
              <a:pathLst>
                <a:path h="1200150" w="8401050">
                  <a:moveTo>
                    <a:pt x="0" y="0"/>
                  </a:moveTo>
                  <a:lnTo>
                    <a:pt x="8401050" y="0"/>
                  </a:lnTo>
                  <a:lnTo>
                    <a:pt x="8401050" y="1200150"/>
                  </a:lnTo>
                  <a:lnTo>
                    <a:pt x="0" y="1200150"/>
                  </a:lnTo>
                  <a:close/>
                </a:path>
              </a:pathLst>
            </a:custGeom>
            <a:solidFill>
              <a:srgbClr val="ECE9E3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11258550" y="3900488"/>
            <a:ext cx="6057900" cy="771525"/>
            <a:chOff x="0" y="0"/>
            <a:chExt cx="8077200" cy="10287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8077200" cy="1028700"/>
            </a:xfrm>
            <a:custGeom>
              <a:avLst/>
              <a:gdLst/>
              <a:ahLst/>
              <a:cxnLst/>
              <a:rect r="r" b="b" t="t" l="l"/>
              <a:pathLst>
                <a:path h="1028700" w="8077200">
                  <a:moveTo>
                    <a:pt x="0" y="0"/>
                  </a:moveTo>
                  <a:lnTo>
                    <a:pt x="8077200" y="0"/>
                  </a:lnTo>
                  <a:lnTo>
                    <a:pt x="8077200" y="1028700"/>
                  </a:lnTo>
                  <a:lnTo>
                    <a:pt x="0" y="10287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2993" r="0" b="-102993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8077200" cy="1066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14 dan 28 hari sebelumnya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850106" y="4722019"/>
            <a:ext cx="4729162" cy="900112"/>
            <a:chOff x="0" y="0"/>
            <a:chExt cx="6305550" cy="120015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305550" cy="1200150"/>
            </a:xfrm>
            <a:custGeom>
              <a:avLst/>
              <a:gdLst/>
              <a:ahLst/>
              <a:cxnLst/>
              <a:rect r="r" b="b" t="t" l="l"/>
              <a:pathLst>
                <a:path h="1200150" w="6305550">
                  <a:moveTo>
                    <a:pt x="0" y="0"/>
                  </a:moveTo>
                  <a:lnTo>
                    <a:pt x="6305550" y="0"/>
                  </a:lnTo>
                  <a:lnTo>
                    <a:pt x="6305550" y="1200150"/>
                  </a:lnTo>
                  <a:lnTo>
                    <a:pt x="0" y="1200150"/>
                  </a:lnTo>
                  <a:close/>
                </a:path>
              </a:pathLst>
            </a:custGeom>
            <a:solidFill>
              <a:srgbClr val="F7F5F0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971550" y="4786312"/>
            <a:ext cx="4486275" cy="771525"/>
            <a:chOff x="0" y="0"/>
            <a:chExt cx="5981700" cy="10287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981700" cy="1028700"/>
            </a:xfrm>
            <a:custGeom>
              <a:avLst/>
              <a:gdLst/>
              <a:ahLst/>
              <a:cxnLst/>
              <a:rect r="r" b="b" t="t" l="l"/>
              <a:pathLst>
                <a:path h="1028700" w="5981700">
                  <a:moveTo>
                    <a:pt x="0" y="0"/>
                  </a:moveTo>
                  <a:lnTo>
                    <a:pt x="5981700" y="0"/>
                  </a:lnTo>
                  <a:lnTo>
                    <a:pt x="5981700" y="1028700"/>
                  </a:lnTo>
                  <a:lnTo>
                    <a:pt x="0" y="10287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301" r="0" b="-63301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5981700" cy="1066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Hujan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5564981" y="4722019"/>
            <a:ext cx="5586412" cy="900112"/>
            <a:chOff x="0" y="0"/>
            <a:chExt cx="7448550" cy="120015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7448550" cy="1200150"/>
            </a:xfrm>
            <a:custGeom>
              <a:avLst/>
              <a:gdLst/>
              <a:ahLst/>
              <a:cxnLst/>
              <a:rect r="r" b="b" t="t" l="l"/>
              <a:pathLst>
                <a:path h="1200150" w="7448550">
                  <a:moveTo>
                    <a:pt x="0" y="0"/>
                  </a:moveTo>
                  <a:lnTo>
                    <a:pt x="7448550" y="0"/>
                  </a:lnTo>
                  <a:lnTo>
                    <a:pt x="7448550" y="1200150"/>
                  </a:lnTo>
                  <a:lnTo>
                    <a:pt x="0" y="1200150"/>
                  </a:lnTo>
                  <a:close/>
                </a:path>
              </a:pathLst>
            </a:custGeom>
            <a:solidFill>
              <a:srgbClr val="F7F5F0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65" id="65"/>
          <p:cNvGrpSpPr/>
          <p:nvPr/>
        </p:nvGrpSpPr>
        <p:grpSpPr>
          <a:xfrm rot="0">
            <a:off x="5686425" y="4786312"/>
            <a:ext cx="5343525" cy="771525"/>
            <a:chOff x="0" y="0"/>
            <a:chExt cx="7124700" cy="10287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7124700" cy="1028700"/>
            </a:xfrm>
            <a:custGeom>
              <a:avLst/>
              <a:gdLst/>
              <a:ahLst/>
              <a:cxnLst/>
              <a:rect r="r" b="b" t="t" l="l"/>
              <a:pathLst>
                <a:path h="1028700" w="7124700">
                  <a:moveTo>
                    <a:pt x="0" y="0"/>
                  </a:moveTo>
                  <a:lnTo>
                    <a:pt x="7124700" y="0"/>
                  </a:lnTo>
                  <a:lnTo>
                    <a:pt x="7124700" y="1028700"/>
                  </a:lnTo>
                  <a:lnTo>
                    <a:pt x="0" y="10287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951" r="0" b="-84951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7124700" cy="1066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rain L1–L3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1137106" y="4722019"/>
            <a:ext cx="6300788" cy="900112"/>
            <a:chOff x="0" y="0"/>
            <a:chExt cx="8401050" cy="120015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8401050" cy="1200150"/>
            </a:xfrm>
            <a:custGeom>
              <a:avLst/>
              <a:gdLst/>
              <a:ahLst/>
              <a:cxnLst/>
              <a:rect r="r" b="b" t="t" l="l"/>
              <a:pathLst>
                <a:path h="1200150" w="8401050">
                  <a:moveTo>
                    <a:pt x="0" y="0"/>
                  </a:moveTo>
                  <a:lnTo>
                    <a:pt x="8401050" y="0"/>
                  </a:lnTo>
                  <a:lnTo>
                    <a:pt x="8401050" y="1200150"/>
                  </a:lnTo>
                  <a:lnTo>
                    <a:pt x="0" y="1200150"/>
                  </a:lnTo>
                  <a:close/>
                </a:path>
              </a:pathLst>
            </a:custGeom>
            <a:solidFill>
              <a:srgbClr val="F7F5F0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70" id="70"/>
          <p:cNvGrpSpPr/>
          <p:nvPr/>
        </p:nvGrpSpPr>
        <p:grpSpPr>
          <a:xfrm rot="0">
            <a:off x="11258550" y="4786312"/>
            <a:ext cx="6057900" cy="771525"/>
            <a:chOff x="0" y="0"/>
            <a:chExt cx="8077200" cy="102870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8077200" cy="1028700"/>
            </a:xfrm>
            <a:custGeom>
              <a:avLst/>
              <a:gdLst/>
              <a:ahLst/>
              <a:cxnLst/>
              <a:rect r="r" b="b" t="t" l="l"/>
              <a:pathLst>
                <a:path h="1028700" w="8077200">
                  <a:moveTo>
                    <a:pt x="0" y="0"/>
                  </a:moveTo>
                  <a:lnTo>
                    <a:pt x="8077200" y="0"/>
                  </a:lnTo>
                  <a:lnTo>
                    <a:pt x="8077200" y="1028700"/>
                  </a:lnTo>
                  <a:lnTo>
                    <a:pt x="0" y="10287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2993" r="0" b="-102993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8077200" cy="1066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 sampai 6 minggu sebelumnya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850106" y="5607844"/>
            <a:ext cx="4729162" cy="900112"/>
            <a:chOff x="0" y="0"/>
            <a:chExt cx="6305550" cy="120015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6305550" cy="1200150"/>
            </a:xfrm>
            <a:custGeom>
              <a:avLst/>
              <a:gdLst/>
              <a:ahLst/>
              <a:cxnLst/>
              <a:rect r="r" b="b" t="t" l="l"/>
              <a:pathLst>
                <a:path h="1200150" w="6305550">
                  <a:moveTo>
                    <a:pt x="0" y="0"/>
                  </a:moveTo>
                  <a:lnTo>
                    <a:pt x="6305550" y="0"/>
                  </a:lnTo>
                  <a:lnTo>
                    <a:pt x="6305550" y="1200150"/>
                  </a:lnTo>
                  <a:lnTo>
                    <a:pt x="0" y="1200150"/>
                  </a:lnTo>
                  <a:close/>
                </a:path>
              </a:pathLst>
            </a:custGeom>
            <a:solidFill>
              <a:srgbClr val="ECE9E3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75" id="75"/>
          <p:cNvGrpSpPr/>
          <p:nvPr/>
        </p:nvGrpSpPr>
        <p:grpSpPr>
          <a:xfrm rot="0">
            <a:off x="971550" y="5672138"/>
            <a:ext cx="4486275" cy="771525"/>
            <a:chOff x="0" y="0"/>
            <a:chExt cx="5981700" cy="102870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5981700" cy="1028700"/>
            </a:xfrm>
            <a:custGeom>
              <a:avLst/>
              <a:gdLst/>
              <a:ahLst/>
              <a:cxnLst/>
              <a:rect r="r" b="b" t="t" l="l"/>
              <a:pathLst>
                <a:path h="1028700" w="5981700">
                  <a:moveTo>
                    <a:pt x="0" y="0"/>
                  </a:moveTo>
                  <a:lnTo>
                    <a:pt x="5981700" y="0"/>
                  </a:lnTo>
                  <a:lnTo>
                    <a:pt x="5981700" y="1028700"/>
                  </a:lnTo>
                  <a:lnTo>
                    <a:pt x="0" y="10287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301" r="0" b="-63301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38100"/>
              <a:ext cx="5981700" cy="1066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Vegetasi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5564981" y="5607844"/>
            <a:ext cx="5586412" cy="900112"/>
            <a:chOff x="0" y="0"/>
            <a:chExt cx="7448550" cy="120015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7448550" cy="1200150"/>
            </a:xfrm>
            <a:custGeom>
              <a:avLst/>
              <a:gdLst/>
              <a:ahLst/>
              <a:cxnLst/>
              <a:rect r="r" b="b" t="t" l="l"/>
              <a:pathLst>
                <a:path h="1200150" w="7448550">
                  <a:moveTo>
                    <a:pt x="0" y="0"/>
                  </a:moveTo>
                  <a:lnTo>
                    <a:pt x="7448550" y="0"/>
                  </a:lnTo>
                  <a:lnTo>
                    <a:pt x="7448550" y="1200150"/>
                  </a:lnTo>
                  <a:lnTo>
                    <a:pt x="0" y="1200150"/>
                  </a:lnTo>
                  <a:close/>
                </a:path>
              </a:pathLst>
            </a:custGeom>
            <a:solidFill>
              <a:srgbClr val="ECE9E3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80" id="80"/>
          <p:cNvGrpSpPr/>
          <p:nvPr/>
        </p:nvGrpSpPr>
        <p:grpSpPr>
          <a:xfrm rot="0">
            <a:off x="5686425" y="5672138"/>
            <a:ext cx="5343525" cy="771525"/>
            <a:chOff x="0" y="0"/>
            <a:chExt cx="7124700" cy="102870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7124700" cy="1028700"/>
            </a:xfrm>
            <a:custGeom>
              <a:avLst/>
              <a:gdLst/>
              <a:ahLst/>
              <a:cxnLst/>
              <a:rect r="r" b="b" t="t" l="l"/>
              <a:pathLst>
                <a:path h="1028700" w="7124700">
                  <a:moveTo>
                    <a:pt x="0" y="0"/>
                  </a:moveTo>
                  <a:lnTo>
                    <a:pt x="7124700" y="0"/>
                  </a:lnTo>
                  <a:lnTo>
                    <a:pt x="7124700" y="1028700"/>
                  </a:lnTo>
                  <a:lnTo>
                    <a:pt x="0" y="10287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951" r="0" b="-84951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7124700" cy="1066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VHI L1–L2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1137106" y="5607844"/>
            <a:ext cx="6300788" cy="900112"/>
            <a:chOff x="0" y="0"/>
            <a:chExt cx="8401050" cy="120015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8401050" cy="1200150"/>
            </a:xfrm>
            <a:custGeom>
              <a:avLst/>
              <a:gdLst/>
              <a:ahLst/>
              <a:cxnLst/>
              <a:rect r="r" b="b" t="t" l="l"/>
              <a:pathLst>
                <a:path h="1200150" w="8401050">
                  <a:moveTo>
                    <a:pt x="0" y="0"/>
                  </a:moveTo>
                  <a:lnTo>
                    <a:pt x="8401050" y="0"/>
                  </a:lnTo>
                  <a:lnTo>
                    <a:pt x="8401050" y="1200150"/>
                  </a:lnTo>
                  <a:lnTo>
                    <a:pt x="0" y="1200150"/>
                  </a:lnTo>
                  <a:close/>
                </a:path>
              </a:pathLst>
            </a:custGeom>
            <a:solidFill>
              <a:srgbClr val="ECE9E3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85" id="85"/>
          <p:cNvGrpSpPr/>
          <p:nvPr/>
        </p:nvGrpSpPr>
        <p:grpSpPr>
          <a:xfrm rot="0">
            <a:off x="11258550" y="5672138"/>
            <a:ext cx="6057900" cy="771525"/>
            <a:chOff x="0" y="0"/>
            <a:chExt cx="8077200" cy="102870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8077200" cy="1028700"/>
            </a:xfrm>
            <a:custGeom>
              <a:avLst/>
              <a:gdLst/>
              <a:ahLst/>
              <a:cxnLst/>
              <a:rect r="r" b="b" t="t" l="l"/>
              <a:pathLst>
                <a:path h="1028700" w="8077200">
                  <a:moveTo>
                    <a:pt x="0" y="0"/>
                  </a:moveTo>
                  <a:lnTo>
                    <a:pt x="8077200" y="0"/>
                  </a:lnTo>
                  <a:lnTo>
                    <a:pt x="8077200" y="1028700"/>
                  </a:lnTo>
                  <a:lnTo>
                    <a:pt x="0" y="10287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2993" r="0" b="-102993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38100"/>
              <a:ext cx="8077200" cy="1066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 sampai 4 minggu sebelumnya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850106" y="6493669"/>
            <a:ext cx="4729162" cy="900112"/>
            <a:chOff x="0" y="0"/>
            <a:chExt cx="6305550" cy="120015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6305550" cy="1200150"/>
            </a:xfrm>
            <a:custGeom>
              <a:avLst/>
              <a:gdLst/>
              <a:ahLst/>
              <a:cxnLst/>
              <a:rect r="r" b="b" t="t" l="l"/>
              <a:pathLst>
                <a:path h="1200150" w="6305550">
                  <a:moveTo>
                    <a:pt x="0" y="0"/>
                  </a:moveTo>
                  <a:lnTo>
                    <a:pt x="6305550" y="0"/>
                  </a:lnTo>
                  <a:lnTo>
                    <a:pt x="6305550" y="1200150"/>
                  </a:lnTo>
                  <a:lnTo>
                    <a:pt x="0" y="1200150"/>
                  </a:lnTo>
                  <a:close/>
                </a:path>
              </a:pathLst>
            </a:custGeom>
            <a:solidFill>
              <a:srgbClr val="F7F5F0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90" id="90"/>
          <p:cNvGrpSpPr/>
          <p:nvPr/>
        </p:nvGrpSpPr>
        <p:grpSpPr>
          <a:xfrm rot="0">
            <a:off x="971550" y="6557962"/>
            <a:ext cx="4486275" cy="771525"/>
            <a:chOff x="0" y="0"/>
            <a:chExt cx="5981700" cy="102870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5981700" cy="1028700"/>
            </a:xfrm>
            <a:custGeom>
              <a:avLst/>
              <a:gdLst/>
              <a:ahLst/>
              <a:cxnLst/>
              <a:rect r="r" b="b" t="t" l="l"/>
              <a:pathLst>
                <a:path h="1028700" w="5981700">
                  <a:moveTo>
                    <a:pt x="0" y="0"/>
                  </a:moveTo>
                  <a:lnTo>
                    <a:pt x="5981700" y="0"/>
                  </a:lnTo>
                  <a:lnTo>
                    <a:pt x="5981700" y="1028700"/>
                  </a:lnTo>
                  <a:lnTo>
                    <a:pt x="0" y="10287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301" r="0" b="-63301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38100"/>
              <a:ext cx="5981700" cy="1066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Kalender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5564981" y="6493669"/>
            <a:ext cx="5586412" cy="900112"/>
            <a:chOff x="0" y="0"/>
            <a:chExt cx="7448550" cy="120015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7448550" cy="1200150"/>
            </a:xfrm>
            <a:custGeom>
              <a:avLst/>
              <a:gdLst/>
              <a:ahLst/>
              <a:cxnLst/>
              <a:rect r="r" b="b" t="t" l="l"/>
              <a:pathLst>
                <a:path h="1200150" w="7448550">
                  <a:moveTo>
                    <a:pt x="0" y="0"/>
                  </a:moveTo>
                  <a:lnTo>
                    <a:pt x="7448550" y="0"/>
                  </a:lnTo>
                  <a:lnTo>
                    <a:pt x="7448550" y="1200150"/>
                  </a:lnTo>
                  <a:lnTo>
                    <a:pt x="0" y="1200150"/>
                  </a:lnTo>
                  <a:close/>
                </a:path>
              </a:pathLst>
            </a:custGeom>
            <a:solidFill>
              <a:srgbClr val="F7F5F0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95" id="95"/>
          <p:cNvGrpSpPr/>
          <p:nvPr/>
        </p:nvGrpSpPr>
        <p:grpSpPr>
          <a:xfrm rot="0">
            <a:off x="5686425" y="6557962"/>
            <a:ext cx="5343525" cy="771525"/>
            <a:chOff x="0" y="0"/>
            <a:chExt cx="7124700" cy="102870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7124700" cy="1028700"/>
            </a:xfrm>
            <a:custGeom>
              <a:avLst/>
              <a:gdLst/>
              <a:ahLst/>
              <a:cxnLst/>
              <a:rect r="r" b="b" t="t" l="l"/>
              <a:pathLst>
                <a:path h="1028700" w="7124700">
                  <a:moveTo>
                    <a:pt x="0" y="0"/>
                  </a:moveTo>
                  <a:lnTo>
                    <a:pt x="7124700" y="0"/>
                  </a:lnTo>
                  <a:lnTo>
                    <a:pt x="7124700" y="1028700"/>
                  </a:lnTo>
                  <a:lnTo>
                    <a:pt x="0" y="10287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951" r="0" b="-84951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38100"/>
              <a:ext cx="7124700" cy="1066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Ramadan dan Nataru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11137106" y="6493669"/>
            <a:ext cx="6300788" cy="900112"/>
            <a:chOff x="0" y="0"/>
            <a:chExt cx="8401050" cy="120015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8401050" cy="1200150"/>
            </a:xfrm>
            <a:custGeom>
              <a:avLst/>
              <a:gdLst/>
              <a:ahLst/>
              <a:cxnLst/>
              <a:rect r="r" b="b" t="t" l="l"/>
              <a:pathLst>
                <a:path h="1200150" w="8401050">
                  <a:moveTo>
                    <a:pt x="0" y="0"/>
                  </a:moveTo>
                  <a:lnTo>
                    <a:pt x="8401050" y="0"/>
                  </a:lnTo>
                  <a:lnTo>
                    <a:pt x="8401050" y="1200150"/>
                  </a:lnTo>
                  <a:lnTo>
                    <a:pt x="0" y="1200150"/>
                  </a:lnTo>
                  <a:close/>
                </a:path>
              </a:pathLst>
            </a:custGeom>
            <a:solidFill>
              <a:srgbClr val="F7F5F0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100" id="100"/>
          <p:cNvGrpSpPr/>
          <p:nvPr/>
        </p:nvGrpSpPr>
        <p:grpSpPr>
          <a:xfrm rot="0">
            <a:off x="11258550" y="6557962"/>
            <a:ext cx="6057900" cy="771525"/>
            <a:chOff x="0" y="0"/>
            <a:chExt cx="8077200" cy="102870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8077200" cy="1028700"/>
            </a:xfrm>
            <a:custGeom>
              <a:avLst/>
              <a:gdLst/>
              <a:ahLst/>
              <a:cxnLst/>
              <a:rect r="r" b="b" t="t" l="l"/>
              <a:pathLst>
                <a:path h="1028700" w="8077200">
                  <a:moveTo>
                    <a:pt x="0" y="0"/>
                  </a:moveTo>
                  <a:lnTo>
                    <a:pt x="8077200" y="0"/>
                  </a:lnTo>
                  <a:lnTo>
                    <a:pt x="8077200" y="1028700"/>
                  </a:lnTo>
                  <a:lnTo>
                    <a:pt x="0" y="10287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2993" r="0" b="-102993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38100"/>
              <a:ext cx="8077200" cy="1066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Diketahui sejak awal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857250" y="7929562"/>
            <a:ext cx="16573500" cy="828675"/>
            <a:chOff x="0" y="0"/>
            <a:chExt cx="22098000" cy="1104900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22098000" cy="1104900"/>
            </a:xfrm>
            <a:custGeom>
              <a:avLst/>
              <a:gdLst/>
              <a:ahLst/>
              <a:cxnLst/>
              <a:rect r="r" b="b" t="t" l="l"/>
              <a:pathLst>
                <a:path h="110490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1104900"/>
                  </a:lnTo>
                  <a:lnTo>
                    <a:pt x="0" y="1104900"/>
                  </a:lnTo>
                  <a:close/>
                </a:path>
              </a:pathLst>
            </a:custGeom>
            <a:solidFill>
              <a:srgbClr val="D86F00"/>
            </a:solidFill>
          </p:spPr>
        </p:sp>
      </p:grpSp>
      <p:grpSp>
        <p:nvGrpSpPr>
          <p:cNvPr name="Group 105" id="105"/>
          <p:cNvGrpSpPr/>
          <p:nvPr/>
        </p:nvGrpSpPr>
        <p:grpSpPr>
          <a:xfrm rot="0">
            <a:off x="1171575" y="8029575"/>
            <a:ext cx="15944850" cy="614362"/>
            <a:chOff x="0" y="0"/>
            <a:chExt cx="21259800" cy="819150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21259800" cy="819150"/>
            </a:xfrm>
            <a:custGeom>
              <a:avLst/>
              <a:gdLst/>
              <a:ahLst/>
              <a:cxnLst/>
              <a:rect r="r" b="b" t="t" l="l"/>
              <a:pathLst>
                <a:path h="819150" w="21259800">
                  <a:moveTo>
                    <a:pt x="0" y="0"/>
                  </a:moveTo>
                  <a:lnTo>
                    <a:pt x="21259800" y="0"/>
                  </a:lnTo>
                  <a:lnTo>
                    <a:pt x="21259800" y="819150"/>
                  </a:lnTo>
                  <a:lnTo>
                    <a:pt x="0" y="8191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5704" r="0" b="-455704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38100"/>
              <a:ext cx="21259800" cy="857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65"/>
                </a:lnSpc>
              </a:pPr>
              <a:r>
                <a:rPr lang="en-US" sz="2137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Prinsipnya sederhana: model hanya boleh melihat informasi yang sudah tersedia saat ramalan dibuat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571500"/>
            <a:chOff x="0" y="0"/>
            <a:chExt cx="24384000" cy="762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762000"/>
            </a:xfrm>
            <a:custGeom>
              <a:avLst/>
              <a:gdLst/>
              <a:ahLst/>
              <a:cxnLst/>
              <a:rect r="r" b="b" t="t" l="l"/>
              <a:pathLst>
                <a:path h="762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2D755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100012"/>
            <a:ext cx="16573500" cy="357188"/>
            <a:chOff x="0" y="0"/>
            <a:chExt cx="22098000" cy="4762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098000" cy="476250"/>
            </a:xfrm>
            <a:custGeom>
              <a:avLst/>
              <a:gdLst/>
              <a:ahLst/>
              <a:cxnLst/>
              <a:rect r="r" b="b" t="t" l="l"/>
              <a:pathLst>
                <a:path h="47625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476250"/>
                  </a:lnTo>
                  <a:lnTo>
                    <a:pt x="0" y="476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4105" r="0" b="-85410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2098000" cy="504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755"/>
                </a:lnSpc>
              </a:pPr>
              <a:r>
                <a:rPr lang="en-US" sz="1462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PEKERJAAN YANG SUDAH DILAKUKAN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57250" y="885825"/>
            <a:ext cx="16573500" cy="771525"/>
            <a:chOff x="0" y="0"/>
            <a:chExt cx="22098000" cy="10287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098000" cy="1028700"/>
            </a:xfrm>
            <a:custGeom>
              <a:avLst/>
              <a:gdLst/>
              <a:ahLst/>
              <a:cxnLst/>
              <a:rect r="r" b="b" t="t" l="l"/>
              <a:pathLst>
                <a:path h="102870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1028700"/>
                  </a:lnTo>
                  <a:lnTo>
                    <a:pt x="0" y="10287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8567" r="0" b="-368567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76200"/>
              <a:ext cx="22098000" cy="1104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sz="4050" b="true">
                  <a:solidFill>
                    <a:srgbClr val="1557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Pengujian awal menemukan sinyal berita dan hujan yang layak dilanjutkan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7002125" y="9686925"/>
            <a:ext cx="500062" cy="257175"/>
            <a:chOff x="0" y="0"/>
            <a:chExt cx="666750" cy="3429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66750" cy="342900"/>
            </a:xfrm>
            <a:custGeom>
              <a:avLst/>
              <a:gdLst/>
              <a:ahLst/>
              <a:cxnLst/>
              <a:rect r="r" b="b" t="t" l="l"/>
              <a:pathLst>
                <a:path h="342900" w="666750">
                  <a:moveTo>
                    <a:pt x="0" y="0"/>
                  </a:moveTo>
                  <a:lnTo>
                    <a:pt x="666750" y="0"/>
                  </a:lnTo>
                  <a:lnTo>
                    <a:pt x="666750" y="342900"/>
                  </a:lnTo>
                  <a:lnTo>
                    <a:pt x="0" y="3429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984" t="0" r="-15984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66750" cy="361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85"/>
                </a:lnSpc>
              </a:pPr>
              <a:r>
                <a:rPr lang="en-US" sz="1237">
                  <a:solidFill>
                    <a:srgbClr val="77736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50106" y="2135981"/>
            <a:ext cx="5014912" cy="5157788"/>
            <a:chOff x="0" y="0"/>
            <a:chExt cx="6686550" cy="68770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686550" cy="6877050"/>
            </a:xfrm>
            <a:custGeom>
              <a:avLst/>
              <a:gdLst/>
              <a:ahLst/>
              <a:cxnLst/>
              <a:rect r="r" b="b" t="t" l="l"/>
              <a:pathLst>
                <a:path h="6877050" w="6686550">
                  <a:moveTo>
                    <a:pt x="0" y="0"/>
                  </a:moveTo>
                  <a:lnTo>
                    <a:pt x="6686550" y="0"/>
                  </a:lnTo>
                  <a:lnTo>
                    <a:pt x="6686550" y="6877050"/>
                  </a:lnTo>
                  <a:lnTo>
                    <a:pt x="0" y="6877050"/>
                  </a:lnTo>
                  <a:close/>
                </a:path>
              </a:pathLst>
            </a:custGeom>
            <a:solidFill>
              <a:srgbClr val="ECE9E3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857250" y="2143125"/>
            <a:ext cx="85725" cy="5143500"/>
            <a:chOff x="0" y="0"/>
            <a:chExt cx="114300" cy="6858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43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114300">
                  <a:moveTo>
                    <a:pt x="0" y="0"/>
                  </a:moveTo>
                  <a:lnTo>
                    <a:pt x="114300" y="0"/>
                  </a:lnTo>
                  <a:lnTo>
                    <a:pt x="1143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2D755C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00150" y="2971800"/>
            <a:ext cx="4400550" cy="4057650"/>
            <a:chOff x="0" y="0"/>
            <a:chExt cx="5867400" cy="5410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867400" cy="5410200"/>
            </a:xfrm>
            <a:custGeom>
              <a:avLst/>
              <a:gdLst/>
              <a:ahLst/>
              <a:cxnLst/>
              <a:rect r="r" b="b" t="t" l="l"/>
              <a:pathLst>
                <a:path h="5410200" w="5867400">
                  <a:moveTo>
                    <a:pt x="0" y="0"/>
                  </a:moveTo>
                  <a:lnTo>
                    <a:pt x="5867400" y="0"/>
                  </a:lnTo>
                  <a:lnTo>
                    <a:pt x="5867400" y="5410200"/>
                  </a:lnTo>
                  <a:lnTo>
                    <a:pt x="0" y="5410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8305" t="0" r="-68305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5867400" cy="5448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95"/>
                </a:lnSpc>
              </a:pPr>
              <a:r>
                <a:rPr lang="en-US" sz="1912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Joint test L1–L2 memberi sinyal tambahan setelah target lag dan kalender dikontrol.</a:t>
              </a:r>
            </a:p>
            <a:p>
              <a:pPr algn="l">
                <a:lnSpc>
                  <a:spcPts val="2295"/>
                </a:lnSpc>
              </a:pPr>
            </a:p>
            <a:p>
              <a:pPr algn="l">
                <a:lnSpc>
                  <a:spcPts val="2295"/>
                </a:lnSpc>
              </a:pPr>
              <a:r>
                <a:rPr lang="en-US" sz="1912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 = 0,0390</a:t>
              </a:r>
            </a:p>
            <a:p>
              <a:pPr algn="l">
                <a:lnSpc>
                  <a:spcPts val="2295"/>
                </a:lnSpc>
              </a:pPr>
              <a:r>
                <a:rPr lang="en-US" sz="1912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ΔR² = 0,0460</a:t>
              </a:r>
            </a:p>
            <a:p>
              <a:pPr algn="l">
                <a:lnSpc>
                  <a:spcPts val="2295"/>
                </a:lnSpc>
              </a:pPr>
            </a:p>
            <a:p>
              <a:pPr algn="l">
                <a:lnSpc>
                  <a:spcPts val="2295"/>
                </a:lnSpc>
              </a:pPr>
              <a:r>
                <a:rPr lang="en-US" sz="1912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Makna: terdapat temporal precedence.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636544" y="2135981"/>
            <a:ext cx="5014912" cy="5157788"/>
            <a:chOff x="0" y="0"/>
            <a:chExt cx="6686550" cy="68770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686550" cy="6877050"/>
            </a:xfrm>
            <a:custGeom>
              <a:avLst/>
              <a:gdLst/>
              <a:ahLst/>
              <a:cxnLst/>
              <a:rect r="r" b="b" t="t" l="l"/>
              <a:pathLst>
                <a:path h="6877050" w="6686550">
                  <a:moveTo>
                    <a:pt x="0" y="0"/>
                  </a:moveTo>
                  <a:lnTo>
                    <a:pt x="6686550" y="0"/>
                  </a:lnTo>
                  <a:lnTo>
                    <a:pt x="6686550" y="6877050"/>
                  </a:lnTo>
                  <a:lnTo>
                    <a:pt x="0" y="6877050"/>
                  </a:lnTo>
                  <a:close/>
                </a:path>
              </a:pathLst>
            </a:custGeom>
            <a:solidFill>
              <a:srgbClr val="ECE9E3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6643688" y="2143125"/>
            <a:ext cx="85725" cy="5143500"/>
            <a:chOff x="0" y="0"/>
            <a:chExt cx="114300" cy="6858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43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114300">
                  <a:moveTo>
                    <a:pt x="0" y="0"/>
                  </a:moveTo>
                  <a:lnTo>
                    <a:pt x="114300" y="0"/>
                  </a:lnTo>
                  <a:lnTo>
                    <a:pt x="1143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2D755C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6986588" y="2371725"/>
            <a:ext cx="4400550" cy="485775"/>
            <a:chOff x="0" y="0"/>
            <a:chExt cx="5867400" cy="6477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867400" cy="647700"/>
            </a:xfrm>
            <a:custGeom>
              <a:avLst/>
              <a:gdLst/>
              <a:ahLst/>
              <a:cxnLst/>
              <a:rect r="r" b="b" t="t" l="l"/>
              <a:pathLst>
                <a:path h="647700" w="5867400">
                  <a:moveTo>
                    <a:pt x="0" y="0"/>
                  </a:moveTo>
                  <a:lnTo>
                    <a:pt x="5867400" y="0"/>
                  </a:lnTo>
                  <a:lnTo>
                    <a:pt x="5867400" y="647700"/>
                  </a:lnTo>
                  <a:lnTo>
                    <a:pt x="0" y="6477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6511" r="0" b="-126511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5867400" cy="70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35"/>
                </a:lnSpc>
              </a:pPr>
              <a:r>
                <a:rPr lang="en-US" sz="2362" b="true">
                  <a:solidFill>
                    <a:srgbClr val="1557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PRESIPITASI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6986588" y="2971800"/>
            <a:ext cx="4400550" cy="4057650"/>
            <a:chOff x="0" y="0"/>
            <a:chExt cx="5867400" cy="54102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867400" cy="5410200"/>
            </a:xfrm>
            <a:custGeom>
              <a:avLst/>
              <a:gdLst/>
              <a:ahLst/>
              <a:cxnLst/>
              <a:rect r="r" b="b" t="t" l="l"/>
              <a:pathLst>
                <a:path h="5410200" w="5867400">
                  <a:moveTo>
                    <a:pt x="0" y="0"/>
                  </a:moveTo>
                  <a:lnTo>
                    <a:pt x="5867400" y="0"/>
                  </a:lnTo>
                  <a:lnTo>
                    <a:pt x="5867400" y="5410200"/>
                  </a:lnTo>
                  <a:lnTo>
                    <a:pt x="0" y="5410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8305" t="0" r="-68305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5867400" cy="5448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95"/>
                </a:lnSpc>
              </a:pPr>
              <a:r>
                <a:rPr lang="en-US" sz="1912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Rain L1–L3 bertahan setelah koreksi Holm.</a:t>
              </a:r>
            </a:p>
            <a:p>
              <a:pPr algn="l">
                <a:lnSpc>
                  <a:spcPts val="2295"/>
                </a:lnSpc>
              </a:pPr>
            </a:p>
            <a:p>
              <a:pPr algn="l">
                <a:lnSpc>
                  <a:spcPts val="2295"/>
                </a:lnSpc>
              </a:pPr>
              <a:r>
                <a:rPr lang="en-US" sz="1912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p-adjusted = 0,0301</a:t>
              </a:r>
            </a:p>
            <a:p>
              <a:pPr algn="l">
                <a:lnSpc>
                  <a:spcPts val="2295"/>
                </a:lnSpc>
              </a:pPr>
            </a:p>
            <a:p>
              <a:pPr algn="l">
                <a:lnSpc>
                  <a:spcPts val="2295"/>
                </a:lnSpc>
              </a:pPr>
              <a:r>
                <a:rPr lang="en-US" sz="1912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Makna: ada kandungan prediktif temporal 2–6 minggu.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2422981" y="2135981"/>
            <a:ext cx="5014912" cy="5157788"/>
            <a:chOff x="0" y="0"/>
            <a:chExt cx="6686550" cy="687705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686550" cy="6877050"/>
            </a:xfrm>
            <a:custGeom>
              <a:avLst/>
              <a:gdLst/>
              <a:ahLst/>
              <a:cxnLst/>
              <a:rect r="r" b="b" t="t" l="l"/>
              <a:pathLst>
                <a:path h="6877050" w="6686550">
                  <a:moveTo>
                    <a:pt x="0" y="0"/>
                  </a:moveTo>
                  <a:lnTo>
                    <a:pt x="6686550" y="0"/>
                  </a:lnTo>
                  <a:lnTo>
                    <a:pt x="6686550" y="6877050"/>
                  </a:lnTo>
                  <a:lnTo>
                    <a:pt x="0" y="6877050"/>
                  </a:lnTo>
                  <a:close/>
                </a:path>
              </a:pathLst>
            </a:custGeom>
            <a:solidFill>
              <a:srgbClr val="ECE9E3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2430125" y="2143125"/>
            <a:ext cx="85725" cy="5143500"/>
            <a:chOff x="0" y="0"/>
            <a:chExt cx="114300" cy="68580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143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114300">
                  <a:moveTo>
                    <a:pt x="0" y="0"/>
                  </a:moveTo>
                  <a:lnTo>
                    <a:pt x="114300" y="0"/>
                  </a:lnTo>
                  <a:lnTo>
                    <a:pt x="1143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2D755C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2773025" y="2371725"/>
            <a:ext cx="4400550" cy="485775"/>
            <a:chOff x="0" y="0"/>
            <a:chExt cx="5867400" cy="6477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867400" cy="647700"/>
            </a:xfrm>
            <a:custGeom>
              <a:avLst/>
              <a:gdLst/>
              <a:ahLst/>
              <a:cxnLst/>
              <a:rect r="r" b="b" t="t" l="l"/>
              <a:pathLst>
                <a:path h="647700" w="5867400">
                  <a:moveTo>
                    <a:pt x="0" y="0"/>
                  </a:moveTo>
                  <a:lnTo>
                    <a:pt x="5867400" y="0"/>
                  </a:lnTo>
                  <a:lnTo>
                    <a:pt x="5867400" y="647700"/>
                  </a:lnTo>
                  <a:lnTo>
                    <a:pt x="0" y="6477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6511" r="0" b="-126511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5867400" cy="70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35"/>
                </a:lnSpc>
              </a:pPr>
              <a:r>
                <a:rPr lang="en-US" sz="2362" b="true">
                  <a:solidFill>
                    <a:srgbClr val="2D75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VHI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2773025" y="2971800"/>
            <a:ext cx="4400550" cy="4057650"/>
            <a:chOff x="0" y="0"/>
            <a:chExt cx="5867400" cy="54102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867400" cy="5410200"/>
            </a:xfrm>
            <a:custGeom>
              <a:avLst/>
              <a:gdLst/>
              <a:ahLst/>
              <a:cxnLst/>
              <a:rect r="r" b="b" t="t" l="l"/>
              <a:pathLst>
                <a:path h="5410200" w="5867400">
                  <a:moveTo>
                    <a:pt x="0" y="0"/>
                  </a:moveTo>
                  <a:lnTo>
                    <a:pt x="5867400" y="0"/>
                  </a:lnTo>
                  <a:lnTo>
                    <a:pt x="5867400" y="5410200"/>
                  </a:lnTo>
                  <a:lnTo>
                    <a:pt x="0" y="5410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8305" t="0" r="-68305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5867400" cy="5448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95"/>
                </a:lnSpc>
              </a:pPr>
              <a:r>
                <a:rPr lang="en-US" sz="1912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VHI L1–L2 belum signifikan secara linear.</a:t>
              </a:r>
            </a:p>
            <a:p>
              <a:pPr algn="l">
                <a:lnSpc>
                  <a:spcPts val="2295"/>
                </a:lnSpc>
              </a:pPr>
            </a:p>
            <a:p>
              <a:pPr algn="l">
                <a:lnSpc>
                  <a:spcPts val="2295"/>
                </a:lnSpc>
              </a:pPr>
              <a:r>
                <a:rPr lang="en-US" sz="1912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 = 0,4073</a:t>
              </a:r>
            </a:p>
            <a:p>
              <a:pPr algn="l">
                <a:lnSpc>
                  <a:spcPts val="2295"/>
                </a:lnSpc>
              </a:pPr>
            </a:p>
            <a:p>
              <a:pPr algn="l">
                <a:lnSpc>
                  <a:spcPts val="2295"/>
                </a:lnSpc>
              </a:pPr>
              <a:r>
                <a:rPr lang="en-US" sz="1912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Tetap disimpan untuk ablation karena dasar teorinya masuk akal.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857250" y="8072438"/>
            <a:ext cx="16573500" cy="828675"/>
            <a:chOff x="0" y="0"/>
            <a:chExt cx="22098000" cy="11049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2098000" cy="1104900"/>
            </a:xfrm>
            <a:custGeom>
              <a:avLst/>
              <a:gdLst/>
              <a:ahLst/>
              <a:cxnLst/>
              <a:rect r="r" b="b" t="t" l="l"/>
              <a:pathLst>
                <a:path h="110490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1104900"/>
                  </a:lnTo>
                  <a:lnTo>
                    <a:pt x="0" y="1104900"/>
                  </a:lnTo>
                  <a:close/>
                </a:path>
              </a:pathLst>
            </a:custGeom>
            <a:solidFill>
              <a:srgbClr val="BE5550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171575" y="8172450"/>
            <a:ext cx="15944850" cy="614362"/>
            <a:chOff x="0" y="0"/>
            <a:chExt cx="21259800" cy="81915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1259800" cy="819150"/>
            </a:xfrm>
            <a:custGeom>
              <a:avLst/>
              <a:gdLst/>
              <a:ahLst/>
              <a:cxnLst/>
              <a:rect r="r" b="b" t="t" l="l"/>
              <a:pathLst>
                <a:path h="819150" w="21259800">
                  <a:moveTo>
                    <a:pt x="0" y="0"/>
                  </a:moveTo>
                  <a:lnTo>
                    <a:pt x="21259800" y="0"/>
                  </a:lnTo>
                  <a:lnTo>
                    <a:pt x="21259800" y="819150"/>
                  </a:lnTo>
                  <a:lnTo>
                    <a:pt x="0" y="8191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5704" r="0" b="-455704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21259800" cy="857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65"/>
                </a:lnSpc>
              </a:pPr>
              <a:r>
                <a:rPr lang="en-US" sz="2137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Hasil ini membantu memilih fitur—bukan membuktikan sebab-akibat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200150" y="2371725"/>
            <a:ext cx="4400550" cy="485775"/>
            <a:chOff x="0" y="0"/>
            <a:chExt cx="5867400" cy="6477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867400" cy="647700"/>
            </a:xfrm>
            <a:custGeom>
              <a:avLst/>
              <a:gdLst/>
              <a:ahLst/>
              <a:cxnLst/>
              <a:rect r="r" b="b" t="t" l="l"/>
              <a:pathLst>
                <a:path h="647700" w="5867400">
                  <a:moveTo>
                    <a:pt x="0" y="0"/>
                  </a:moveTo>
                  <a:lnTo>
                    <a:pt x="5867400" y="0"/>
                  </a:lnTo>
                  <a:lnTo>
                    <a:pt x="5867400" y="647700"/>
                  </a:lnTo>
                  <a:lnTo>
                    <a:pt x="0" y="6477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6511" r="0" b="-126511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57150"/>
              <a:ext cx="5867400" cy="70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35"/>
                </a:lnSpc>
              </a:pPr>
              <a:r>
                <a:rPr lang="en-US" sz="2362" b="true">
                  <a:solidFill>
                    <a:srgbClr val="1557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BERITA SENTIMEN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571500"/>
            <a:chOff x="0" y="0"/>
            <a:chExt cx="24384000" cy="762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762000"/>
            </a:xfrm>
            <a:custGeom>
              <a:avLst/>
              <a:gdLst/>
              <a:ahLst/>
              <a:cxnLst/>
              <a:rect r="r" b="b" t="t" l="l"/>
              <a:pathLst>
                <a:path h="762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15574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100012"/>
            <a:ext cx="16573500" cy="357188"/>
            <a:chOff x="0" y="0"/>
            <a:chExt cx="22098000" cy="4762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098000" cy="476250"/>
            </a:xfrm>
            <a:custGeom>
              <a:avLst/>
              <a:gdLst/>
              <a:ahLst/>
              <a:cxnLst/>
              <a:rect r="r" b="b" t="t" l="l"/>
              <a:pathLst>
                <a:path h="47625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476250"/>
                  </a:lnTo>
                  <a:lnTo>
                    <a:pt x="0" y="476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4105" r="0" b="-85410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2098000" cy="504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755"/>
                </a:lnSpc>
              </a:pPr>
              <a:r>
                <a:rPr lang="en-US" sz="1462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PEKERJAAN YANG SUDAH DILAKUKAN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57250" y="885825"/>
            <a:ext cx="16573500" cy="771525"/>
            <a:chOff x="0" y="0"/>
            <a:chExt cx="22098000" cy="10287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098000" cy="1028700"/>
            </a:xfrm>
            <a:custGeom>
              <a:avLst/>
              <a:gdLst/>
              <a:ahLst/>
              <a:cxnLst/>
              <a:rect r="r" b="b" t="t" l="l"/>
              <a:pathLst>
                <a:path h="102870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1028700"/>
                  </a:lnTo>
                  <a:lnTo>
                    <a:pt x="0" y="10287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8567" r="0" b="-368567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76200"/>
              <a:ext cx="22098000" cy="1104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sz="4050" b="true">
                  <a:solidFill>
                    <a:srgbClr val="1557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Dataset model sudah siap dan prototipe BSTS sudah dapat berjalan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7002125" y="9686925"/>
            <a:ext cx="500062" cy="257175"/>
            <a:chOff x="0" y="0"/>
            <a:chExt cx="666750" cy="3429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66750" cy="342900"/>
            </a:xfrm>
            <a:custGeom>
              <a:avLst/>
              <a:gdLst/>
              <a:ahLst/>
              <a:cxnLst/>
              <a:rect r="r" b="b" t="t" l="l"/>
              <a:pathLst>
                <a:path h="342900" w="666750">
                  <a:moveTo>
                    <a:pt x="0" y="0"/>
                  </a:moveTo>
                  <a:lnTo>
                    <a:pt x="666750" y="0"/>
                  </a:lnTo>
                  <a:lnTo>
                    <a:pt x="666750" y="342900"/>
                  </a:lnTo>
                  <a:lnTo>
                    <a:pt x="0" y="3429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984" t="0" r="-15984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66750" cy="361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85"/>
                </a:lnSpc>
              </a:pPr>
              <a:r>
                <a:rPr lang="en-US" sz="1237">
                  <a:solidFill>
                    <a:srgbClr val="77736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12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50106" y="2135981"/>
            <a:ext cx="7586662" cy="5157788"/>
            <a:chOff x="0" y="0"/>
            <a:chExt cx="10115550" cy="68770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115550" cy="6877050"/>
            </a:xfrm>
            <a:custGeom>
              <a:avLst/>
              <a:gdLst/>
              <a:ahLst/>
              <a:cxnLst/>
              <a:rect r="r" b="b" t="t" l="l"/>
              <a:pathLst>
                <a:path h="6877050" w="10115550">
                  <a:moveTo>
                    <a:pt x="0" y="0"/>
                  </a:moveTo>
                  <a:lnTo>
                    <a:pt x="10115550" y="0"/>
                  </a:lnTo>
                  <a:lnTo>
                    <a:pt x="10115550" y="6877050"/>
                  </a:lnTo>
                  <a:lnTo>
                    <a:pt x="0" y="6877050"/>
                  </a:lnTo>
                  <a:close/>
                </a:path>
              </a:pathLst>
            </a:custGeom>
            <a:solidFill>
              <a:srgbClr val="ECE9E3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857250" y="2143125"/>
            <a:ext cx="85725" cy="5143500"/>
            <a:chOff x="0" y="0"/>
            <a:chExt cx="114300" cy="6858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43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114300">
                  <a:moveTo>
                    <a:pt x="0" y="0"/>
                  </a:moveTo>
                  <a:lnTo>
                    <a:pt x="114300" y="0"/>
                  </a:lnTo>
                  <a:lnTo>
                    <a:pt x="1143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155744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00150" y="2371725"/>
            <a:ext cx="6972300" cy="485775"/>
            <a:chOff x="0" y="0"/>
            <a:chExt cx="9296400" cy="6477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296400" cy="647700"/>
            </a:xfrm>
            <a:custGeom>
              <a:avLst/>
              <a:gdLst/>
              <a:ahLst/>
              <a:cxnLst/>
              <a:rect r="r" b="b" t="t" l="l"/>
              <a:pathLst>
                <a:path h="647700" w="9296400">
                  <a:moveTo>
                    <a:pt x="0" y="0"/>
                  </a:moveTo>
                  <a:lnTo>
                    <a:pt x="9296400" y="0"/>
                  </a:lnTo>
                  <a:lnTo>
                    <a:pt x="9296400" y="647700"/>
                  </a:lnTo>
                  <a:lnTo>
                    <a:pt x="0" y="6477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9667" r="0" b="-229667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9296400" cy="70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35"/>
                </a:lnSpc>
              </a:pPr>
              <a:r>
                <a:rPr lang="en-US" sz="2362" b="true">
                  <a:solidFill>
                    <a:srgbClr val="1557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DATASET MODEL B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00150" y="2971800"/>
            <a:ext cx="6972300" cy="4057650"/>
            <a:chOff x="0" y="0"/>
            <a:chExt cx="9296400" cy="54102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296400" cy="5410200"/>
            </a:xfrm>
            <a:custGeom>
              <a:avLst/>
              <a:gdLst/>
              <a:ahLst/>
              <a:cxnLst/>
              <a:rect r="r" b="b" t="t" l="l"/>
              <a:pathLst>
                <a:path h="5410200" w="9296400">
                  <a:moveTo>
                    <a:pt x="0" y="0"/>
                  </a:moveTo>
                  <a:lnTo>
                    <a:pt x="9296400" y="0"/>
                  </a:lnTo>
                  <a:lnTo>
                    <a:pt x="9296400" y="5410200"/>
                  </a:lnTo>
                  <a:lnTo>
                    <a:pt x="0" y="5410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668" t="0" r="-24668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9296400" cy="5448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95"/>
                </a:lnSpc>
              </a:pPr>
              <a:r>
                <a:rPr lang="en-US" sz="1912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131 </a:t>
              </a:r>
              <a:r>
                <a:rPr lang="en-US" sz="1912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baris efektif </a:t>
              </a:r>
            </a:p>
            <a:p>
              <a:pPr algn="l">
                <a:lnSpc>
                  <a:spcPts val="2295"/>
                </a:lnSpc>
              </a:pPr>
              <a:r>
                <a:rPr lang="en-US" sz="1912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17 kolom</a:t>
              </a:r>
            </a:p>
            <a:p>
              <a:pPr algn="l">
                <a:lnSpc>
                  <a:spcPts val="2295"/>
                </a:lnSpc>
              </a:pPr>
            </a:p>
            <a:p>
              <a:pPr algn="l">
                <a:lnSpc>
                  <a:spcPts val="2295"/>
                </a:lnSpc>
              </a:pPr>
              <a:r>
                <a:rPr lang="en-US" sz="1912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Target, target L1–L2, berita, hujan, VHI, Ramadan, dan Nataru sudah tersedia pada satu tabel. Pada common window dengan uji Granger tersedia 130 observasi.</a:t>
              </a:r>
            </a:p>
            <a:p>
              <a:pPr algn="l">
                <a:lnSpc>
                  <a:spcPts val="2295"/>
                </a:lnSpc>
              </a:pPr>
            </a:p>
            <a:p>
              <a:pPr algn="l">
                <a:lnSpc>
                  <a:spcPts val="2295"/>
                </a:lnSpc>
              </a:pPr>
              <a:r>
                <a:rPr lang="en-US" sz="1912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Periode saat ini berakhir 19 Maret 2026.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279731" y="2135981"/>
            <a:ext cx="8158162" cy="5157788"/>
            <a:chOff x="0" y="0"/>
            <a:chExt cx="10877550" cy="68770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877550" cy="6877050"/>
            </a:xfrm>
            <a:custGeom>
              <a:avLst/>
              <a:gdLst/>
              <a:ahLst/>
              <a:cxnLst/>
              <a:rect r="r" b="b" t="t" l="l"/>
              <a:pathLst>
                <a:path h="6877050" w="10877550">
                  <a:moveTo>
                    <a:pt x="0" y="0"/>
                  </a:moveTo>
                  <a:lnTo>
                    <a:pt x="10877550" y="0"/>
                  </a:lnTo>
                  <a:lnTo>
                    <a:pt x="10877550" y="6877050"/>
                  </a:lnTo>
                  <a:lnTo>
                    <a:pt x="0" y="6877050"/>
                  </a:lnTo>
                  <a:close/>
                </a:path>
              </a:pathLst>
            </a:custGeom>
            <a:solidFill>
              <a:srgbClr val="ECE9E3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9286875" y="2143125"/>
            <a:ext cx="85725" cy="5143500"/>
            <a:chOff x="0" y="0"/>
            <a:chExt cx="114300" cy="68580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43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114300">
                  <a:moveTo>
                    <a:pt x="0" y="0"/>
                  </a:moveTo>
                  <a:lnTo>
                    <a:pt x="114300" y="0"/>
                  </a:lnTo>
                  <a:lnTo>
                    <a:pt x="1143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D86F00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629775" y="2371725"/>
            <a:ext cx="7543800" cy="485775"/>
            <a:chOff x="0" y="0"/>
            <a:chExt cx="10058400" cy="6477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058400" cy="647700"/>
            </a:xfrm>
            <a:custGeom>
              <a:avLst/>
              <a:gdLst/>
              <a:ahLst/>
              <a:cxnLst/>
              <a:rect r="r" b="b" t="t" l="l"/>
              <a:pathLst>
                <a:path h="64770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647700"/>
                  </a:lnTo>
                  <a:lnTo>
                    <a:pt x="0" y="6477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2591" r="0" b="-252591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10058400" cy="70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35"/>
                </a:lnSpc>
              </a:pPr>
              <a:r>
                <a:rPr lang="en-US" sz="2362" b="true">
                  <a:solidFill>
                    <a:srgbClr val="D86F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PROTOTIPE BSTS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629775" y="2971800"/>
            <a:ext cx="7543800" cy="4057650"/>
            <a:chOff x="0" y="0"/>
            <a:chExt cx="10058400" cy="54102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058400" cy="5410200"/>
            </a:xfrm>
            <a:custGeom>
              <a:avLst/>
              <a:gdLst/>
              <a:ahLst/>
              <a:cxnLst/>
              <a:rect r="r" b="b" t="t" l="l"/>
              <a:pathLst>
                <a:path h="541020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5410200"/>
                  </a:lnTo>
                  <a:lnTo>
                    <a:pt x="0" y="5410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011" t="0" r="-19011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10058400" cy="5448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95"/>
                </a:lnSpc>
              </a:pPr>
              <a:r>
                <a:rPr lang="en-US" sz="1912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Model sudah berhasil dijalankan dan menghasilkan output awal.</a:t>
              </a:r>
            </a:p>
            <a:p>
              <a:pPr algn="l">
                <a:lnSpc>
                  <a:spcPts val="2295"/>
                </a:lnSpc>
              </a:pPr>
            </a:p>
            <a:p>
              <a:pPr algn="l">
                <a:lnSpc>
                  <a:spcPts val="2295"/>
                </a:lnSpc>
              </a:pPr>
              <a:r>
                <a:rPr lang="en-US" sz="1912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Namun output tersebut masih berfungsi sebagai smoke test karena evaluasi OOS, chain, diagnostik, dan leakage belum selesai diperbaiki.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857250" y="8072438"/>
            <a:ext cx="16573500" cy="828675"/>
            <a:chOff x="0" y="0"/>
            <a:chExt cx="22098000" cy="11049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2098000" cy="1104900"/>
            </a:xfrm>
            <a:custGeom>
              <a:avLst/>
              <a:gdLst/>
              <a:ahLst/>
              <a:cxnLst/>
              <a:rect r="r" b="b" t="t" l="l"/>
              <a:pathLst>
                <a:path h="110490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1104900"/>
                  </a:lnTo>
                  <a:lnTo>
                    <a:pt x="0" y="1104900"/>
                  </a:lnTo>
                  <a:close/>
                </a:path>
              </a:pathLst>
            </a:custGeom>
            <a:solidFill>
              <a:srgbClr val="155744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171575" y="8172450"/>
            <a:ext cx="15944850" cy="614362"/>
            <a:chOff x="0" y="0"/>
            <a:chExt cx="21259800" cy="81915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1259800" cy="819150"/>
            </a:xfrm>
            <a:custGeom>
              <a:avLst/>
              <a:gdLst/>
              <a:ahLst/>
              <a:cxnLst/>
              <a:rect r="r" b="b" t="t" l="l"/>
              <a:pathLst>
                <a:path h="819150" w="21259800">
                  <a:moveTo>
                    <a:pt x="0" y="0"/>
                  </a:moveTo>
                  <a:lnTo>
                    <a:pt x="21259800" y="0"/>
                  </a:lnTo>
                  <a:lnTo>
                    <a:pt x="21259800" y="819150"/>
                  </a:lnTo>
                  <a:lnTo>
                    <a:pt x="0" y="8191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5704" r="0" b="-455704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21259800" cy="857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65"/>
                </a:lnSpc>
              </a:pPr>
              <a:r>
                <a:rPr lang="en-US" sz="2137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Pekerjaan berikutnya bukan membuat pipeline baru, tetapi menjalankan evaluasi yang benar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5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28725" y="3600450"/>
            <a:ext cx="628650" cy="42862"/>
            <a:chOff x="0" y="0"/>
            <a:chExt cx="838200" cy="571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38200" cy="57150"/>
            </a:xfrm>
            <a:custGeom>
              <a:avLst/>
              <a:gdLst/>
              <a:ahLst/>
              <a:cxnLst/>
              <a:rect r="r" b="b" t="t" l="l"/>
              <a:pathLst>
                <a:path h="57150" w="838200">
                  <a:moveTo>
                    <a:pt x="0" y="0"/>
                  </a:moveTo>
                  <a:lnTo>
                    <a:pt x="838200" y="0"/>
                  </a:lnTo>
                  <a:lnTo>
                    <a:pt x="8382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D86F0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28725" y="2928938"/>
            <a:ext cx="7143750" cy="428625"/>
            <a:chOff x="0" y="0"/>
            <a:chExt cx="9525000" cy="5715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525000" cy="571500"/>
            </a:xfrm>
            <a:custGeom>
              <a:avLst/>
              <a:gdLst/>
              <a:ahLst/>
              <a:cxnLst/>
              <a:rect r="r" b="b" t="t" l="l"/>
              <a:pathLst>
                <a:path h="571500" w="9525000">
                  <a:moveTo>
                    <a:pt x="0" y="0"/>
                  </a:moveTo>
                  <a:lnTo>
                    <a:pt x="9525000" y="0"/>
                  </a:lnTo>
                  <a:lnTo>
                    <a:pt x="9525000" y="571500"/>
                  </a:lnTo>
                  <a:lnTo>
                    <a:pt x="0" y="5715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9525000" cy="590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BAGIAN 2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28725" y="3857625"/>
            <a:ext cx="15430500" cy="1000125"/>
            <a:chOff x="0" y="0"/>
            <a:chExt cx="20574000" cy="13335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574000" cy="1333500"/>
            </a:xfrm>
            <a:custGeom>
              <a:avLst/>
              <a:gdLst/>
              <a:ahLst/>
              <a:cxnLst/>
              <a:rect r="r" b="b" t="t" l="l"/>
              <a:pathLst>
                <a:path h="1333500" w="20574000">
                  <a:moveTo>
                    <a:pt x="0" y="0"/>
                  </a:moveTo>
                  <a:lnTo>
                    <a:pt x="20574000" y="0"/>
                  </a:lnTo>
                  <a:lnTo>
                    <a:pt x="20574000" y="1333500"/>
                  </a:lnTo>
                  <a:lnTo>
                    <a:pt x="0" y="13335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0626" r="0" b="-250626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04775"/>
              <a:ext cx="20574000" cy="1438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940"/>
                </a:lnSpc>
              </a:pPr>
              <a:r>
                <a:rPr lang="en-US" sz="4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Masalah apa yang perlu kita diskusikan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28725" y="5000625"/>
            <a:ext cx="15144750" cy="785812"/>
            <a:chOff x="0" y="0"/>
            <a:chExt cx="20193000" cy="10477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193000" cy="1047750"/>
            </a:xfrm>
            <a:custGeom>
              <a:avLst/>
              <a:gdLst/>
              <a:ahLst/>
              <a:cxnLst/>
              <a:rect r="r" b="b" t="t" l="l"/>
              <a:pathLst>
                <a:path h="1047750" w="20193000">
                  <a:moveTo>
                    <a:pt x="0" y="0"/>
                  </a:moveTo>
                  <a:lnTo>
                    <a:pt x="20193000" y="0"/>
                  </a:lnTo>
                  <a:lnTo>
                    <a:pt x="20193000" y="1047750"/>
                  </a:lnTo>
                  <a:lnTo>
                    <a:pt x="0" y="10477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5529" r="0" b="-325529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0193000" cy="1085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65"/>
                </a:lnSpc>
              </a:pPr>
              <a:r>
                <a:rPr lang="en-US" sz="2137">
                  <a:solidFill>
                    <a:srgbClr val="C9D9D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Bagian ini bukan daftar kegagalan, tetapi pilihan yang perlu disepakati bersama.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571500"/>
            <a:chOff x="0" y="0"/>
            <a:chExt cx="24384000" cy="762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762000"/>
            </a:xfrm>
            <a:custGeom>
              <a:avLst/>
              <a:gdLst/>
              <a:ahLst/>
              <a:cxnLst/>
              <a:rect r="r" b="b" t="t" l="l"/>
              <a:pathLst>
                <a:path h="762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15574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100012"/>
            <a:ext cx="16573500" cy="357188"/>
            <a:chOff x="0" y="0"/>
            <a:chExt cx="22098000" cy="4762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098000" cy="476250"/>
            </a:xfrm>
            <a:custGeom>
              <a:avLst/>
              <a:gdLst/>
              <a:ahLst/>
              <a:cxnLst/>
              <a:rect r="r" b="b" t="t" l="l"/>
              <a:pathLst>
                <a:path h="47625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476250"/>
                  </a:lnTo>
                  <a:lnTo>
                    <a:pt x="0" y="476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4105" r="0" b="-85410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2098000" cy="504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755"/>
                </a:lnSpc>
              </a:pPr>
              <a:r>
                <a:rPr lang="en-US" sz="1462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MASALAH YANG PERLU DIBAHAS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57250" y="885825"/>
            <a:ext cx="16573500" cy="771525"/>
            <a:chOff x="0" y="0"/>
            <a:chExt cx="22098000" cy="10287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098000" cy="1028700"/>
            </a:xfrm>
            <a:custGeom>
              <a:avLst/>
              <a:gdLst/>
              <a:ahLst/>
              <a:cxnLst/>
              <a:rect r="r" b="b" t="t" l="l"/>
              <a:pathLst>
                <a:path h="102870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1028700"/>
                  </a:lnTo>
                  <a:lnTo>
                    <a:pt x="0" y="10287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8567" r="0" b="-368567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76200"/>
              <a:ext cx="22098000" cy="1104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sz="4050" b="true">
                  <a:solidFill>
                    <a:srgbClr val="1557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Paper perlu satu bahasa yang konsisten tentang apa yang diprediksi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7002125" y="9686925"/>
            <a:ext cx="500062" cy="257175"/>
            <a:chOff x="0" y="0"/>
            <a:chExt cx="666750" cy="3429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66750" cy="342900"/>
            </a:xfrm>
            <a:custGeom>
              <a:avLst/>
              <a:gdLst/>
              <a:ahLst/>
              <a:cxnLst/>
              <a:rect r="r" b="b" t="t" l="l"/>
              <a:pathLst>
                <a:path h="342900" w="666750">
                  <a:moveTo>
                    <a:pt x="0" y="0"/>
                  </a:moveTo>
                  <a:lnTo>
                    <a:pt x="666750" y="0"/>
                  </a:lnTo>
                  <a:lnTo>
                    <a:pt x="666750" y="342900"/>
                  </a:lnTo>
                  <a:lnTo>
                    <a:pt x="0" y="3429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984" t="0" r="-15984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66750" cy="361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85"/>
                </a:lnSpc>
              </a:pPr>
              <a:r>
                <a:rPr lang="en-US" sz="1237">
                  <a:solidFill>
                    <a:srgbClr val="77736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14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50106" y="2207419"/>
            <a:ext cx="7586662" cy="4729162"/>
            <a:chOff x="0" y="0"/>
            <a:chExt cx="10115550" cy="63055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115550" cy="6305550"/>
            </a:xfrm>
            <a:custGeom>
              <a:avLst/>
              <a:gdLst/>
              <a:ahLst/>
              <a:cxnLst/>
              <a:rect r="r" b="b" t="t" l="l"/>
              <a:pathLst>
                <a:path h="6305550" w="10115550">
                  <a:moveTo>
                    <a:pt x="0" y="0"/>
                  </a:moveTo>
                  <a:lnTo>
                    <a:pt x="10115550" y="0"/>
                  </a:lnTo>
                  <a:lnTo>
                    <a:pt x="10115550" y="6305550"/>
                  </a:lnTo>
                  <a:lnTo>
                    <a:pt x="0" y="6305550"/>
                  </a:lnTo>
                  <a:close/>
                </a:path>
              </a:pathLst>
            </a:custGeom>
            <a:solidFill>
              <a:srgbClr val="ECE9E3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857250" y="2214562"/>
            <a:ext cx="85725" cy="4714875"/>
            <a:chOff x="0" y="0"/>
            <a:chExt cx="114300" cy="62865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4300" cy="6286500"/>
            </a:xfrm>
            <a:custGeom>
              <a:avLst/>
              <a:gdLst/>
              <a:ahLst/>
              <a:cxnLst/>
              <a:rect r="r" b="b" t="t" l="l"/>
              <a:pathLst>
                <a:path h="6286500" w="114300">
                  <a:moveTo>
                    <a:pt x="0" y="0"/>
                  </a:moveTo>
                  <a:lnTo>
                    <a:pt x="114300" y="0"/>
                  </a:lnTo>
                  <a:lnTo>
                    <a:pt x="114300" y="6286500"/>
                  </a:lnTo>
                  <a:lnTo>
                    <a:pt x="0" y="6286500"/>
                  </a:lnTo>
                  <a:close/>
                </a:path>
              </a:pathLst>
            </a:custGeom>
            <a:solidFill>
              <a:srgbClr val="155744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00150" y="2443162"/>
            <a:ext cx="6972300" cy="485775"/>
            <a:chOff x="0" y="0"/>
            <a:chExt cx="9296400" cy="6477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296400" cy="647700"/>
            </a:xfrm>
            <a:custGeom>
              <a:avLst/>
              <a:gdLst/>
              <a:ahLst/>
              <a:cxnLst/>
              <a:rect r="r" b="b" t="t" l="l"/>
              <a:pathLst>
                <a:path h="647700" w="9296400">
                  <a:moveTo>
                    <a:pt x="0" y="0"/>
                  </a:moveTo>
                  <a:lnTo>
                    <a:pt x="9296400" y="0"/>
                  </a:lnTo>
                  <a:lnTo>
                    <a:pt x="9296400" y="647700"/>
                  </a:lnTo>
                  <a:lnTo>
                    <a:pt x="0" y="6477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9667" r="0" b="-229667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9296400" cy="70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35"/>
                </a:lnSpc>
              </a:pPr>
              <a:r>
                <a:rPr lang="en-US" sz="2362" b="true">
                  <a:solidFill>
                    <a:srgbClr val="1557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BAHASA YANG DIGUNAKAN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00150" y="3043238"/>
            <a:ext cx="6972300" cy="3629025"/>
            <a:chOff x="0" y="0"/>
            <a:chExt cx="9296400" cy="48387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296400" cy="4838700"/>
            </a:xfrm>
            <a:custGeom>
              <a:avLst/>
              <a:gdLst/>
              <a:ahLst/>
              <a:cxnLst/>
              <a:rect r="r" b="b" t="t" l="l"/>
              <a:pathLst>
                <a:path h="4838700" w="9296400">
                  <a:moveTo>
                    <a:pt x="0" y="0"/>
                  </a:moveTo>
                  <a:lnTo>
                    <a:pt x="9296400" y="0"/>
                  </a:lnTo>
                  <a:lnTo>
                    <a:pt x="9296400" y="4838700"/>
                  </a:lnTo>
                  <a:lnTo>
                    <a:pt x="0" y="48387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780" t="0" r="-16780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9296400" cy="4876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95"/>
                </a:lnSpc>
              </a:pPr>
              <a:r>
                <a:rPr lang="en-US" sz="1912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Proksi tekanan harga pangan dua mingguan berbasis PIHPS</a:t>
              </a:r>
            </a:p>
            <a:p>
              <a:pPr algn="l">
                <a:lnSpc>
                  <a:spcPts val="2295"/>
                </a:lnSpc>
              </a:pPr>
            </a:p>
            <a:p>
              <a:pPr algn="l">
                <a:lnSpc>
                  <a:spcPts val="2295"/>
                </a:lnSpc>
              </a:pPr>
              <a:r>
                <a:rPr lang="en-US" sz="1912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Kandungan prediktif temporal</a:t>
              </a:r>
            </a:p>
            <a:p>
              <a:pPr algn="l">
                <a:lnSpc>
                  <a:spcPts val="2295"/>
                </a:lnSpc>
              </a:pPr>
            </a:p>
            <a:p>
              <a:pPr algn="l">
                <a:lnSpc>
                  <a:spcPts val="2295"/>
                </a:lnSpc>
              </a:pPr>
              <a:r>
                <a:rPr lang="en-US" sz="1912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Methodological proof-of-concept</a:t>
              </a:r>
            </a:p>
            <a:p>
              <a:pPr algn="l">
                <a:lnSpc>
                  <a:spcPts val="2295"/>
                </a:lnSpc>
              </a:pPr>
            </a:p>
            <a:p>
              <a:pPr algn="l">
                <a:lnSpc>
                  <a:spcPts val="2295"/>
                </a:lnSpc>
              </a:pPr>
              <a:r>
                <a:rPr lang="en-US" sz="1912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HP-8 adalah operasionalisasi konsep volatile food untuk kebutuhan indikator harian Kota Medan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279731" y="2207419"/>
            <a:ext cx="8158162" cy="4729162"/>
            <a:chOff x="0" y="0"/>
            <a:chExt cx="10877550" cy="63055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877550" cy="6305550"/>
            </a:xfrm>
            <a:custGeom>
              <a:avLst/>
              <a:gdLst/>
              <a:ahLst/>
              <a:cxnLst/>
              <a:rect r="r" b="b" t="t" l="l"/>
              <a:pathLst>
                <a:path h="6305550" w="10877550">
                  <a:moveTo>
                    <a:pt x="0" y="0"/>
                  </a:moveTo>
                  <a:lnTo>
                    <a:pt x="10877550" y="0"/>
                  </a:lnTo>
                  <a:lnTo>
                    <a:pt x="10877550" y="6305550"/>
                  </a:lnTo>
                  <a:lnTo>
                    <a:pt x="0" y="6305550"/>
                  </a:lnTo>
                  <a:close/>
                </a:path>
              </a:pathLst>
            </a:custGeom>
            <a:solidFill>
              <a:srgbClr val="ECE9E3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9286875" y="2214562"/>
            <a:ext cx="85725" cy="4714875"/>
            <a:chOff x="0" y="0"/>
            <a:chExt cx="114300" cy="62865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4300" cy="6286500"/>
            </a:xfrm>
            <a:custGeom>
              <a:avLst/>
              <a:gdLst/>
              <a:ahLst/>
              <a:cxnLst/>
              <a:rect r="r" b="b" t="t" l="l"/>
              <a:pathLst>
                <a:path h="6286500" w="114300">
                  <a:moveTo>
                    <a:pt x="0" y="0"/>
                  </a:moveTo>
                  <a:lnTo>
                    <a:pt x="114300" y="0"/>
                  </a:lnTo>
                  <a:lnTo>
                    <a:pt x="114300" y="6286500"/>
                  </a:lnTo>
                  <a:lnTo>
                    <a:pt x="0" y="6286500"/>
                  </a:lnTo>
                  <a:close/>
                </a:path>
              </a:pathLst>
            </a:custGeom>
            <a:solidFill>
              <a:srgbClr val="BE5550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629775" y="2443162"/>
            <a:ext cx="7543800" cy="485775"/>
            <a:chOff x="0" y="0"/>
            <a:chExt cx="10058400" cy="6477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058400" cy="647700"/>
            </a:xfrm>
            <a:custGeom>
              <a:avLst/>
              <a:gdLst/>
              <a:ahLst/>
              <a:cxnLst/>
              <a:rect r="r" b="b" t="t" l="l"/>
              <a:pathLst>
                <a:path h="64770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647700"/>
                  </a:lnTo>
                  <a:lnTo>
                    <a:pt x="0" y="6477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2591" r="0" b="-252591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10058400" cy="70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35"/>
                </a:lnSpc>
              </a:pPr>
              <a:r>
                <a:rPr lang="en-US" sz="2362" b="true">
                  <a:solidFill>
                    <a:srgbClr val="BE555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BAHASA YANG DIHINDARI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629775" y="3043238"/>
            <a:ext cx="7543800" cy="3629025"/>
            <a:chOff x="0" y="0"/>
            <a:chExt cx="10058400" cy="48387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058400" cy="4838700"/>
            </a:xfrm>
            <a:custGeom>
              <a:avLst/>
              <a:gdLst/>
              <a:ahLst/>
              <a:cxnLst/>
              <a:rect r="r" b="b" t="t" l="l"/>
              <a:pathLst>
                <a:path h="483870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4838700"/>
                  </a:lnTo>
                  <a:lnTo>
                    <a:pt x="0" y="48387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721" t="0" r="-11721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10058400" cy="4876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95"/>
                </a:lnSpc>
              </a:pPr>
              <a:r>
                <a:rPr lang="en-US" sz="1912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Inflasi volatile food resmi dua mingguan</a:t>
              </a:r>
            </a:p>
            <a:p>
              <a:pPr algn="l">
                <a:lnSpc>
                  <a:spcPts val="2295"/>
                </a:lnSpc>
              </a:pPr>
            </a:p>
            <a:p>
              <a:pPr algn="l">
                <a:lnSpc>
                  <a:spcPts val="2295"/>
                </a:lnSpc>
              </a:pPr>
              <a:r>
                <a:rPr lang="en-US" sz="1912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Berita menyebabkan inflasi</a:t>
              </a:r>
            </a:p>
            <a:p>
              <a:pPr algn="l">
                <a:lnSpc>
                  <a:spcPts val="2295"/>
                </a:lnSpc>
              </a:pPr>
            </a:p>
            <a:p>
              <a:pPr algn="l">
                <a:lnSpc>
                  <a:spcPts val="2295"/>
                </a:lnSpc>
              </a:pPr>
              <a:r>
                <a:rPr lang="en-US" sz="1912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Sistem peringatan dini yang sudah tervalidasi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857250" y="7929562"/>
            <a:ext cx="16573500" cy="828675"/>
            <a:chOff x="0" y="0"/>
            <a:chExt cx="22098000" cy="11049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2098000" cy="1104900"/>
            </a:xfrm>
            <a:custGeom>
              <a:avLst/>
              <a:gdLst/>
              <a:ahLst/>
              <a:cxnLst/>
              <a:rect r="r" b="b" t="t" l="l"/>
              <a:pathLst>
                <a:path h="110490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1104900"/>
                  </a:lnTo>
                  <a:lnTo>
                    <a:pt x="0" y="1104900"/>
                  </a:lnTo>
                  <a:close/>
                </a:path>
              </a:pathLst>
            </a:custGeom>
            <a:solidFill>
              <a:srgbClr val="D86F00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171575" y="8029575"/>
            <a:ext cx="15944850" cy="614362"/>
            <a:chOff x="0" y="0"/>
            <a:chExt cx="21259800" cy="81915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1259800" cy="819150"/>
            </a:xfrm>
            <a:custGeom>
              <a:avLst/>
              <a:gdLst/>
              <a:ahLst/>
              <a:cxnLst/>
              <a:rect r="r" b="b" t="t" l="l"/>
              <a:pathLst>
                <a:path h="819150" w="21259800">
                  <a:moveTo>
                    <a:pt x="0" y="0"/>
                  </a:moveTo>
                  <a:lnTo>
                    <a:pt x="21259800" y="0"/>
                  </a:lnTo>
                  <a:lnTo>
                    <a:pt x="21259800" y="819150"/>
                  </a:lnTo>
                  <a:lnTo>
                    <a:pt x="0" y="8191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5704" r="0" b="-455704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21259800" cy="857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65"/>
                </a:lnSpc>
              </a:pPr>
              <a:r>
                <a:rPr lang="en-US" sz="2137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Pertanyaan diskusi: apakah semua penulis sepakat menggunakan batas klaim ini?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571500"/>
            <a:chOff x="0" y="0"/>
            <a:chExt cx="24384000" cy="762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762000"/>
            </a:xfrm>
            <a:custGeom>
              <a:avLst/>
              <a:gdLst/>
              <a:ahLst/>
              <a:cxnLst/>
              <a:rect r="r" b="b" t="t" l="l"/>
              <a:pathLst>
                <a:path h="762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15574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100012"/>
            <a:ext cx="16573500" cy="357188"/>
            <a:chOff x="0" y="0"/>
            <a:chExt cx="22098000" cy="4762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098000" cy="476250"/>
            </a:xfrm>
            <a:custGeom>
              <a:avLst/>
              <a:gdLst/>
              <a:ahLst/>
              <a:cxnLst/>
              <a:rect r="r" b="b" t="t" l="l"/>
              <a:pathLst>
                <a:path h="47625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476250"/>
                  </a:lnTo>
                  <a:lnTo>
                    <a:pt x="0" y="476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4105" r="0" b="-85410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2098000" cy="504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755"/>
                </a:lnSpc>
              </a:pPr>
              <a:r>
                <a:rPr lang="en-US" sz="1462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MASALAH YANG PERLU DIBAHAS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57250" y="885825"/>
            <a:ext cx="16573500" cy="771525"/>
            <a:chOff x="0" y="0"/>
            <a:chExt cx="22098000" cy="10287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098000" cy="1028700"/>
            </a:xfrm>
            <a:custGeom>
              <a:avLst/>
              <a:gdLst/>
              <a:ahLst/>
              <a:cxnLst/>
              <a:rect r="r" b="b" t="t" l="l"/>
              <a:pathLst>
                <a:path h="102870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1028700"/>
                  </a:lnTo>
                  <a:lnTo>
                    <a:pt x="0" y="10287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8567" r="0" b="-368567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76200"/>
              <a:ext cx="22098000" cy="1104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sz="4050" b="true">
                  <a:solidFill>
                    <a:srgbClr val="1557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Kelas demand belum cukup kuat untuk menjadi fitur utama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7002125" y="9686925"/>
            <a:ext cx="500062" cy="257175"/>
            <a:chOff x="0" y="0"/>
            <a:chExt cx="666750" cy="3429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66750" cy="342900"/>
            </a:xfrm>
            <a:custGeom>
              <a:avLst/>
              <a:gdLst/>
              <a:ahLst/>
              <a:cxnLst/>
              <a:rect r="r" b="b" t="t" l="l"/>
              <a:pathLst>
                <a:path h="342900" w="666750">
                  <a:moveTo>
                    <a:pt x="0" y="0"/>
                  </a:moveTo>
                  <a:lnTo>
                    <a:pt x="666750" y="0"/>
                  </a:lnTo>
                  <a:lnTo>
                    <a:pt x="666750" y="342900"/>
                  </a:lnTo>
                  <a:lnTo>
                    <a:pt x="0" y="3429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984" t="0" r="-15984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66750" cy="361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85"/>
                </a:lnSpc>
              </a:pPr>
              <a:r>
                <a:rPr lang="en-US" sz="1237">
                  <a:solidFill>
                    <a:srgbClr val="77736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15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43000" y="2286000"/>
            <a:ext cx="16002000" cy="785812"/>
            <a:chOff x="0" y="0"/>
            <a:chExt cx="21336000" cy="10477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336000" cy="1047750"/>
            </a:xfrm>
            <a:custGeom>
              <a:avLst/>
              <a:gdLst/>
              <a:ahLst/>
              <a:cxnLst/>
              <a:rect r="r" b="b" t="t" l="l"/>
              <a:pathLst>
                <a:path h="1047750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1047750"/>
                  </a:lnTo>
                  <a:lnTo>
                    <a:pt x="0" y="10477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6786" r="0" b="-346786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21336000" cy="1114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50"/>
                </a:lnSpc>
              </a:pPr>
              <a:r>
                <a:rPr lang="en-US" sz="3375" b="true">
                  <a:solidFill>
                    <a:srgbClr val="BE555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 artikel demand terbaca sebagai supply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564606" y="3564731"/>
            <a:ext cx="13158788" cy="1728788"/>
            <a:chOff x="0" y="0"/>
            <a:chExt cx="17545050" cy="23050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7545050" cy="2305050"/>
            </a:xfrm>
            <a:custGeom>
              <a:avLst/>
              <a:gdLst/>
              <a:ahLst/>
              <a:cxnLst/>
              <a:rect r="r" b="b" t="t" l="l"/>
              <a:pathLst>
                <a:path h="2305050" w="17545050">
                  <a:moveTo>
                    <a:pt x="0" y="0"/>
                  </a:moveTo>
                  <a:lnTo>
                    <a:pt x="17545050" y="0"/>
                  </a:lnTo>
                  <a:lnTo>
                    <a:pt x="17545050" y="2305050"/>
                  </a:lnTo>
                  <a:lnTo>
                    <a:pt x="0" y="2305050"/>
                  </a:lnTo>
                  <a:close/>
                </a:path>
              </a:pathLst>
            </a:custGeom>
            <a:solidFill>
              <a:srgbClr val="ECE9E3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3000375" y="3857625"/>
            <a:ext cx="4286250" cy="1000125"/>
            <a:chOff x="0" y="0"/>
            <a:chExt cx="5715000" cy="13335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715000" cy="1333500"/>
            </a:xfrm>
            <a:custGeom>
              <a:avLst/>
              <a:gdLst/>
              <a:ahLst/>
              <a:cxnLst/>
              <a:rect r="r" b="b" t="t" l="l"/>
              <a:pathLst>
                <a:path h="1333500" w="5715000">
                  <a:moveTo>
                    <a:pt x="0" y="0"/>
                  </a:moveTo>
                  <a:lnTo>
                    <a:pt x="5715000" y="0"/>
                  </a:lnTo>
                  <a:lnTo>
                    <a:pt x="5715000" y="1333500"/>
                  </a:lnTo>
                  <a:lnTo>
                    <a:pt x="0" y="13335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507" r="0" b="-33507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5715000" cy="1390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D86F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Recall demand = 0,50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286750" y="3957638"/>
            <a:ext cx="1143000" cy="785812"/>
            <a:chOff x="0" y="0"/>
            <a:chExt cx="1524000" cy="104775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524000" cy="1047750"/>
            </a:xfrm>
            <a:custGeom>
              <a:avLst/>
              <a:gdLst/>
              <a:ahLst/>
              <a:cxnLst/>
              <a:rect r="r" b="b" t="t" l="l"/>
              <a:pathLst>
                <a:path h="1047750" w="1524000">
                  <a:moveTo>
                    <a:pt x="0" y="0"/>
                  </a:moveTo>
                  <a:lnTo>
                    <a:pt x="1524000" y="0"/>
                  </a:lnTo>
                  <a:lnTo>
                    <a:pt x="1524000" y="1047750"/>
                  </a:lnTo>
                  <a:lnTo>
                    <a:pt x="0" y="10477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8208" t="0" r="-38208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66675"/>
              <a:ext cx="1524000" cy="1114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50"/>
                </a:lnSpc>
              </a:pPr>
              <a:r>
                <a:rPr lang="en-US" sz="3375" b="true">
                  <a:solidFill>
                    <a:srgbClr val="77736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858375" y="3857625"/>
            <a:ext cx="4857750" cy="1000125"/>
            <a:chOff x="0" y="0"/>
            <a:chExt cx="6477000" cy="13335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477000" cy="1333500"/>
            </a:xfrm>
            <a:custGeom>
              <a:avLst/>
              <a:gdLst/>
              <a:ahLst/>
              <a:cxnLst/>
              <a:rect r="r" b="b" t="t" l="l"/>
              <a:pathLst>
                <a:path h="1333500" w="6477000">
                  <a:moveTo>
                    <a:pt x="0" y="0"/>
                  </a:moveTo>
                  <a:lnTo>
                    <a:pt x="6477000" y="0"/>
                  </a:lnTo>
                  <a:lnTo>
                    <a:pt x="6477000" y="1333500"/>
                  </a:lnTo>
                  <a:lnTo>
                    <a:pt x="0" y="13335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641" r="0" b="-44641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6477000" cy="1390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BE555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Risiko sinyal tidak stabil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2571750" y="6000750"/>
            <a:ext cx="314325" cy="457200"/>
            <a:chOff x="0" y="0"/>
            <a:chExt cx="419100" cy="6096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19100" cy="609600"/>
            </a:xfrm>
            <a:custGeom>
              <a:avLst/>
              <a:gdLst/>
              <a:ahLst/>
              <a:cxnLst/>
              <a:rect r="r" b="b" t="t" l="l"/>
              <a:pathLst>
                <a:path h="609600" w="419100">
                  <a:moveTo>
                    <a:pt x="0" y="0"/>
                  </a:moveTo>
                  <a:lnTo>
                    <a:pt x="419100" y="0"/>
                  </a:lnTo>
                  <a:lnTo>
                    <a:pt x="4191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6623" t="0" r="-136623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4191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1557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•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2943225" y="6000750"/>
            <a:ext cx="12773025" cy="542925"/>
            <a:chOff x="0" y="0"/>
            <a:chExt cx="17030700" cy="7239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7030700" cy="723900"/>
            </a:xfrm>
            <a:custGeom>
              <a:avLst/>
              <a:gdLst/>
              <a:ahLst/>
              <a:cxnLst/>
              <a:rect r="r" b="b" t="t" l="l"/>
              <a:pathLst>
                <a:path h="723900" w="17030700">
                  <a:moveTo>
                    <a:pt x="0" y="0"/>
                  </a:moveTo>
                  <a:lnTo>
                    <a:pt x="17030700" y="0"/>
                  </a:lnTo>
                  <a:lnTo>
                    <a:pt x="17030700" y="723900"/>
                  </a:lnTo>
                  <a:lnTo>
                    <a:pt x="0" y="7239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8411" r="0" b="-408411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17030700" cy="762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Tetap laporkan hasil validasinya secara terbuka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2571750" y="6715125"/>
            <a:ext cx="314325" cy="457200"/>
            <a:chOff x="0" y="0"/>
            <a:chExt cx="419100" cy="6096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19100" cy="609600"/>
            </a:xfrm>
            <a:custGeom>
              <a:avLst/>
              <a:gdLst/>
              <a:ahLst/>
              <a:cxnLst/>
              <a:rect r="r" b="b" t="t" l="l"/>
              <a:pathLst>
                <a:path h="609600" w="419100">
                  <a:moveTo>
                    <a:pt x="0" y="0"/>
                  </a:moveTo>
                  <a:lnTo>
                    <a:pt x="419100" y="0"/>
                  </a:lnTo>
                  <a:lnTo>
                    <a:pt x="4191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6623" t="0" r="-136623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4191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1557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•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2943225" y="6715125"/>
            <a:ext cx="12773025" cy="542925"/>
            <a:chOff x="0" y="0"/>
            <a:chExt cx="17030700" cy="7239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7030700" cy="723900"/>
            </a:xfrm>
            <a:custGeom>
              <a:avLst/>
              <a:gdLst/>
              <a:ahLst/>
              <a:cxnLst/>
              <a:rect r="r" b="b" t="t" l="l"/>
              <a:pathLst>
                <a:path h="723900" w="17030700">
                  <a:moveTo>
                    <a:pt x="0" y="0"/>
                  </a:moveTo>
                  <a:lnTo>
                    <a:pt x="17030700" y="0"/>
                  </a:lnTo>
                  <a:lnTo>
                    <a:pt x="17030700" y="723900"/>
                  </a:lnTo>
                  <a:lnTo>
                    <a:pt x="0" y="7239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8411" r="0" b="-408411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17030700" cy="762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Jangan masukkan demand ke model utama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2571750" y="7429500"/>
            <a:ext cx="314325" cy="457200"/>
            <a:chOff x="0" y="0"/>
            <a:chExt cx="419100" cy="6096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19100" cy="609600"/>
            </a:xfrm>
            <a:custGeom>
              <a:avLst/>
              <a:gdLst/>
              <a:ahLst/>
              <a:cxnLst/>
              <a:rect r="r" b="b" t="t" l="l"/>
              <a:pathLst>
                <a:path h="609600" w="419100">
                  <a:moveTo>
                    <a:pt x="0" y="0"/>
                  </a:moveTo>
                  <a:lnTo>
                    <a:pt x="419100" y="0"/>
                  </a:lnTo>
                  <a:lnTo>
                    <a:pt x="4191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6623" t="0" r="-136623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4191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1557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•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2943225" y="7429500"/>
            <a:ext cx="12773025" cy="542925"/>
            <a:chOff x="0" y="0"/>
            <a:chExt cx="17030700" cy="7239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7030700" cy="723900"/>
            </a:xfrm>
            <a:custGeom>
              <a:avLst/>
              <a:gdLst/>
              <a:ahLst/>
              <a:cxnLst/>
              <a:rect r="r" b="b" t="t" l="l"/>
              <a:pathLst>
                <a:path h="723900" w="17030700">
                  <a:moveTo>
                    <a:pt x="0" y="0"/>
                  </a:moveTo>
                  <a:lnTo>
                    <a:pt x="17030700" y="0"/>
                  </a:lnTo>
                  <a:lnTo>
                    <a:pt x="17030700" y="723900"/>
                  </a:lnTo>
                  <a:lnTo>
                    <a:pt x="0" y="7239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8411" r="0" b="-408411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17030700" cy="762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Boleh diuji kembali sebagai robustness jika labeling diperbaiki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857250" y="8429625"/>
            <a:ext cx="16573500" cy="828675"/>
            <a:chOff x="0" y="0"/>
            <a:chExt cx="22098000" cy="11049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2098000" cy="1104900"/>
            </a:xfrm>
            <a:custGeom>
              <a:avLst/>
              <a:gdLst/>
              <a:ahLst/>
              <a:cxnLst/>
              <a:rect r="r" b="b" t="t" l="l"/>
              <a:pathLst>
                <a:path h="110490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1104900"/>
                  </a:lnTo>
                  <a:lnTo>
                    <a:pt x="0" y="1104900"/>
                  </a:lnTo>
                  <a:close/>
                </a:path>
              </a:pathLst>
            </a:custGeom>
            <a:solidFill>
              <a:srgbClr val="D86F00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171575" y="8529638"/>
            <a:ext cx="15944850" cy="614362"/>
            <a:chOff x="0" y="0"/>
            <a:chExt cx="21259800" cy="81915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1259800" cy="819150"/>
            </a:xfrm>
            <a:custGeom>
              <a:avLst/>
              <a:gdLst/>
              <a:ahLst/>
              <a:cxnLst/>
              <a:rect r="r" b="b" t="t" l="l"/>
              <a:pathLst>
                <a:path h="819150" w="21259800">
                  <a:moveTo>
                    <a:pt x="0" y="0"/>
                  </a:moveTo>
                  <a:lnTo>
                    <a:pt x="21259800" y="0"/>
                  </a:lnTo>
                  <a:lnTo>
                    <a:pt x="21259800" y="819150"/>
                  </a:lnTo>
                  <a:lnTo>
                    <a:pt x="0" y="8191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5704" r="0" b="-455704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21259800" cy="857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65"/>
                </a:lnSpc>
              </a:pPr>
              <a:r>
                <a:rPr lang="en-US" sz="2137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Pertanyaan diskusi: cukup dikeluarkan dari model utama, atau perlu relabeling tambahan?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571500"/>
            <a:chOff x="0" y="0"/>
            <a:chExt cx="24384000" cy="762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762000"/>
            </a:xfrm>
            <a:custGeom>
              <a:avLst/>
              <a:gdLst/>
              <a:ahLst/>
              <a:cxnLst/>
              <a:rect r="r" b="b" t="t" l="l"/>
              <a:pathLst>
                <a:path h="762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15574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100012"/>
            <a:ext cx="16573500" cy="357188"/>
            <a:chOff x="0" y="0"/>
            <a:chExt cx="22098000" cy="4762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098000" cy="476250"/>
            </a:xfrm>
            <a:custGeom>
              <a:avLst/>
              <a:gdLst/>
              <a:ahLst/>
              <a:cxnLst/>
              <a:rect r="r" b="b" t="t" l="l"/>
              <a:pathLst>
                <a:path h="47625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476250"/>
                  </a:lnTo>
                  <a:lnTo>
                    <a:pt x="0" y="476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4105" r="0" b="-85410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2098000" cy="504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755"/>
                </a:lnSpc>
              </a:pPr>
              <a:r>
                <a:rPr lang="en-US" sz="1462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MASALAH YANG PERLU DIBAHAS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57250" y="885825"/>
            <a:ext cx="16573500" cy="771525"/>
            <a:chOff x="0" y="0"/>
            <a:chExt cx="22098000" cy="10287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098000" cy="1028700"/>
            </a:xfrm>
            <a:custGeom>
              <a:avLst/>
              <a:gdLst/>
              <a:ahLst/>
              <a:cxnLst/>
              <a:rect r="r" b="b" t="t" l="l"/>
              <a:pathLst>
                <a:path h="102870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1028700"/>
                  </a:lnTo>
                  <a:lnTo>
                    <a:pt x="0" y="10287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8567" r="0" b="-368567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76200"/>
              <a:ext cx="22098000" cy="1104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sz="4050" b="true">
                  <a:solidFill>
                    <a:srgbClr val="1557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OOS 2026 baru tersedia sebagian, bukan satu tahun penuh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7002125" y="9686925"/>
            <a:ext cx="500062" cy="257175"/>
            <a:chOff x="0" y="0"/>
            <a:chExt cx="666750" cy="3429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66750" cy="342900"/>
            </a:xfrm>
            <a:custGeom>
              <a:avLst/>
              <a:gdLst/>
              <a:ahLst/>
              <a:cxnLst/>
              <a:rect r="r" b="b" t="t" l="l"/>
              <a:pathLst>
                <a:path h="342900" w="666750">
                  <a:moveTo>
                    <a:pt x="0" y="0"/>
                  </a:moveTo>
                  <a:lnTo>
                    <a:pt x="666750" y="0"/>
                  </a:lnTo>
                  <a:lnTo>
                    <a:pt x="666750" y="342900"/>
                  </a:lnTo>
                  <a:lnTo>
                    <a:pt x="0" y="3429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984" t="0" r="-15984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66750" cy="361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85"/>
                </a:lnSpc>
              </a:pPr>
              <a:r>
                <a:rPr lang="en-US" sz="1237">
                  <a:solidFill>
                    <a:srgbClr val="77736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17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85875" y="2500312"/>
            <a:ext cx="2857500" cy="571500"/>
            <a:chOff x="0" y="0"/>
            <a:chExt cx="3810000" cy="762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810000" cy="762000"/>
            </a:xfrm>
            <a:custGeom>
              <a:avLst/>
              <a:gdLst/>
              <a:ahLst/>
              <a:cxnLst/>
              <a:rect r="r" b="b" t="t" l="l"/>
              <a:pathLst>
                <a:path h="762000" w="3810000">
                  <a:moveTo>
                    <a:pt x="0" y="0"/>
                  </a:moveTo>
                  <a:lnTo>
                    <a:pt x="3810000" y="0"/>
                  </a:lnTo>
                  <a:lnTo>
                    <a:pt x="381000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3810000" cy="809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70"/>
                </a:lnSpc>
              </a:pPr>
              <a:r>
                <a:rPr lang="en-US" sz="2475" b="true">
                  <a:solidFill>
                    <a:srgbClr val="1557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TRAIN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85875" y="3286125"/>
            <a:ext cx="10001250" cy="1143000"/>
            <a:chOff x="0" y="0"/>
            <a:chExt cx="13335000" cy="1524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335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13335000">
                  <a:moveTo>
                    <a:pt x="0" y="0"/>
                  </a:moveTo>
                  <a:lnTo>
                    <a:pt x="13335000" y="0"/>
                  </a:lnTo>
                  <a:lnTo>
                    <a:pt x="13335000" y="1524000"/>
                  </a:lnTo>
                  <a:lnTo>
                    <a:pt x="0" y="1524000"/>
                  </a:lnTo>
                  <a:close/>
                </a:path>
              </a:pathLst>
            </a:custGeom>
            <a:solidFill>
              <a:srgbClr val="155744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571625" y="3500438"/>
            <a:ext cx="9429750" cy="714375"/>
            <a:chOff x="0" y="0"/>
            <a:chExt cx="12573000" cy="9525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573000" cy="952500"/>
            </a:xfrm>
            <a:custGeom>
              <a:avLst/>
              <a:gdLst/>
              <a:ahLst/>
              <a:cxnLst/>
              <a:rect r="r" b="b" t="t" l="l"/>
              <a:pathLst>
                <a:path h="952500" w="12573000">
                  <a:moveTo>
                    <a:pt x="0" y="0"/>
                  </a:moveTo>
                  <a:lnTo>
                    <a:pt x="12573000" y="0"/>
                  </a:lnTo>
                  <a:lnTo>
                    <a:pt x="12573000" y="952500"/>
                  </a:lnTo>
                  <a:lnTo>
                    <a:pt x="0" y="9525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7202" r="0" b="-207202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12573000" cy="1019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50"/>
                </a:lnSpc>
              </a:pPr>
              <a:r>
                <a:rPr lang="en-US" sz="33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2021 — 2025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858625" y="2500312"/>
            <a:ext cx="4286250" cy="571500"/>
            <a:chOff x="0" y="0"/>
            <a:chExt cx="5715000" cy="762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715000" cy="762000"/>
            </a:xfrm>
            <a:custGeom>
              <a:avLst/>
              <a:gdLst/>
              <a:ahLst/>
              <a:cxnLst/>
              <a:rect r="r" b="b" t="t" l="l"/>
              <a:pathLst>
                <a:path h="762000" w="5715000">
                  <a:moveTo>
                    <a:pt x="0" y="0"/>
                  </a:moveTo>
                  <a:lnTo>
                    <a:pt x="5715000" y="0"/>
                  </a:lnTo>
                  <a:lnTo>
                    <a:pt x="571500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5715000" cy="809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70"/>
                </a:lnSpc>
              </a:pPr>
              <a:r>
                <a:rPr lang="en-US" sz="2475" b="true">
                  <a:solidFill>
                    <a:srgbClr val="D86F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OOS YANG TERSEDIA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1858625" y="3286125"/>
            <a:ext cx="4286250" cy="1143000"/>
            <a:chOff x="0" y="0"/>
            <a:chExt cx="5715000" cy="1524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715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5715000">
                  <a:moveTo>
                    <a:pt x="0" y="0"/>
                  </a:moveTo>
                  <a:lnTo>
                    <a:pt x="5715000" y="0"/>
                  </a:lnTo>
                  <a:lnTo>
                    <a:pt x="5715000" y="1524000"/>
                  </a:lnTo>
                  <a:lnTo>
                    <a:pt x="0" y="1524000"/>
                  </a:lnTo>
                  <a:close/>
                </a:path>
              </a:pathLst>
            </a:custGeom>
            <a:solidFill>
              <a:srgbClr val="D86F00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2144375" y="3500438"/>
            <a:ext cx="3714750" cy="714375"/>
            <a:chOff x="0" y="0"/>
            <a:chExt cx="4953000" cy="9525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953000" cy="952500"/>
            </a:xfrm>
            <a:custGeom>
              <a:avLst/>
              <a:gdLst/>
              <a:ahLst/>
              <a:cxnLst/>
              <a:rect r="r" b="b" t="t" l="l"/>
              <a:pathLst>
                <a:path h="952500" w="4953000">
                  <a:moveTo>
                    <a:pt x="0" y="0"/>
                  </a:moveTo>
                  <a:lnTo>
                    <a:pt x="4953000" y="0"/>
                  </a:lnTo>
                  <a:lnTo>
                    <a:pt x="4953000" y="952500"/>
                  </a:lnTo>
                  <a:lnTo>
                    <a:pt x="0" y="9525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322" r="0" b="-51322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4953000" cy="1000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75"/>
                </a:lnSpc>
              </a:pPr>
              <a:r>
                <a:rPr lang="en-US" sz="2812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Jan — 19 Mar 2026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278731" y="5422106"/>
            <a:ext cx="14873288" cy="2085975"/>
            <a:chOff x="0" y="0"/>
            <a:chExt cx="19831050" cy="27813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9831050" cy="2781300"/>
            </a:xfrm>
            <a:custGeom>
              <a:avLst/>
              <a:gdLst/>
              <a:ahLst/>
              <a:cxnLst/>
              <a:rect r="r" b="b" t="t" l="l"/>
              <a:pathLst>
                <a:path h="2781300" w="19831050">
                  <a:moveTo>
                    <a:pt x="0" y="0"/>
                  </a:moveTo>
                  <a:lnTo>
                    <a:pt x="19831050" y="0"/>
                  </a:lnTo>
                  <a:lnTo>
                    <a:pt x="19831050" y="2781300"/>
                  </a:lnTo>
                  <a:lnTo>
                    <a:pt x="0" y="2781300"/>
                  </a:lnTo>
                  <a:close/>
                </a:path>
              </a:pathLst>
            </a:custGeom>
            <a:solidFill>
              <a:srgbClr val="ECE9E3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285875" y="5429250"/>
            <a:ext cx="85725" cy="2071688"/>
            <a:chOff x="0" y="0"/>
            <a:chExt cx="114300" cy="276225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14300" cy="2762250"/>
            </a:xfrm>
            <a:custGeom>
              <a:avLst/>
              <a:gdLst/>
              <a:ahLst/>
              <a:cxnLst/>
              <a:rect r="r" b="b" t="t" l="l"/>
              <a:pathLst>
                <a:path h="2762250" w="114300">
                  <a:moveTo>
                    <a:pt x="0" y="0"/>
                  </a:moveTo>
                  <a:lnTo>
                    <a:pt x="114300" y="0"/>
                  </a:lnTo>
                  <a:lnTo>
                    <a:pt x="114300" y="2762250"/>
                  </a:lnTo>
                  <a:lnTo>
                    <a:pt x="0" y="2762250"/>
                  </a:lnTo>
                  <a:close/>
                </a:path>
              </a:pathLst>
            </a:custGeom>
            <a:solidFill>
              <a:srgbClr val="D86F00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628775" y="5657850"/>
            <a:ext cx="14258925" cy="485775"/>
            <a:chOff x="0" y="0"/>
            <a:chExt cx="19011900" cy="6477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9011900" cy="647700"/>
            </a:xfrm>
            <a:custGeom>
              <a:avLst/>
              <a:gdLst/>
              <a:ahLst/>
              <a:cxnLst/>
              <a:rect r="r" b="b" t="t" l="l"/>
              <a:pathLst>
                <a:path h="647700" w="19011900">
                  <a:moveTo>
                    <a:pt x="0" y="0"/>
                  </a:moveTo>
                  <a:lnTo>
                    <a:pt x="19011900" y="0"/>
                  </a:lnTo>
                  <a:lnTo>
                    <a:pt x="19011900" y="647700"/>
                  </a:lnTo>
                  <a:lnTo>
                    <a:pt x="0" y="6477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1943" r="0" b="-521943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57150"/>
              <a:ext cx="19011900" cy="70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35"/>
                </a:lnSpc>
              </a:pPr>
              <a:r>
                <a:rPr lang="en-US" sz="2362" b="true">
                  <a:solidFill>
                    <a:srgbClr val="D86F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PILIHAN YANG JUJUR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628775" y="6257925"/>
            <a:ext cx="14258925" cy="985838"/>
            <a:chOff x="0" y="0"/>
            <a:chExt cx="19011900" cy="131445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9011900" cy="1314450"/>
            </a:xfrm>
            <a:custGeom>
              <a:avLst/>
              <a:gdLst/>
              <a:ahLst/>
              <a:cxnLst/>
              <a:rect r="r" b="b" t="t" l="l"/>
              <a:pathLst>
                <a:path h="1314450" w="19011900">
                  <a:moveTo>
                    <a:pt x="0" y="0"/>
                  </a:moveTo>
                  <a:lnTo>
                    <a:pt x="19011900" y="0"/>
                  </a:lnTo>
                  <a:lnTo>
                    <a:pt x="19011900" y="1314450"/>
                  </a:lnTo>
                  <a:lnTo>
                    <a:pt x="0" y="13144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1827" r="0" b="-231827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19011900" cy="1352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95"/>
                </a:lnSpc>
              </a:pPr>
              <a:r>
                <a:rPr lang="en-US" sz="1912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Gunakan 2021–2025 sebagai train dan 2026 sampai data terakhir sebagai partial-year OOS. Jangan menyebutnya full-year 2026. Seluruh 2026 baru dapat dievaluasi setelah data Desember tersedia.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857250" y="8143875"/>
            <a:ext cx="16573500" cy="828675"/>
            <a:chOff x="0" y="0"/>
            <a:chExt cx="22098000" cy="11049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2098000" cy="1104900"/>
            </a:xfrm>
            <a:custGeom>
              <a:avLst/>
              <a:gdLst/>
              <a:ahLst/>
              <a:cxnLst/>
              <a:rect r="r" b="b" t="t" l="l"/>
              <a:pathLst>
                <a:path h="110490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1104900"/>
                  </a:lnTo>
                  <a:lnTo>
                    <a:pt x="0" y="1104900"/>
                  </a:lnTo>
                  <a:close/>
                </a:path>
              </a:pathLst>
            </a:custGeom>
            <a:solidFill>
              <a:srgbClr val="BE5550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171575" y="8243888"/>
            <a:ext cx="15944850" cy="614362"/>
            <a:chOff x="0" y="0"/>
            <a:chExt cx="21259800" cy="81915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1259800" cy="819150"/>
            </a:xfrm>
            <a:custGeom>
              <a:avLst/>
              <a:gdLst/>
              <a:ahLst/>
              <a:cxnLst/>
              <a:rect r="r" b="b" t="t" l="l"/>
              <a:pathLst>
                <a:path h="819150" w="21259800">
                  <a:moveTo>
                    <a:pt x="0" y="0"/>
                  </a:moveTo>
                  <a:lnTo>
                    <a:pt x="21259800" y="0"/>
                  </a:lnTo>
                  <a:lnTo>
                    <a:pt x="21259800" y="819150"/>
                  </a:lnTo>
                  <a:lnTo>
                    <a:pt x="0" y="8191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5704" r="0" b="-455704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21259800" cy="857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65"/>
                </a:lnSpc>
              </a:pPr>
              <a:r>
                <a:rPr lang="en-US" sz="2137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Pertanyaan diskusi: apakah partial-2026 OOS cukup untuk submission Agustus?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571500"/>
            <a:chOff x="0" y="0"/>
            <a:chExt cx="24384000" cy="762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762000"/>
            </a:xfrm>
            <a:custGeom>
              <a:avLst/>
              <a:gdLst/>
              <a:ahLst/>
              <a:cxnLst/>
              <a:rect r="r" b="b" t="t" l="l"/>
              <a:pathLst>
                <a:path h="762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15574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100012"/>
            <a:ext cx="16573500" cy="357188"/>
            <a:chOff x="0" y="0"/>
            <a:chExt cx="22098000" cy="4762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098000" cy="476250"/>
            </a:xfrm>
            <a:custGeom>
              <a:avLst/>
              <a:gdLst/>
              <a:ahLst/>
              <a:cxnLst/>
              <a:rect r="r" b="b" t="t" l="l"/>
              <a:pathLst>
                <a:path h="47625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476250"/>
                  </a:lnTo>
                  <a:lnTo>
                    <a:pt x="0" y="476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4105" r="0" b="-85410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2098000" cy="504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755"/>
                </a:lnSpc>
              </a:pPr>
              <a:r>
                <a:rPr lang="en-US" sz="1462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MASALAH YANG PERLU DIBAHAS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57250" y="885825"/>
            <a:ext cx="16573500" cy="771525"/>
            <a:chOff x="0" y="0"/>
            <a:chExt cx="22098000" cy="10287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098000" cy="1028700"/>
            </a:xfrm>
            <a:custGeom>
              <a:avLst/>
              <a:gdLst/>
              <a:ahLst/>
              <a:cxnLst/>
              <a:rect r="r" b="b" t="t" l="l"/>
              <a:pathLst>
                <a:path h="102870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1028700"/>
                  </a:lnTo>
                  <a:lnTo>
                    <a:pt x="0" y="10287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8567" r="0" b="-368567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76200"/>
              <a:ext cx="22098000" cy="1104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sz="4050" b="true">
                  <a:solidFill>
                    <a:srgbClr val="1557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Ablation harus menjawab nilai tambah setiap kelompok informasi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7002125" y="9686925"/>
            <a:ext cx="500062" cy="257175"/>
            <a:chOff x="0" y="0"/>
            <a:chExt cx="666750" cy="3429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66750" cy="342900"/>
            </a:xfrm>
            <a:custGeom>
              <a:avLst/>
              <a:gdLst/>
              <a:ahLst/>
              <a:cxnLst/>
              <a:rect r="r" b="b" t="t" l="l"/>
              <a:pathLst>
                <a:path h="342900" w="666750">
                  <a:moveTo>
                    <a:pt x="0" y="0"/>
                  </a:moveTo>
                  <a:lnTo>
                    <a:pt x="666750" y="0"/>
                  </a:lnTo>
                  <a:lnTo>
                    <a:pt x="666750" y="342900"/>
                  </a:lnTo>
                  <a:lnTo>
                    <a:pt x="0" y="3429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984" t="0" r="-15984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66750" cy="361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85"/>
                </a:lnSpc>
              </a:pPr>
              <a:r>
                <a:rPr lang="en-US" sz="1237">
                  <a:solidFill>
                    <a:srgbClr val="77736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18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50106" y="1993106"/>
            <a:ext cx="1728788" cy="985838"/>
            <a:chOff x="0" y="0"/>
            <a:chExt cx="2305050" cy="13144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305050" cy="1314450"/>
            </a:xfrm>
            <a:custGeom>
              <a:avLst/>
              <a:gdLst/>
              <a:ahLst/>
              <a:cxnLst/>
              <a:rect r="r" b="b" t="t" l="l"/>
              <a:pathLst>
                <a:path h="1314450" w="2305050">
                  <a:moveTo>
                    <a:pt x="0" y="0"/>
                  </a:moveTo>
                  <a:lnTo>
                    <a:pt x="2305050" y="0"/>
                  </a:lnTo>
                  <a:lnTo>
                    <a:pt x="2305050" y="1314450"/>
                  </a:lnTo>
                  <a:lnTo>
                    <a:pt x="0" y="1314450"/>
                  </a:lnTo>
                  <a:close/>
                </a:path>
              </a:pathLst>
            </a:custGeom>
            <a:solidFill>
              <a:srgbClr val="155744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971550" y="2057400"/>
            <a:ext cx="1485900" cy="857250"/>
            <a:chOff x="0" y="0"/>
            <a:chExt cx="1981200" cy="1143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812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1981200">
                  <a:moveTo>
                    <a:pt x="0" y="0"/>
                  </a:moveTo>
                  <a:lnTo>
                    <a:pt x="1981200" y="0"/>
                  </a:lnTo>
                  <a:lnTo>
                    <a:pt x="1981200" y="1143000"/>
                  </a:lnTo>
                  <a:lnTo>
                    <a:pt x="0" y="1143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021" t="0" r="-24021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981200" cy="1181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Model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564606" y="1993106"/>
            <a:ext cx="6872288" cy="985838"/>
            <a:chOff x="0" y="0"/>
            <a:chExt cx="9163050" cy="13144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163050" cy="1314450"/>
            </a:xfrm>
            <a:custGeom>
              <a:avLst/>
              <a:gdLst/>
              <a:ahLst/>
              <a:cxnLst/>
              <a:rect r="r" b="b" t="t" l="l"/>
              <a:pathLst>
                <a:path h="1314450" w="9163050">
                  <a:moveTo>
                    <a:pt x="0" y="0"/>
                  </a:moveTo>
                  <a:lnTo>
                    <a:pt x="9163050" y="0"/>
                  </a:lnTo>
                  <a:lnTo>
                    <a:pt x="9163050" y="1314450"/>
                  </a:lnTo>
                  <a:lnTo>
                    <a:pt x="0" y="1314450"/>
                  </a:lnTo>
                  <a:close/>
                </a:path>
              </a:pathLst>
            </a:custGeom>
            <a:solidFill>
              <a:srgbClr val="155744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2686050" y="2057400"/>
            <a:ext cx="6629400" cy="857250"/>
            <a:chOff x="0" y="0"/>
            <a:chExt cx="8839200" cy="1143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8392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8839200">
                  <a:moveTo>
                    <a:pt x="0" y="0"/>
                  </a:moveTo>
                  <a:lnTo>
                    <a:pt x="8839200" y="0"/>
                  </a:lnTo>
                  <a:lnTo>
                    <a:pt x="8839200" y="1143000"/>
                  </a:lnTo>
                  <a:lnTo>
                    <a:pt x="0" y="1143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684" r="0" b="-100684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8839200" cy="1181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Isi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422606" y="1993106"/>
            <a:ext cx="8015288" cy="985838"/>
            <a:chOff x="0" y="0"/>
            <a:chExt cx="10687050" cy="13144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687050" cy="1314450"/>
            </a:xfrm>
            <a:custGeom>
              <a:avLst/>
              <a:gdLst/>
              <a:ahLst/>
              <a:cxnLst/>
              <a:rect r="r" b="b" t="t" l="l"/>
              <a:pathLst>
                <a:path h="1314450" w="10687050">
                  <a:moveTo>
                    <a:pt x="0" y="0"/>
                  </a:moveTo>
                  <a:lnTo>
                    <a:pt x="10687050" y="0"/>
                  </a:lnTo>
                  <a:lnTo>
                    <a:pt x="10687050" y="1314450"/>
                  </a:lnTo>
                  <a:lnTo>
                    <a:pt x="0" y="1314450"/>
                  </a:lnTo>
                  <a:close/>
                </a:path>
              </a:pathLst>
            </a:custGeom>
            <a:solidFill>
              <a:srgbClr val="155744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9544050" y="2057400"/>
            <a:ext cx="7772400" cy="857250"/>
            <a:chOff x="0" y="0"/>
            <a:chExt cx="10363200" cy="11430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3632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1143000"/>
                  </a:lnTo>
                  <a:lnTo>
                    <a:pt x="0" y="1143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6664" r="0" b="-126664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10363200" cy="1181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Pertanyaan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850106" y="2964656"/>
            <a:ext cx="1728788" cy="985838"/>
            <a:chOff x="0" y="0"/>
            <a:chExt cx="2305050" cy="131445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305050" cy="1314450"/>
            </a:xfrm>
            <a:custGeom>
              <a:avLst/>
              <a:gdLst/>
              <a:ahLst/>
              <a:cxnLst/>
              <a:rect r="r" b="b" t="t" l="l"/>
              <a:pathLst>
                <a:path h="1314450" w="2305050">
                  <a:moveTo>
                    <a:pt x="0" y="0"/>
                  </a:moveTo>
                  <a:lnTo>
                    <a:pt x="2305050" y="0"/>
                  </a:lnTo>
                  <a:lnTo>
                    <a:pt x="2305050" y="1314450"/>
                  </a:lnTo>
                  <a:lnTo>
                    <a:pt x="0" y="1314450"/>
                  </a:lnTo>
                  <a:close/>
                </a:path>
              </a:pathLst>
            </a:custGeom>
            <a:solidFill>
              <a:srgbClr val="F7F5F0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971550" y="3028950"/>
            <a:ext cx="1485900" cy="857250"/>
            <a:chOff x="0" y="0"/>
            <a:chExt cx="1981200" cy="11430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9812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1981200">
                  <a:moveTo>
                    <a:pt x="0" y="0"/>
                  </a:moveTo>
                  <a:lnTo>
                    <a:pt x="1981200" y="0"/>
                  </a:lnTo>
                  <a:lnTo>
                    <a:pt x="1981200" y="1143000"/>
                  </a:lnTo>
                  <a:lnTo>
                    <a:pt x="0" y="1143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021" t="0" r="-24021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1981200" cy="1181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B0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2564606" y="2964656"/>
            <a:ext cx="6872288" cy="985838"/>
            <a:chOff x="0" y="0"/>
            <a:chExt cx="9163050" cy="131445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163050" cy="1314450"/>
            </a:xfrm>
            <a:custGeom>
              <a:avLst/>
              <a:gdLst/>
              <a:ahLst/>
              <a:cxnLst/>
              <a:rect r="r" b="b" t="t" l="l"/>
              <a:pathLst>
                <a:path h="1314450" w="9163050">
                  <a:moveTo>
                    <a:pt x="0" y="0"/>
                  </a:moveTo>
                  <a:lnTo>
                    <a:pt x="9163050" y="0"/>
                  </a:lnTo>
                  <a:lnTo>
                    <a:pt x="9163050" y="1314450"/>
                  </a:lnTo>
                  <a:lnTo>
                    <a:pt x="0" y="1314450"/>
                  </a:lnTo>
                  <a:close/>
                </a:path>
              </a:pathLst>
            </a:custGeom>
            <a:solidFill>
              <a:srgbClr val="F7F5F0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2686050" y="3028950"/>
            <a:ext cx="6629400" cy="857250"/>
            <a:chOff x="0" y="0"/>
            <a:chExt cx="8839200" cy="11430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8392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8839200">
                  <a:moveTo>
                    <a:pt x="0" y="0"/>
                  </a:moveTo>
                  <a:lnTo>
                    <a:pt x="8839200" y="0"/>
                  </a:lnTo>
                  <a:lnTo>
                    <a:pt x="8839200" y="1143000"/>
                  </a:lnTo>
                  <a:lnTo>
                    <a:pt x="0" y="1143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684" r="0" b="-100684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8839200" cy="1181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Trend, seasonality, target L1–L2, kalender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422606" y="2964656"/>
            <a:ext cx="8015288" cy="985838"/>
            <a:chOff x="0" y="0"/>
            <a:chExt cx="10687050" cy="131445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687050" cy="1314450"/>
            </a:xfrm>
            <a:custGeom>
              <a:avLst/>
              <a:gdLst/>
              <a:ahLst/>
              <a:cxnLst/>
              <a:rect r="r" b="b" t="t" l="l"/>
              <a:pathLst>
                <a:path h="1314450" w="10687050">
                  <a:moveTo>
                    <a:pt x="0" y="0"/>
                  </a:moveTo>
                  <a:lnTo>
                    <a:pt x="10687050" y="0"/>
                  </a:lnTo>
                  <a:lnTo>
                    <a:pt x="10687050" y="1314450"/>
                  </a:lnTo>
                  <a:lnTo>
                    <a:pt x="0" y="1314450"/>
                  </a:lnTo>
                  <a:close/>
                </a:path>
              </a:pathLst>
            </a:custGeom>
            <a:solidFill>
              <a:srgbClr val="F7F5F0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9544050" y="3028950"/>
            <a:ext cx="7772400" cy="857250"/>
            <a:chOff x="0" y="0"/>
            <a:chExt cx="10363200" cy="11430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3632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1143000"/>
                  </a:lnTo>
                  <a:lnTo>
                    <a:pt x="0" y="1143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6664" r="0" b="-126664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10363200" cy="1181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Seberapa kuat baseline harga?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850106" y="3936206"/>
            <a:ext cx="1728788" cy="985838"/>
            <a:chOff x="0" y="0"/>
            <a:chExt cx="2305050" cy="131445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305050" cy="1314450"/>
            </a:xfrm>
            <a:custGeom>
              <a:avLst/>
              <a:gdLst/>
              <a:ahLst/>
              <a:cxnLst/>
              <a:rect r="r" b="b" t="t" l="l"/>
              <a:pathLst>
                <a:path h="1314450" w="2305050">
                  <a:moveTo>
                    <a:pt x="0" y="0"/>
                  </a:moveTo>
                  <a:lnTo>
                    <a:pt x="2305050" y="0"/>
                  </a:lnTo>
                  <a:lnTo>
                    <a:pt x="2305050" y="1314450"/>
                  </a:lnTo>
                  <a:lnTo>
                    <a:pt x="0" y="1314450"/>
                  </a:lnTo>
                  <a:close/>
                </a:path>
              </a:pathLst>
            </a:custGeom>
            <a:solidFill>
              <a:srgbClr val="ECE9E3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971550" y="4000500"/>
            <a:ext cx="1485900" cy="857250"/>
            <a:chOff x="0" y="0"/>
            <a:chExt cx="1981200" cy="11430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9812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1981200">
                  <a:moveTo>
                    <a:pt x="0" y="0"/>
                  </a:moveTo>
                  <a:lnTo>
                    <a:pt x="1981200" y="0"/>
                  </a:lnTo>
                  <a:lnTo>
                    <a:pt x="1981200" y="1143000"/>
                  </a:lnTo>
                  <a:lnTo>
                    <a:pt x="0" y="1143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021" t="0" r="-24021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1981200" cy="1181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B1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2564606" y="3936206"/>
            <a:ext cx="6872288" cy="985838"/>
            <a:chOff x="0" y="0"/>
            <a:chExt cx="9163050" cy="131445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9163050" cy="1314450"/>
            </a:xfrm>
            <a:custGeom>
              <a:avLst/>
              <a:gdLst/>
              <a:ahLst/>
              <a:cxnLst/>
              <a:rect r="r" b="b" t="t" l="l"/>
              <a:pathLst>
                <a:path h="1314450" w="9163050">
                  <a:moveTo>
                    <a:pt x="0" y="0"/>
                  </a:moveTo>
                  <a:lnTo>
                    <a:pt x="9163050" y="0"/>
                  </a:lnTo>
                  <a:lnTo>
                    <a:pt x="9163050" y="1314450"/>
                  </a:lnTo>
                  <a:lnTo>
                    <a:pt x="0" y="1314450"/>
                  </a:lnTo>
                  <a:close/>
                </a:path>
              </a:pathLst>
            </a:custGeom>
            <a:solidFill>
              <a:srgbClr val="ECE9E3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2686050" y="4000500"/>
            <a:ext cx="6629400" cy="857250"/>
            <a:chOff x="0" y="0"/>
            <a:chExt cx="8839200" cy="11430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8392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8839200">
                  <a:moveTo>
                    <a:pt x="0" y="0"/>
                  </a:moveTo>
                  <a:lnTo>
                    <a:pt x="8839200" y="0"/>
                  </a:lnTo>
                  <a:lnTo>
                    <a:pt x="8839200" y="1143000"/>
                  </a:lnTo>
                  <a:lnTo>
                    <a:pt x="0" y="1143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684" r="0" b="-100684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8839200" cy="1181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B0 + volume dan ketiadaan berita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422606" y="3936206"/>
            <a:ext cx="8015288" cy="985838"/>
            <a:chOff x="0" y="0"/>
            <a:chExt cx="10687050" cy="131445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687050" cy="1314450"/>
            </a:xfrm>
            <a:custGeom>
              <a:avLst/>
              <a:gdLst/>
              <a:ahLst/>
              <a:cxnLst/>
              <a:rect r="r" b="b" t="t" l="l"/>
              <a:pathLst>
                <a:path h="1314450" w="10687050">
                  <a:moveTo>
                    <a:pt x="0" y="0"/>
                  </a:moveTo>
                  <a:lnTo>
                    <a:pt x="10687050" y="0"/>
                  </a:lnTo>
                  <a:lnTo>
                    <a:pt x="10687050" y="1314450"/>
                  </a:lnTo>
                  <a:lnTo>
                    <a:pt x="0" y="1314450"/>
                  </a:lnTo>
                  <a:close/>
                </a:path>
              </a:pathLst>
            </a:custGeom>
            <a:solidFill>
              <a:srgbClr val="ECE9E3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9544050" y="4000500"/>
            <a:ext cx="7772400" cy="857250"/>
            <a:chOff x="0" y="0"/>
            <a:chExt cx="10363200" cy="11430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03632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1143000"/>
                  </a:lnTo>
                  <a:lnTo>
                    <a:pt x="0" y="1143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6664" r="0" b="-126664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10363200" cy="1181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Apakah coverage media membantu?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850106" y="4907756"/>
            <a:ext cx="1728788" cy="985838"/>
            <a:chOff x="0" y="0"/>
            <a:chExt cx="2305050" cy="131445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305050" cy="1314450"/>
            </a:xfrm>
            <a:custGeom>
              <a:avLst/>
              <a:gdLst/>
              <a:ahLst/>
              <a:cxnLst/>
              <a:rect r="r" b="b" t="t" l="l"/>
              <a:pathLst>
                <a:path h="1314450" w="2305050">
                  <a:moveTo>
                    <a:pt x="0" y="0"/>
                  </a:moveTo>
                  <a:lnTo>
                    <a:pt x="2305050" y="0"/>
                  </a:lnTo>
                  <a:lnTo>
                    <a:pt x="2305050" y="1314450"/>
                  </a:lnTo>
                  <a:lnTo>
                    <a:pt x="0" y="1314450"/>
                  </a:lnTo>
                  <a:close/>
                </a:path>
              </a:pathLst>
            </a:custGeom>
            <a:solidFill>
              <a:srgbClr val="F7F5F0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971550" y="4972050"/>
            <a:ext cx="1485900" cy="857250"/>
            <a:chOff x="0" y="0"/>
            <a:chExt cx="1981200" cy="11430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9812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1981200">
                  <a:moveTo>
                    <a:pt x="0" y="0"/>
                  </a:moveTo>
                  <a:lnTo>
                    <a:pt x="1981200" y="0"/>
                  </a:lnTo>
                  <a:lnTo>
                    <a:pt x="1981200" y="1143000"/>
                  </a:lnTo>
                  <a:lnTo>
                    <a:pt x="0" y="1143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021" t="0" r="-24021" b="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1981200" cy="1181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B2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2564606" y="4907756"/>
            <a:ext cx="6872288" cy="985838"/>
            <a:chOff x="0" y="0"/>
            <a:chExt cx="9163050" cy="131445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9163050" cy="1314450"/>
            </a:xfrm>
            <a:custGeom>
              <a:avLst/>
              <a:gdLst/>
              <a:ahLst/>
              <a:cxnLst/>
              <a:rect r="r" b="b" t="t" l="l"/>
              <a:pathLst>
                <a:path h="1314450" w="9163050">
                  <a:moveTo>
                    <a:pt x="0" y="0"/>
                  </a:moveTo>
                  <a:lnTo>
                    <a:pt x="9163050" y="0"/>
                  </a:lnTo>
                  <a:lnTo>
                    <a:pt x="9163050" y="1314450"/>
                  </a:lnTo>
                  <a:lnTo>
                    <a:pt x="0" y="1314450"/>
                  </a:lnTo>
                  <a:close/>
                </a:path>
              </a:pathLst>
            </a:custGeom>
            <a:solidFill>
              <a:srgbClr val="F7F5F0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65" id="65"/>
          <p:cNvGrpSpPr/>
          <p:nvPr/>
        </p:nvGrpSpPr>
        <p:grpSpPr>
          <a:xfrm rot="0">
            <a:off x="2686050" y="4972050"/>
            <a:ext cx="6629400" cy="857250"/>
            <a:chOff x="0" y="0"/>
            <a:chExt cx="8839200" cy="11430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88392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8839200">
                  <a:moveTo>
                    <a:pt x="0" y="0"/>
                  </a:moveTo>
                  <a:lnTo>
                    <a:pt x="8839200" y="0"/>
                  </a:lnTo>
                  <a:lnTo>
                    <a:pt x="8839200" y="1143000"/>
                  </a:lnTo>
                  <a:lnTo>
                    <a:pt x="0" y="1143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684" r="0" b="-100684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8839200" cy="1181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B1 + isi berita Type A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9422606" y="4907756"/>
            <a:ext cx="8015288" cy="985838"/>
            <a:chOff x="0" y="0"/>
            <a:chExt cx="10687050" cy="131445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0687050" cy="1314450"/>
            </a:xfrm>
            <a:custGeom>
              <a:avLst/>
              <a:gdLst/>
              <a:ahLst/>
              <a:cxnLst/>
              <a:rect r="r" b="b" t="t" l="l"/>
              <a:pathLst>
                <a:path h="1314450" w="10687050">
                  <a:moveTo>
                    <a:pt x="0" y="0"/>
                  </a:moveTo>
                  <a:lnTo>
                    <a:pt x="10687050" y="0"/>
                  </a:lnTo>
                  <a:lnTo>
                    <a:pt x="10687050" y="1314450"/>
                  </a:lnTo>
                  <a:lnTo>
                    <a:pt x="0" y="1314450"/>
                  </a:lnTo>
                  <a:close/>
                </a:path>
              </a:pathLst>
            </a:custGeom>
            <a:solidFill>
              <a:srgbClr val="F7F5F0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70" id="70"/>
          <p:cNvGrpSpPr/>
          <p:nvPr/>
        </p:nvGrpSpPr>
        <p:grpSpPr>
          <a:xfrm rot="0">
            <a:off x="9544050" y="4972050"/>
            <a:ext cx="7772400" cy="857250"/>
            <a:chOff x="0" y="0"/>
            <a:chExt cx="10363200" cy="114300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03632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1143000"/>
                  </a:lnTo>
                  <a:lnTo>
                    <a:pt x="0" y="1143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6664" r="0" b="-126664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10363200" cy="1181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Apakah isi berita menambah forecast?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850106" y="5879306"/>
            <a:ext cx="1728788" cy="985838"/>
            <a:chOff x="0" y="0"/>
            <a:chExt cx="2305050" cy="131445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2305050" cy="1314450"/>
            </a:xfrm>
            <a:custGeom>
              <a:avLst/>
              <a:gdLst/>
              <a:ahLst/>
              <a:cxnLst/>
              <a:rect r="r" b="b" t="t" l="l"/>
              <a:pathLst>
                <a:path h="1314450" w="2305050">
                  <a:moveTo>
                    <a:pt x="0" y="0"/>
                  </a:moveTo>
                  <a:lnTo>
                    <a:pt x="2305050" y="0"/>
                  </a:lnTo>
                  <a:lnTo>
                    <a:pt x="2305050" y="1314450"/>
                  </a:lnTo>
                  <a:lnTo>
                    <a:pt x="0" y="1314450"/>
                  </a:lnTo>
                  <a:close/>
                </a:path>
              </a:pathLst>
            </a:custGeom>
            <a:solidFill>
              <a:srgbClr val="ECE9E3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75" id="75"/>
          <p:cNvGrpSpPr/>
          <p:nvPr/>
        </p:nvGrpSpPr>
        <p:grpSpPr>
          <a:xfrm rot="0">
            <a:off x="971550" y="5943600"/>
            <a:ext cx="1485900" cy="857250"/>
            <a:chOff x="0" y="0"/>
            <a:chExt cx="1981200" cy="114300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9812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1981200">
                  <a:moveTo>
                    <a:pt x="0" y="0"/>
                  </a:moveTo>
                  <a:lnTo>
                    <a:pt x="1981200" y="0"/>
                  </a:lnTo>
                  <a:lnTo>
                    <a:pt x="1981200" y="1143000"/>
                  </a:lnTo>
                  <a:lnTo>
                    <a:pt x="0" y="1143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021" t="0" r="-24021" b="0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38100"/>
              <a:ext cx="1981200" cy="1181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B3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2564606" y="5879306"/>
            <a:ext cx="6872288" cy="985838"/>
            <a:chOff x="0" y="0"/>
            <a:chExt cx="9163050" cy="131445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9163050" cy="1314450"/>
            </a:xfrm>
            <a:custGeom>
              <a:avLst/>
              <a:gdLst/>
              <a:ahLst/>
              <a:cxnLst/>
              <a:rect r="r" b="b" t="t" l="l"/>
              <a:pathLst>
                <a:path h="1314450" w="9163050">
                  <a:moveTo>
                    <a:pt x="0" y="0"/>
                  </a:moveTo>
                  <a:lnTo>
                    <a:pt x="9163050" y="0"/>
                  </a:lnTo>
                  <a:lnTo>
                    <a:pt x="9163050" y="1314450"/>
                  </a:lnTo>
                  <a:lnTo>
                    <a:pt x="0" y="1314450"/>
                  </a:lnTo>
                  <a:close/>
                </a:path>
              </a:pathLst>
            </a:custGeom>
            <a:solidFill>
              <a:srgbClr val="ECE9E3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80" id="80"/>
          <p:cNvGrpSpPr/>
          <p:nvPr/>
        </p:nvGrpSpPr>
        <p:grpSpPr>
          <a:xfrm rot="0">
            <a:off x="2686050" y="5943600"/>
            <a:ext cx="6629400" cy="857250"/>
            <a:chOff x="0" y="0"/>
            <a:chExt cx="8839200" cy="114300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88392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8839200">
                  <a:moveTo>
                    <a:pt x="0" y="0"/>
                  </a:moveTo>
                  <a:lnTo>
                    <a:pt x="8839200" y="0"/>
                  </a:lnTo>
                  <a:lnTo>
                    <a:pt x="8839200" y="1143000"/>
                  </a:lnTo>
                  <a:lnTo>
                    <a:pt x="0" y="1143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684" r="0" b="-100684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8839200" cy="1181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B0 + hujan dan VHI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9422606" y="5879306"/>
            <a:ext cx="8015288" cy="985838"/>
            <a:chOff x="0" y="0"/>
            <a:chExt cx="10687050" cy="131445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0687050" cy="1314450"/>
            </a:xfrm>
            <a:custGeom>
              <a:avLst/>
              <a:gdLst/>
              <a:ahLst/>
              <a:cxnLst/>
              <a:rect r="r" b="b" t="t" l="l"/>
              <a:pathLst>
                <a:path h="1314450" w="10687050">
                  <a:moveTo>
                    <a:pt x="0" y="0"/>
                  </a:moveTo>
                  <a:lnTo>
                    <a:pt x="10687050" y="0"/>
                  </a:lnTo>
                  <a:lnTo>
                    <a:pt x="10687050" y="1314450"/>
                  </a:lnTo>
                  <a:lnTo>
                    <a:pt x="0" y="1314450"/>
                  </a:lnTo>
                  <a:close/>
                </a:path>
              </a:pathLst>
            </a:custGeom>
            <a:solidFill>
              <a:srgbClr val="ECE9E3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85" id="85"/>
          <p:cNvGrpSpPr/>
          <p:nvPr/>
        </p:nvGrpSpPr>
        <p:grpSpPr>
          <a:xfrm rot="0">
            <a:off x="9544050" y="5943600"/>
            <a:ext cx="7772400" cy="857250"/>
            <a:chOff x="0" y="0"/>
            <a:chExt cx="10363200" cy="114300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103632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1143000"/>
                  </a:lnTo>
                  <a:lnTo>
                    <a:pt x="0" y="1143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6664" r="0" b="-126664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38100"/>
              <a:ext cx="10363200" cy="1181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Apakah data fisik membantu?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850106" y="6850856"/>
            <a:ext cx="1728788" cy="985838"/>
            <a:chOff x="0" y="0"/>
            <a:chExt cx="2305050" cy="131445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2305050" cy="1314450"/>
            </a:xfrm>
            <a:custGeom>
              <a:avLst/>
              <a:gdLst/>
              <a:ahLst/>
              <a:cxnLst/>
              <a:rect r="r" b="b" t="t" l="l"/>
              <a:pathLst>
                <a:path h="1314450" w="2305050">
                  <a:moveTo>
                    <a:pt x="0" y="0"/>
                  </a:moveTo>
                  <a:lnTo>
                    <a:pt x="2305050" y="0"/>
                  </a:lnTo>
                  <a:lnTo>
                    <a:pt x="2305050" y="1314450"/>
                  </a:lnTo>
                  <a:lnTo>
                    <a:pt x="0" y="1314450"/>
                  </a:lnTo>
                  <a:close/>
                </a:path>
              </a:pathLst>
            </a:custGeom>
            <a:solidFill>
              <a:srgbClr val="F7F5F0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90" id="90"/>
          <p:cNvGrpSpPr/>
          <p:nvPr/>
        </p:nvGrpSpPr>
        <p:grpSpPr>
          <a:xfrm rot="0">
            <a:off x="971550" y="6915150"/>
            <a:ext cx="1485900" cy="857250"/>
            <a:chOff x="0" y="0"/>
            <a:chExt cx="1981200" cy="114300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9812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1981200">
                  <a:moveTo>
                    <a:pt x="0" y="0"/>
                  </a:moveTo>
                  <a:lnTo>
                    <a:pt x="1981200" y="0"/>
                  </a:lnTo>
                  <a:lnTo>
                    <a:pt x="1981200" y="1143000"/>
                  </a:lnTo>
                  <a:lnTo>
                    <a:pt x="0" y="1143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021" t="0" r="-24021" b="0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38100"/>
              <a:ext cx="1981200" cy="1181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B4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2564606" y="6850856"/>
            <a:ext cx="6872288" cy="985838"/>
            <a:chOff x="0" y="0"/>
            <a:chExt cx="9163050" cy="131445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9163050" cy="1314450"/>
            </a:xfrm>
            <a:custGeom>
              <a:avLst/>
              <a:gdLst/>
              <a:ahLst/>
              <a:cxnLst/>
              <a:rect r="r" b="b" t="t" l="l"/>
              <a:pathLst>
                <a:path h="1314450" w="9163050">
                  <a:moveTo>
                    <a:pt x="0" y="0"/>
                  </a:moveTo>
                  <a:lnTo>
                    <a:pt x="9163050" y="0"/>
                  </a:lnTo>
                  <a:lnTo>
                    <a:pt x="9163050" y="1314450"/>
                  </a:lnTo>
                  <a:lnTo>
                    <a:pt x="0" y="1314450"/>
                  </a:lnTo>
                  <a:close/>
                </a:path>
              </a:pathLst>
            </a:custGeom>
            <a:solidFill>
              <a:srgbClr val="F7F5F0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95" id="95"/>
          <p:cNvGrpSpPr/>
          <p:nvPr/>
        </p:nvGrpSpPr>
        <p:grpSpPr>
          <a:xfrm rot="0">
            <a:off x="2686050" y="6915150"/>
            <a:ext cx="6629400" cy="857250"/>
            <a:chOff x="0" y="0"/>
            <a:chExt cx="8839200" cy="114300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88392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8839200">
                  <a:moveTo>
                    <a:pt x="0" y="0"/>
                  </a:moveTo>
                  <a:lnTo>
                    <a:pt x="8839200" y="0"/>
                  </a:lnTo>
                  <a:lnTo>
                    <a:pt x="8839200" y="1143000"/>
                  </a:lnTo>
                  <a:lnTo>
                    <a:pt x="0" y="1143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684" r="0" b="-100684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38100"/>
              <a:ext cx="8839200" cy="1181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B2 + hujan dan VHI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9422606" y="6850856"/>
            <a:ext cx="8015288" cy="985838"/>
            <a:chOff x="0" y="0"/>
            <a:chExt cx="10687050" cy="131445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10687050" cy="1314450"/>
            </a:xfrm>
            <a:custGeom>
              <a:avLst/>
              <a:gdLst/>
              <a:ahLst/>
              <a:cxnLst/>
              <a:rect r="r" b="b" t="t" l="l"/>
              <a:pathLst>
                <a:path h="1314450" w="10687050">
                  <a:moveTo>
                    <a:pt x="0" y="0"/>
                  </a:moveTo>
                  <a:lnTo>
                    <a:pt x="10687050" y="0"/>
                  </a:lnTo>
                  <a:lnTo>
                    <a:pt x="10687050" y="1314450"/>
                  </a:lnTo>
                  <a:lnTo>
                    <a:pt x="0" y="1314450"/>
                  </a:lnTo>
                  <a:close/>
                </a:path>
              </a:pathLst>
            </a:custGeom>
            <a:solidFill>
              <a:srgbClr val="F7F5F0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100" id="100"/>
          <p:cNvGrpSpPr/>
          <p:nvPr/>
        </p:nvGrpSpPr>
        <p:grpSpPr>
          <a:xfrm rot="0">
            <a:off x="9544050" y="6915150"/>
            <a:ext cx="7772400" cy="857250"/>
            <a:chOff x="0" y="0"/>
            <a:chExt cx="10363200" cy="114300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103632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10363200">
                  <a:moveTo>
                    <a:pt x="0" y="0"/>
                  </a:moveTo>
                  <a:lnTo>
                    <a:pt x="10363200" y="0"/>
                  </a:lnTo>
                  <a:lnTo>
                    <a:pt x="10363200" y="1143000"/>
                  </a:lnTo>
                  <a:lnTo>
                    <a:pt x="0" y="1143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6664" r="0" b="-126664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38100"/>
              <a:ext cx="10363200" cy="1181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Apakah kombinasi penuh paling stabil?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857250" y="8143875"/>
            <a:ext cx="16573500" cy="828675"/>
            <a:chOff x="0" y="0"/>
            <a:chExt cx="22098000" cy="1104900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22098000" cy="1104900"/>
            </a:xfrm>
            <a:custGeom>
              <a:avLst/>
              <a:gdLst/>
              <a:ahLst/>
              <a:cxnLst/>
              <a:rect r="r" b="b" t="t" l="l"/>
              <a:pathLst>
                <a:path h="110490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1104900"/>
                  </a:lnTo>
                  <a:lnTo>
                    <a:pt x="0" y="1104900"/>
                  </a:lnTo>
                  <a:close/>
                </a:path>
              </a:pathLst>
            </a:custGeom>
            <a:solidFill>
              <a:srgbClr val="D86F00"/>
            </a:solidFill>
          </p:spPr>
        </p:sp>
      </p:grpSp>
      <p:grpSp>
        <p:nvGrpSpPr>
          <p:cNvPr name="Group 105" id="105"/>
          <p:cNvGrpSpPr/>
          <p:nvPr/>
        </p:nvGrpSpPr>
        <p:grpSpPr>
          <a:xfrm rot="0">
            <a:off x="1171575" y="8243888"/>
            <a:ext cx="15944850" cy="614362"/>
            <a:chOff x="0" y="0"/>
            <a:chExt cx="21259800" cy="819150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21259800" cy="819150"/>
            </a:xfrm>
            <a:custGeom>
              <a:avLst/>
              <a:gdLst/>
              <a:ahLst/>
              <a:cxnLst/>
              <a:rect r="r" b="b" t="t" l="l"/>
              <a:pathLst>
                <a:path h="819150" w="21259800">
                  <a:moveTo>
                    <a:pt x="0" y="0"/>
                  </a:moveTo>
                  <a:lnTo>
                    <a:pt x="21259800" y="0"/>
                  </a:lnTo>
                  <a:lnTo>
                    <a:pt x="21259800" y="819150"/>
                  </a:lnTo>
                  <a:lnTo>
                    <a:pt x="0" y="8191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5704" r="0" b="-455704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38100"/>
              <a:ext cx="21259800" cy="857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65"/>
                </a:lnSpc>
              </a:pPr>
              <a:r>
                <a:rPr lang="en-US" sz="2137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Perbandingan utama: B2 versus B1—isi berita di luar sekadar banyaknya berita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571500"/>
            <a:chOff x="0" y="0"/>
            <a:chExt cx="24384000" cy="762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762000"/>
            </a:xfrm>
            <a:custGeom>
              <a:avLst/>
              <a:gdLst/>
              <a:ahLst/>
              <a:cxnLst/>
              <a:rect r="r" b="b" t="t" l="l"/>
              <a:pathLst>
                <a:path h="762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15574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100012"/>
            <a:ext cx="16573500" cy="357188"/>
            <a:chOff x="0" y="0"/>
            <a:chExt cx="22098000" cy="4762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098000" cy="476250"/>
            </a:xfrm>
            <a:custGeom>
              <a:avLst/>
              <a:gdLst/>
              <a:ahLst/>
              <a:cxnLst/>
              <a:rect r="r" b="b" t="t" l="l"/>
              <a:pathLst>
                <a:path h="47625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476250"/>
                  </a:lnTo>
                  <a:lnTo>
                    <a:pt x="0" y="476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4105" r="0" b="-85410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2098000" cy="504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755"/>
                </a:lnSpc>
              </a:pPr>
              <a:r>
                <a:rPr lang="en-US" sz="1462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MASALAH YANG PERLU DIBAHAS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57250" y="885825"/>
            <a:ext cx="16573500" cy="771525"/>
            <a:chOff x="0" y="0"/>
            <a:chExt cx="22098000" cy="10287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098000" cy="1028700"/>
            </a:xfrm>
            <a:custGeom>
              <a:avLst/>
              <a:gdLst/>
              <a:ahLst/>
              <a:cxnLst/>
              <a:rect r="r" b="b" t="t" l="l"/>
              <a:pathLst>
                <a:path h="102870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1028700"/>
                  </a:lnTo>
                  <a:lnTo>
                    <a:pt x="0" y="10287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8567" r="0" b="-368567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76200"/>
              <a:ext cx="22098000" cy="1104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sz="4050" b="true">
                  <a:solidFill>
                    <a:srgbClr val="1557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Pembagian penulisan perlu mengikuti pekerjaan dan keahlian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7002125" y="9686925"/>
            <a:ext cx="500062" cy="257175"/>
            <a:chOff x="0" y="0"/>
            <a:chExt cx="666750" cy="3429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66750" cy="342900"/>
            </a:xfrm>
            <a:custGeom>
              <a:avLst/>
              <a:gdLst/>
              <a:ahLst/>
              <a:cxnLst/>
              <a:rect r="r" b="b" t="t" l="l"/>
              <a:pathLst>
                <a:path h="342900" w="666750">
                  <a:moveTo>
                    <a:pt x="0" y="0"/>
                  </a:moveTo>
                  <a:lnTo>
                    <a:pt x="666750" y="0"/>
                  </a:lnTo>
                  <a:lnTo>
                    <a:pt x="666750" y="342900"/>
                  </a:lnTo>
                  <a:lnTo>
                    <a:pt x="0" y="3429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984" t="0" r="-15984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66750" cy="361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85"/>
                </a:lnSpc>
              </a:pPr>
              <a:r>
                <a:rPr lang="en-US" sz="1237">
                  <a:solidFill>
                    <a:srgbClr val="77736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19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50106" y="2135981"/>
            <a:ext cx="5014912" cy="5157788"/>
            <a:chOff x="0" y="0"/>
            <a:chExt cx="6686550" cy="68770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686550" cy="6877050"/>
            </a:xfrm>
            <a:custGeom>
              <a:avLst/>
              <a:gdLst/>
              <a:ahLst/>
              <a:cxnLst/>
              <a:rect r="r" b="b" t="t" l="l"/>
              <a:pathLst>
                <a:path h="6877050" w="6686550">
                  <a:moveTo>
                    <a:pt x="0" y="0"/>
                  </a:moveTo>
                  <a:lnTo>
                    <a:pt x="6686550" y="0"/>
                  </a:lnTo>
                  <a:lnTo>
                    <a:pt x="6686550" y="6877050"/>
                  </a:lnTo>
                  <a:lnTo>
                    <a:pt x="0" y="6877050"/>
                  </a:lnTo>
                  <a:close/>
                </a:path>
              </a:pathLst>
            </a:custGeom>
            <a:solidFill>
              <a:srgbClr val="ECE9E3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857250" y="2143125"/>
            <a:ext cx="85725" cy="5143500"/>
            <a:chOff x="0" y="0"/>
            <a:chExt cx="114300" cy="6858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43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114300">
                  <a:moveTo>
                    <a:pt x="0" y="0"/>
                  </a:moveTo>
                  <a:lnTo>
                    <a:pt x="114300" y="0"/>
                  </a:lnTo>
                  <a:lnTo>
                    <a:pt x="1143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155744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00150" y="2371725"/>
            <a:ext cx="4400550" cy="485775"/>
            <a:chOff x="0" y="0"/>
            <a:chExt cx="5867400" cy="6477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867400" cy="647700"/>
            </a:xfrm>
            <a:custGeom>
              <a:avLst/>
              <a:gdLst/>
              <a:ahLst/>
              <a:cxnLst/>
              <a:rect r="r" b="b" t="t" l="l"/>
              <a:pathLst>
                <a:path h="647700" w="5867400">
                  <a:moveTo>
                    <a:pt x="0" y="0"/>
                  </a:moveTo>
                  <a:lnTo>
                    <a:pt x="5867400" y="0"/>
                  </a:lnTo>
                  <a:lnTo>
                    <a:pt x="5867400" y="647700"/>
                  </a:lnTo>
                  <a:lnTo>
                    <a:pt x="0" y="6477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6511" r="0" b="-126511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5867400" cy="70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35"/>
                </a:lnSpc>
              </a:pPr>
              <a:r>
                <a:rPr lang="en-US" sz="2362" b="true">
                  <a:solidFill>
                    <a:srgbClr val="1557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HENDRA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00150" y="2971800"/>
            <a:ext cx="4400550" cy="4057650"/>
            <a:chOff x="0" y="0"/>
            <a:chExt cx="5867400" cy="54102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867400" cy="5410200"/>
            </a:xfrm>
            <a:custGeom>
              <a:avLst/>
              <a:gdLst/>
              <a:ahLst/>
              <a:cxnLst/>
              <a:rect r="r" b="b" t="t" l="l"/>
              <a:pathLst>
                <a:path h="5410200" w="5867400">
                  <a:moveTo>
                    <a:pt x="0" y="0"/>
                  </a:moveTo>
                  <a:lnTo>
                    <a:pt x="5867400" y="0"/>
                  </a:lnTo>
                  <a:lnTo>
                    <a:pt x="5867400" y="5410200"/>
                  </a:lnTo>
                  <a:lnTo>
                    <a:pt x="0" y="5410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8305" t="0" r="-68305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5867400" cy="5448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95"/>
                </a:lnSpc>
              </a:pPr>
              <a:r>
                <a:rPr lang="en-US" sz="1912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Memperkuat Bab 1–3, framing kontribusi, positioning literatur, dan standar penulisan Q1.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636544" y="2135981"/>
            <a:ext cx="5014912" cy="5157788"/>
            <a:chOff x="0" y="0"/>
            <a:chExt cx="6686550" cy="68770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686550" cy="6877050"/>
            </a:xfrm>
            <a:custGeom>
              <a:avLst/>
              <a:gdLst/>
              <a:ahLst/>
              <a:cxnLst/>
              <a:rect r="r" b="b" t="t" l="l"/>
              <a:pathLst>
                <a:path h="6877050" w="6686550">
                  <a:moveTo>
                    <a:pt x="0" y="0"/>
                  </a:moveTo>
                  <a:lnTo>
                    <a:pt x="6686550" y="0"/>
                  </a:lnTo>
                  <a:lnTo>
                    <a:pt x="6686550" y="6877050"/>
                  </a:lnTo>
                  <a:lnTo>
                    <a:pt x="0" y="6877050"/>
                  </a:lnTo>
                  <a:close/>
                </a:path>
              </a:pathLst>
            </a:custGeom>
            <a:solidFill>
              <a:srgbClr val="ECE9E3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6643688" y="2143125"/>
            <a:ext cx="85725" cy="5143500"/>
            <a:chOff x="0" y="0"/>
            <a:chExt cx="114300" cy="68580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43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114300">
                  <a:moveTo>
                    <a:pt x="0" y="0"/>
                  </a:moveTo>
                  <a:lnTo>
                    <a:pt x="114300" y="0"/>
                  </a:lnTo>
                  <a:lnTo>
                    <a:pt x="1143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D86F00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6986588" y="2371725"/>
            <a:ext cx="4400550" cy="485775"/>
            <a:chOff x="0" y="0"/>
            <a:chExt cx="5867400" cy="6477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867400" cy="647700"/>
            </a:xfrm>
            <a:custGeom>
              <a:avLst/>
              <a:gdLst/>
              <a:ahLst/>
              <a:cxnLst/>
              <a:rect r="r" b="b" t="t" l="l"/>
              <a:pathLst>
                <a:path h="647700" w="5867400">
                  <a:moveTo>
                    <a:pt x="0" y="0"/>
                  </a:moveTo>
                  <a:lnTo>
                    <a:pt x="5867400" y="0"/>
                  </a:lnTo>
                  <a:lnTo>
                    <a:pt x="5867400" y="647700"/>
                  </a:lnTo>
                  <a:lnTo>
                    <a:pt x="0" y="6477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6511" r="0" b="-126511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5867400" cy="70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35"/>
                </a:lnSpc>
              </a:pPr>
              <a:r>
                <a:rPr lang="en-US" sz="2362" b="true">
                  <a:solidFill>
                    <a:srgbClr val="D86F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DUTA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6986588" y="2971800"/>
            <a:ext cx="4400550" cy="4057650"/>
            <a:chOff x="0" y="0"/>
            <a:chExt cx="5867400" cy="54102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867400" cy="5410200"/>
            </a:xfrm>
            <a:custGeom>
              <a:avLst/>
              <a:gdLst/>
              <a:ahLst/>
              <a:cxnLst/>
              <a:rect r="r" b="b" t="t" l="l"/>
              <a:pathLst>
                <a:path h="5410200" w="5867400">
                  <a:moveTo>
                    <a:pt x="0" y="0"/>
                  </a:moveTo>
                  <a:lnTo>
                    <a:pt x="5867400" y="0"/>
                  </a:lnTo>
                  <a:lnTo>
                    <a:pt x="5867400" y="5410200"/>
                  </a:lnTo>
                  <a:lnTo>
                    <a:pt x="0" y="5410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8305" t="0" r="-68305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5867400" cy="5448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95"/>
                </a:lnSpc>
              </a:pPr>
              <a:r>
                <a:rPr lang="en-US" sz="1912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Membangun model, menjalankan evaluasi dan diagnostik, serta menulis hasil model pada Bab 4.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2422981" y="2135981"/>
            <a:ext cx="5014912" cy="5157788"/>
            <a:chOff x="0" y="0"/>
            <a:chExt cx="6686550" cy="687705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686550" cy="6877050"/>
            </a:xfrm>
            <a:custGeom>
              <a:avLst/>
              <a:gdLst/>
              <a:ahLst/>
              <a:cxnLst/>
              <a:rect r="r" b="b" t="t" l="l"/>
              <a:pathLst>
                <a:path h="6877050" w="6686550">
                  <a:moveTo>
                    <a:pt x="0" y="0"/>
                  </a:moveTo>
                  <a:lnTo>
                    <a:pt x="6686550" y="0"/>
                  </a:lnTo>
                  <a:lnTo>
                    <a:pt x="6686550" y="6877050"/>
                  </a:lnTo>
                  <a:lnTo>
                    <a:pt x="0" y="6877050"/>
                  </a:lnTo>
                  <a:close/>
                </a:path>
              </a:pathLst>
            </a:custGeom>
            <a:solidFill>
              <a:srgbClr val="ECE9E3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12430125" y="2143125"/>
            <a:ext cx="85725" cy="5143500"/>
            <a:chOff x="0" y="0"/>
            <a:chExt cx="114300" cy="68580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143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114300">
                  <a:moveTo>
                    <a:pt x="0" y="0"/>
                  </a:moveTo>
                  <a:lnTo>
                    <a:pt x="114300" y="0"/>
                  </a:lnTo>
                  <a:lnTo>
                    <a:pt x="1143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2D755C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2773025" y="2371725"/>
            <a:ext cx="4400550" cy="485775"/>
            <a:chOff x="0" y="0"/>
            <a:chExt cx="5867400" cy="6477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867400" cy="647700"/>
            </a:xfrm>
            <a:custGeom>
              <a:avLst/>
              <a:gdLst/>
              <a:ahLst/>
              <a:cxnLst/>
              <a:rect r="r" b="b" t="t" l="l"/>
              <a:pathLst>
                <a:path h="647700" w="5867400">
                  <a:moveTo>
                    <a:pt x="0" y="0"/>
                  </a:moveTo>
                  <a:lnTo>
                    <a:pt x="5867400" y="0"/>
                  </a:lnTo>
                  <a:lnTo>
                    <a:pt x="5867400" y="647700"/>
                  </a:lnTo>
                  <a:lnTo>
                    <a:pt x="0" y="6477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6511" r="0" b="-126511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57150"/>
              <a:ext cx="5867400" cy="70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35"/>
                </a:lnSpc>
              </a:pPr>
              <a:r>
                <a:rPr lang="en-US" sz="2362" b="true">
                  <a:solidFill>
                    <a:srgbClr val="2D75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ALWAN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2773025" y="2971800"/>
            <a:ext cx="4400550" cy="4057650"/>
            <a:chOff x="0" y="0"/>
            <a:chExt cx="5867400" cy="54102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867400" cy="5410200"/>
            </a:xfrm>
            <a:custGeom>
              <a:avLst/>
              <a:gdLst/>
              <a:ahLst/>
              <a:cxnLst/>
              <a:rect r="r" b="b" t="t" l="l"/>
              <a:pathLst>
                <a:path h="5410200" w="5867400">
                  <a:moveTo>
                    <a:pt x="0" y="0"/>
                  </a:moveTo>
                  <a:lnTo>
                    <a:pt x="5867400" y="0"/>
                  </a:lnTo>
                  <a:lnTo>
                    <a:pt x="5867400" y="5410200"/>
                  </a:lnTo>
                  <a:lnTo>
                    <a:pt x="0" y="5410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8305" t="0" r="-68305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5867400" cy="5448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95"/>
                </a:lnSpc>
              </a:pPr>
              <a:r>
                <a:rPr lang="en-US" sz="1912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Mengolah data, menjaga kualitas dan ledger fitur, serta menulis hasil data dan interpretasi pada Bab 4.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857250" y="8072438"/>
            <a:ext cx="16573500" cy="828675"/>
            <a:chOff x="0" y="0"/>
            <a:chExt cx="22098000" cy="11049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2098000" cy="1104900"/>
            </a:xfrm>
            <a:custGeom>
              <a:avLst/>
              <a:gdLst/>
              <a:ahLst/>
              <a:cxnLst/>
              <a:rect r="r" b="b" t="t" l="l"/>
              <a:pathLst>
                <a:path h="110490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1104900"/>
                  </a:lnTo>
                  <a:lnTo>
                    <a:pt x="0" y="1104900"/>
                  </a:lnTo>
                  <a:close/>
                </a:path>
              </a:pathLst>
            </a:custGeom>
            <a:solidFill>
              <a:srgbClr val="BE5550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171575" y="8172450"/>
            <a:ext cx="15944850" cy="614362"/>
            <a:chOff x="0" y="0"/>
            <a:chExt cx="21259800" cy="81915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1259800" cy="819150"/>
            </a:xfrm>
            <a:custGeom>
              <a:avLst/>
              <a:gdLst/>
              <a:ahLst/>
              <a:cxnLst/>
              <a:rect r="r" b="b" t="t" l="l"/>
              <a:pathLst>
                <a:path h="819150" w="21259800">
                  <a:moveTo>
                    <a:pt x="0" y="0"/>
                  </a:moveTo>
                  <a:lnTo>
                    <a:pt x="21259800" y="0"/>
                  </a:lnTo>
                  <a:lnTo>
                    <a:pt x="21259800" y="819150"/>
                  </a:lnTo>
                  <a:lnTo>
                    <a:pt x="0" y="8191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5704" r="0" b="-455704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21259800" cy="857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65"/>
                </a:lnSpc>
              </a:pPr>
              <a:r>
                <a:rPr lang="en-US" sz="2137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Yang masih perlu disepakati: urutan penulis dan corresponding reviewer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5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28725" y="3600450"/>
            <a:ext cx="628650" cy="42862"/>
            <a:chOff x="0" y="0"/>
            <a:chExt cx="838200" cy="571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38200" cy="57150"/>
            </a:xfrm>
            <a:custGeom>
              <a:avLst/>
              <a:gdLst/>
              <a:ahLst/>
              <a:cxnLst/>
              <a:rect r="r" b="b" t="t" l="l"/>
              <a:pathLst>
                <a:path h="57150" w="838200">
                  <a:moveTo>
                    <a:pt x="0" y="0"/>
                  </a:moveTo>
                  <a:lnTo>
                    <a:pt x="838200" y="0"/>
                  </a:lnTo>
                  <a:lnTo>
                    <a:pt x="8382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D86F0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28725" y="2928938"/>
            <a:ext cx="7143750" cy="428625"/>
            <a:chOff x="0" y="0"/>
            <a:chExt cx="9525000" cy="5715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525000" cy="571500"/>
            </a:xfrm>
            <a:custGeom>
              <a:avLst/>
              <a:gdLst/>
              <a:ahLst/>
              <a:cxnLst/>
              <a:rect r="r" b="b" t="t" l="l"/>
              <a:pathLst>
                <a:path h="571500" w="9525000">
                  <a:moveTo>
                    <a:pt x="0" y="0"/>
                  </a:moveTo>
                  <a:lnTo>
                    <a:pt x="9525000" y="0"/>
                  </a:lnTo>
                  <a:lnTo>
                    <a:pt x="9525000" y="571500"/>
                  </a:lnTo>
                  <a:lnTo>
                    <a:pt x="0" y="5715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9525000" cy="590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BAGIAN 3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28725" y="3857625"/>
            <a:ext cx="15430500" cy="1000125"/>
            <a:chOff x="0" y="0"/>
            <a:chExt cx="20574000" cy="13335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574000" cy="1333500"/>
            </a:xfrm>
            <a:custGeom>
              <a:avLst/>
              <a:gdLst/>
              <a:ahLst/>
              <a:cxnLst/>
              <a:rect r="r" b="b" t="t" l="l"/>
              <a:pathLst>
                <a:path h="1333500" w="20574000">
                  <a:moveTo>
                    <a:pt x="0" y="0"/>
                  </a:moveTo>
                  <a:lnTo>
                    <a:pt x="20574000" y="0"/>
                  </a:lnTo>
                  <a:lnTo>
                    <a:pt x="20574000" y="1333500"/>
                  </a:lnTo>
                  <a:lnTo>
                    <a:pt x="0" y="13335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0626" r="0" b="-250626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04775"/>
              <a:ext cx="20574000" cy="1438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940"/>
                </a:lnSpc>
              </a:pPr>
              <a:r>
                <a:rPr lang="en-US" sz="4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Apa yang perlu kita sepakati hari ini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28725" y="5000625"/>
            <a:ext cx="15144750" cy="785812"/>
            <a:chOff x="0" y="0"/>
            <a:chExt cx="20193000" cy="10477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193000" cy="1047750"/>
            </a:xfrm>
            <a:custGeom>
              <a:avLst/>
              <a:gdLst/>
              <a:ahLst/>
              <a:cxnLst/>
              <a:rect r="r" b="b" t="t" l="l"/>
              <a:pathLst>
                <a:path h="1047750" w="20193000">
                  <a:moveTo>
                    <a:pt x="0" y="0"/>
                  </a:moveTo>
                  <a:lnTo>
                    <a:pt x="20193000" y="0"/>
                  </a:lnTo>
                  <a:lnTo>
                    <a:pt x="20193000" y="1047750"/>
                  </a:lnTo>
                  <a:lnTo>
                    <a:pt x="0" y="10477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5529" r="0" b="-325529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0193000" cy="1085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65"/>
                </a:lnSpc>
              </a:pPr>
              <a:r>
                <a:rPr lang="en-US" sz="2137">
                  <a:solidFill>
                    <a:srgbClr val="C9D9D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Keputusan ilmiah, pembagian kerja, dan jadwal menuju 31 Agustus 2026.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571500"/>
            <a:chOff x="0" y="0"/>
            <a:chExt cx="24384000" cy="762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762000"/>
            </a:xfrm>
            <a:custGeom>
              <a:avLst/>
              <a:gdLst/>
              <a:ahLst/>
              <a:cxnLst/>
              <a:rect r="r" b="b" t="t" l="l"/>
              <a:pathLst>
                <a:path h="762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15574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100012"/>
            <a:ext cx="16573500" cy="357188"/>
            <a:chOff x="0" y="0"/>
            <a:chExt cx="22098000" cy="4762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098000" cy="476250"/>
            </a:xfrm>
            <a:custGeom>
              <a:avLst/>
              <a:gdLst/>
              <a:ahLst/>
              <a:cxnLst/>
              <a:rect r="r" b="b" t="t" l="l"/>
              <a:pathLst>
                <a:path h="47625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476250"/>
                  </a:lnTo>
                  <a:lnTo>
                    <a:pt x="0" y="476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4105" r="0" b="-85410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2098000" cy="504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755"/>
                </a:lnSpc>
              </a:pPr>
              <a:r>
                <a:rPr lang="en-US" sz="1462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HASIL YANG DISEPAKATI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57250" y="885825"/>
            <a:ext cx="16573500" cy="771525"/>
            <a:chOff x="0" y="0"/>
            <a:chExt cx="22098000" cy="10287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098000" cy="1028700"/>
            </a:xfrm>
            <a:custGeom>
              <a:avLst/>
              <a:gdLst/>
              <a:ahLst/>
              <a:cxnLst/>
              <a:rect r="r" b="b" t="t" l="l"/>
              <a:pathLst>
                <a:path h="102870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1028700"/>
                  </a:lnTo>
                  <a:lnTo>
                    <a:pt x="0" y="10287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8567" r="0" b="-368567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76200"/>
              <a:ext cx="22098000" cy="1104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sz="4050" b="true">
                  <a:solidFill>
                    <a:srgbClr val="1557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Beberapa keputusan ilmiah dapat langsung dibekukan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7002125" y="9686925"/>
            <a:ext cx="500062" cy="257175"/>
            <a:chOff x="0" y="0"/>
            <a:chExt cx="666750" cy="3429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66750" cy="342900"/>
            </a:xfrm>
            <a:custGeom>
              <a:avLst/>
              <a:gdLst/>
              <a:ahLst/>
              <a:cxnLst/>
              <a:rect r="r" b="b" t="t" l="l"/>
              <a:pathLst>
                <a:path h="342900" w="666750">
                  <a:moveTo>
                    <a:pt x="0" y="0"/>
                  </a:moveTo>
                  <a:lnTo>
                    <a:pt x="666750" y="0"/>
                  </a:lnTo>
                  <a:lnTo>
                    <a:pt x="666750" y="342900"/>
                  </a:lnTo>
                  <a:lnTo>
                    <a:pt x="0" y="3429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984" t="0" r="-15984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66750" cy="361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85"/>
                </a:lnSpc>
              </a:pPr>
              <a:r>
                <a:rPr lang="en-US" sz="1237">
                  <a:solidFill>
                    <a:srgbClr val="77736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50106" y="2064544"/>
            <a:ext cx="5014912" cy="914400"/>
            <a:chOff x="0" y="0"/>
            <a:chExt cx="6686550" cy="1219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68655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686550">
                  <a:moveTo>
                    <a:pt x="0" y="0"/>
                  </a:moveTo>
                  <a:lnTo>
                    <a:pt x="6686550" y="0"/>
                  </a:lnTo>
                  <a:lnTo>
                    <a:pt x="668655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155744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971550" y="2128838"/>
            <a:ext cx="4772025" cy="785812"/>
            <a:chOff x="0" y="0"/>
            <a:chExt cx="6362700" cy="10477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362700" cy="1047750"/>
            </a:xfrm>
            <a:custGeom>
              <a:avLst/>
              <a:gdLst/>
              <a:ahLst/>
              <a:cxnLst/>
              <a:rect r="r" b="b" t="t" l="l"/>
              <a:pathLst>
                <a:path h="1047750" w="6362700">
                  <a:moveTo>
                    <a:pt x="0" y="0"/>
                  </a:moveTo>
                  <a:lnTo>
                    <a:pt x="6362700" y="0"/>
                  </a:lnTo>
                  <a:lnTo>
                    <a:pt x="6362700" y="1047750"/>
                  </a:lnTo>
                  <a:lnTo>
                    <a:pt x="0" y="10477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327" r="0" b="-68327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6362700" cy="1085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Komponen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850731" y="2064544"/>
            <a:ext cx="8729662" cy="914400"/>
            <a:chOff x="0" y="0"/>
            <a:chExt cx="11639550" cy="12192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63955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1639550">
                  <a:moveTo>
                    <a:pt x="0" y="0"/>
                  </a:moveTo>
                  <a:lnTo>
                    <a:pt x="11639550" y="0"/>
                  </a:lnTo>
                  <a:lnTo>
                    <a:pt x="1163955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155744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5972175" y="2128838"/>
            <a:ext cx="8486775" cy="785812"/>
            <a:chOff x="0" y="0"/>
            <a:chExt cx="11315700" cy="10477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315700" cy="1047750"/>
            </a:xfrm>
            <a:custGeom>
              <a:avLst/>
              <a:gdLst/>
              <a:ahLst/>
              <a:cxnLst/>
              <a:rect r="r" b="b" t="t" l="l"/>
              <a:pathLst>
                <a:path h="1047750" w="11315700">
                  <a:moveTo>
                    <a:pt x="0" y="0"/>
                  </a:moveTo>
                  <a:lnTo>
                    <a:pt x="11315700" y="0"/>
                  </a:lnTo>
                  <a:lnTo>
                    <a:pt x="11315700" y="1047750"/>
                  </a:lnTo>
                  <a:lnTo>
                    <a:pt x="0" y="10477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0438" r="0" b="-160438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1315700" cy="1085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Keputusan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4566106" y="2064544"/>
            <a:ext cx="2871788" cy="914400"/>
            <a:chOff x="0" y="0"/>
            <a:chExt cx="3829050" cy="12192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829050" cy="1219200"/>
            </a:xfrm>
            <a:custGeom>
              <a:avLst/>
              <a:gdLst/>
              <a:ahLst/>
              <a:cxnLst/>
              <a:rect r="r" b="b" t="t" l="l"/>
              <a:pathLst>
                <a:path h="1219200" w="3829050">
                  <a:moveTo>
                    <a:pt x="0" y="0"/>
                  </a:moveTo>
                  <a:lnTo>
                    <a:pt x="3829050" y="0"/>
                  </a:lnTo>
                  <a:lnTo>
                    <a:pt x="382905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155744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4687550" y="2128838"/>
            <a:ext cx="2628900" cy="785812"/>
            <a:chOff x="0" y="0"/>
            <a:chExt cx="3505200" cy="104775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505200" cy="1047750"/>
            </a:xfrm>
            <a:custGeom>
              <a:avLst/>
              <a:gdLst/>
              <a:ahLst/>
              <a:cxnLst/>
              <a:rect r="r" b="b" t="t" l="l"/>
              <a:pathLst>
                <a:path h="1047750" w="3505200">
                  <a:moveTo>
                    <a:pt x="0" y="0"/>
                  </a:moveTo>
                  <a:lnTo>
                    <a:pt x="3505200" y="0"/>
                  </a:lnTo>
                  <a:lnTo>
                    <a:pt x="3505200" y="1047750"/>
                  </a:lnTo>
                  <a:lnTo>
                    <a:pt x="0" y="10477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186" r="0" b="-15186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3505200" cy="1085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Status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850106" y="2964656"/>
            <a:ext cx="5014912" cy="914400"/>
            <a:chOff x="0" y="0"/>
            <a:chExt cx="6686550" cy="12192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68655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686550">
                  <a:moveTo>
                    <a:pt x="0" y="0"/>
                  </a:moveTo>
                  <a:lnTo>
                    <a:pt x="6686550" y="0"/>
                  </a:lnTo>
                  <a:lnTo>
                    <a:pt x="668655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7F5F0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971550" y="3028950"/>
            <a:ext cx="4772025" cy="785812"/>
            <a:chOff x="0" y="0"/>
            <a:chExt cx="6362700" cy="104775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362700" cy="1047750"/>
            </a:xfrm>
            <a:custGeom>
              <a:avLst/>
              <a:gdLst/>
              <a:ahLst/>
              <a:cxnLst/>
              <a:rect r="r" b="b" t="t" l="l"/>
              <a:pathLst>
                <a:path h="1047750" w="6362700">
                  <a:moveTo>
                    <a:pt x="0" y="0"/>
                  </a:moveTo>
                  <a:lnTo>
                    <a:pt x="6362700" y="0"/>
                  </a:lnTo>
                  <a:lnTo>
                    <a:pt x="6362700" y="1047750"/>
                  </a:lnTo>
                  <a:lnTo>
                    <a:pt x="0" y="10477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327" r="0" b="-68327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6362700" cy="1085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Target utama dataset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5850731" y="2964656"/>
            <a:ext cx="8729662" cy="914400"/>
            <a:chOff x="0" y="0"/>
            <a:chExt cx="11639550" cy="12192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163955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1639550">
                  <a:moveTo>
                    <a:pt x="0" y="0"/>
                  </a:moveTo>
                  <a:lnTo>
                    <a:pt x="11639550" y="0"/>
                  </a:lnTo>
                  <a:lnTo>
                    <a:pt x="1163955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7F5F0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5972175" y="3028950"/>
            <a:ext cx="8486775" cy="785812"/>
            <a:chOff x="0" y="0"/>
            <a:chExt cx="11315700" cy="104775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1315700" cy="1047750"/>
            </a:xfrm>
            <a:custGeom>
              <a:avLst/>
              <a:gdLst/>
              <a:ahLst/>
              <a:cxnLst/>
              <a:rect r="r" b="b" t="t" l="l"/>
              <a:pathLst>
                <a:path h="1047750" w="11315700">
                  <a:moveTo>
                    <a:pt x="0" y="0"/>
                  </a:moveTo>
                  <a:lnTo>
                    <a:pt x="11315700" y="0"/>
                  </a:lnTo>
                  <a:lnTo>
                    <a:pt x="11315700" y="1047750"/>
                  </a:lnTo>
                  <a:lnTo>
                    <a:pt x="0" y="10477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0438" r="0" b="-160438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11315700" cy="1085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Equal-weight, Weighted, dan Denton additive dievaluasi setara; spline sebagai robustness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4566106" y="2964656"/>
            <a:ext cx="2871788" cy="914400"/>
            <a:chOff x="0" y="0"/>
            <a:chExt cx="3829050" cy="12192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829050" cy="1219200"/>
            </a:xfrm>
            <a:custGeom>
              <a:avLst/>
              <a:gdLst/>
              <a:ahLst/>
              <a:cxnLst/>
              <a:rect r="r" b="b" t="t" l="l"/>
              <a:pathLst>
                <a:path h="1219200" w="3829050">
                  <a:moveTo>
                    <a:pt x="0" y="0"/>
                  </a:moveTo>
                  <a:lnTo>
                    <a:pt x="3829050" y="0"/>
                  </a:lnTo>
                  <a:lnTo>
                    <a:pt x="382905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7F5F0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4687550" y="3028950"/>
            <a:ext cx="2628900" cy="785812"/>
            <a:chOff x="0" y="0"/>
            <a:chExt cx="3505200" cy="104775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505200" cy="1047750"/>
            </a:xfrm>
            <a:custGeom>
              <a:avLst/>
              <a:gdLst/>
              <a:ahLst/>
              <a:cxnLst/>
              <a:rect r="r" b="b" t="t" l="l"/>
              <a:pathLst>
                <a:path h="1047750" w="3505200">
                  <a:moveTo>
                    <a:pt x="0" y="0"/>
                  </a:moveTo>
                  <a:lnTo>
                    <a:pt x="3505200" y="0"/>
                  </a:lnTo>
                  <a:lnTo>
                    <a:pt x="3505200" y="1047750"/>
                  </a:lnTo>
                  <a:lnTo>
                    <a:pt x="0" y="10477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186" r="0" b="-15186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3505200" cy="1085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FINAL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850106" y="3864769"/>
            <a:ext cx="5014912" cy="914400"/>
            <a:chOff x="0" y="0"/>
            <a:chExt cx="6686550" cy="12192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68655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686550">
                  <a:moveTo>
                    <a:pt x="0" y="0"/>
                  </a:moveTo>
                  <a:lnTo>
                    <a:pt x="6686550" y="0"/>
                  </a:lnTo>
                  <a:lnTo>
                    <a:pt x="668655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ECE9E3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5850731" y="3864769"/>
            <a:ext cx="8729662" cy="914400"/>
            <a:chOff x="0" y="0"/>
            <a:chExt cx="11639550" cy="12192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163955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1639550">
                  <a:moveTo>
                    <a:pt x="0" y="0"/>
                  </a:moveTo>
                  <a:lnTo>
                    <a:pt x="11639550" y="0"/>
                  </a:lnTo>
                  <a:lnTo>
                    <a:pt x="1163955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ECE9E3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14566106" y="3864769"/>
            <a:ext cx="2871788" cy="914400"/>
            <a:chOff x="0" y="0"/>
            <a:chExt cx="3829050" cy="12192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829050" cy="1219200"/>
            </a:xfrm>
            <a:custGeom>
              <a:avLst/>
              <a:gdLst/>
              <a:ahLst/>
              <a:cxnLst/>
              <a:rect r="r" b="b" t="t" l="l"/>
              <a:pathLst>
                <a:path h="1219200" w="3829050">
                  <a:moveTo>
                    <a:pt x="0" y="0"/>
                  </a:moveTo>
                  <a:lnTo>
                    <a:pt x="3829050" y="0"/>
                  </a:lnTo>
                  <a:lnTo>
                    <a:pt x="382905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ECE9E3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850106" y="4764881"/>
            <a:ext cx="5014912" cy="914400"/>
            <a:chOff x="0" y="0"/>
            <a:chExt cx="6686550" cy="12192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668655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686550">
                  <a:moveTo>
                    <a:pt x="0" y="0"/>
                  </a:moveTo>
                  <a:lnTo>
                    <a:pt x="6686550" y="0"/>
                  </a:lnTo>
                  <a:lnTo>
                    <a:pt x="668655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7F5F0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971550" y="4829175"/>
            <a:ext cx="4772025" cy="785812"/>
            <a:chOff x="0" y="0"/>
            <a:chExt cx="6362700" cy="104775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6362700" cy="1047750"/>
            </a:xfrm>
            <a:custGeom>
              <a:avLst/>
              <a:gdLst/>
              <a:ahLst/>
              <a:cxnLst/>
              <a:rect r="r" b="b" t="t" l="l"/>
              <a:pathLst>
                <a:path h="1047750" w="6362700">
                  <a:moveTo>
                    <a:pt x="0" y="0"/>
                  </a:moveTo>
                  <a:lnTo>
                    <a:pt x="6362700" y="0"/>
                  </a:lnTo>
                  <a:lnTo>
                    <a:pt x="6362700" y="1047750"/>
                  </a:lnTo>
                  <a:lnTo>
                    <a:pt x="0" y="10477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327" r="0" b="-68327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6362700" cy="1085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Posisi dataset BPS-derived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5850731" y="4764881"/>
            <a:ext cx="8729662" cy="914400"/>
            <a:chOff x="0" y="0"/>
            <a:chExt cx="11639550" cy="12192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163955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1639550">
                  <a:moveTo>
                    <a:pt x="0" y="0"/>
                  </a:moveTo>
                  <a:lnTo>
                    <a:pt x="11639550" y="0"/>
                  </a:lnTo>
                  <a:lnTo>
                    <a:pt x="1163955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7F5F0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5972175" y="4829175"/>
            <a:ext cx="8486775" cy="785812"/>
            <a:chOff x="0" y="0"/>
            <a:chExt cx="11315700" cy="104775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1315700" cy="1047750"/>
            </a:xfrm>
            <a:custGeom>
              <a:avLst/>
              <a:gdLst/>
              <a:ahLst/>
              <a:cxnLst/>
              <a:rect r="r" b="b" t="t" l="l"/>
              <a:pathLst>
                <a:path h="1047750" w="11315700">
                  <a:moveTo>
                    <a:pt x="0" y="0"/>
                  </a:moveTo>
                  <a:lnTo>
                    <a:pt x="11315700" y="0"/>
                  </a:lnTo>
                  <a:lnTo>
                    <a:pt x="11315700" y="1047750"/>
                  </a:lnTo>
                  <a:lnTo>
                    <a:pt x="0" y="10477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0438" r="0" b="-160438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11315700" cy="1085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Denton additive = evaluasi inti; spline = robustness; BPS bulanan = referensi resmi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4566106" y="4764881"/>
            <a:ext cx="2871788" cy="914400"/>
            <a:chOff x="0" y="0"/>
            <a:chExt cx="3829050" cy="12192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3829050" cy="1219200"/>
            </a:xfrm>
            <a:custGeom>
              <a:avLst/>
              <a:gdLst/>
              <a:ahLst/>
              <a:cxnLst/>
              <a:rect r="r" b="b" t="t" l="l"/>
              <a:pathLst>
                <a:path h="1219200" w="3829050">
                  <a:moveTo>
                    <a:pt x="0" y="0"/>
                  </a:moveTo>
                  <a:lnTo>
                    <a:pt x="3829050" y="0"/>
                  </a:lnTo>
                  <a:lnTo>
                    <a:pt x="382905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7F5F0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14687550" y="4829175"/>
            <a:ext cx="2628900" cy="785812"/>
            <a:chOff x="0" y="0"/>
            <a:chExt cx="3505200" cy="104775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3505200" cy="1047750"/>
            </a:xfrm>
            <a:custGeom>
              <a:avLst/>
              <a:gdLst/>
              <a:ahLst/>
              <a:cxnLst/>
              <a:rect r="r" b="b" t="t" l="l"/>
              <a:pathLst>
                <a:path h="1047750" w="3505200">
                  <a:moveTo>
                    <a:pt x="0" y="0"/>
                  </a:moveTo>
                  <a:lnTo>
                    <a:pt x="3505200" y="0"/>
                  </a:lnTo>
                  <a:lnTo>
                    <a:pt x="3505200" y="1047750"/>
                  </a:lnTo>
                  <a:lnTo>
                    <a:pt x="0" y="10477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186" r="0" b="-15186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3505200" cy="1085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FINAL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850106" y="5664994"/>
            <a:ext cx="5014912" cy="914400"/>
            <a:chOff x="0" y="0"/>
            <a:chExt cx="6686550" cy="12192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668655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686550">
                  <a:moveTo>
                    <a:pt x="0" y="0"/>
                  </a:moveTo>
                  <a:lnTo>
                    <a:pt x="6686550" y="0"/>
                  </a:lnTo>
                  <a:lnTo>
                    <a:pt x="668655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ECE9E3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971550" y="5729288"/>
            <a:ext cx="4772025" cy="785812"/>
            <a:chOff x="0" y="0"/>
            <a:chExt cx="6362700" cy="104775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6362700" cy="1047750"/>
            </a:xfrm>
            <a:custGeom>
              <a:avLst/>
              <a:gdLst/>
              <a:ahLst/>
              <a:cxnLst/>
              <a:rect r="r" b="b" t="t" l="l"/>
              <a:pathLst>
                <a:path h="1047750" w="6362700">
                  <a:moveTo>
                    <a:pt x="0" y="0"/>
                  </a:moveTo>
                  <a:lnTo>
                    <a:pt x="6362700" y="0"/>
                  </a:lnTo>
                  <a:lnTo>
                    <a:pt x="6362700" y="1047750"/>
                  </a:lnTo>
                  <a:lnTo>
                    <a:pt x="0" y="10477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327" r="0" b="-68327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6362700" cy="1085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Blok berita utama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5850731" y="5664994"/>
            <a:ext cx="8729662" cy="914400"/>
            <a:chOff x="0" y="0"/>
            <a:chExt cx="11639550" cy="121920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163955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1639550">
                  <a:moveTo>
                    <a:pt x="0" y="0"/>
                  </a:moveTo>
                  <a:lnTo>
                    <a:pt x="11639550" y="0"/>
                  </a:lnTo>
                  <a:lnTo>
                    <a:pt x="1163955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ECE9E3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71" id="71"/>
          <p:cNvGrpSpPr/>
          <p:nvPr/>
        </p:nvGrpSpPr>
        <p:grpSpPr>
          <a:xfrm rot="0">
            <a:off x="5972175" y="5729288"/>
            <a:ext cx="8486775" cy="785812"/>
            <a:chOff x="0" y="0"/>
            <a:chExt cx="11315700" cy="104775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1315700" cy="1047750"/>
            </a:xfrm>
            <a:custGeom>
              <a:avLst/>
              <a:gdLst/>
              <a:ahLst/>
              <a:cxnLst/>
              <a:rect r="r" b="b" t="t" l="l"/>
              <a:pathLst>
                <a:path h="1047750" w="11315700">
                  <a:moveTo>
                    <a:pt x="0" y="0"/>
                  </a:moveTo>
                  <a:lnTo>
                    <a:pt x="11315700" y="0"/>
                  </a:lnTo>
                  <a:lnTo>
                    <a:pt x="11315700" y="1047750"/>
                  </a:lnTo>
                  <a:lnTo>
                    <a:pt x="0" y="10477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0438" r="0" b="-160438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11315700" cy="1085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Type A L1–L2 + kontrol coverage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4566106" y="5664994"/>
            <a:ext cx="2871788" cy="914400"/>
            <a:chOff x="0" y="0"/>
            <a:chExt cx="3829050" cy="121920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3829050" cy="1219200"/>
            </a:xfrm>
            <a:custGeom>
              <a:avLst/>
              <a:gdLst/>
              <a:ahLst/>
              <a:cxnLst/>
              <a:rect r="r" b="b" t="t" l="l"/>
              <a:pathLst>
                <a:path h="1219200" w="3829050">
                  <a:moveTo>
                    <a:pt x="0" y="0"/>
                  </a:moveTo>
                  <a:lnTo>
                    <a:pt x="3829050" y="0"/>
                  </a:lnTo>
                  <a:lnTo>
                    <a:pt x="382905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ECE9E3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76" id="76"/>
          <p:cNvGrpSpPr/>
          <p:nvPr/>
        </p:nvGrpSpPr>
        <p:grpSpPr>
          <a:xfrm rot="0">
            <a:off x="14687550" y="5729288"/>
            <a:ext cx="2628900" cy="785812"/>
            <a:chOff x="0" y="0"/>
            <a:chExt cx="3505200" cy="104775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3505200" cy="1047750"/>
            </a:xfrm>
            <a:custGeom>
              <a:avLst/>
              <a:gdLst/>
              <a:ahLst/>
              <a:cxnLst/>
              <a:rect r="r" b="b" t="t" l="l"/>
              <a:pathLst>
                <a:path h="1047750" w="3505200">
                  <a:moveTo>
                    <a:pt x="0" y="0"/>
                  </a:moveTo>
                  <a:lnTo>
                    <a:pt x="3505200" y="0"/>
                  </a:lnTo>
                  <a:lnTo>
                    <a:pt x="3505200" y="1047750"/>
                  </a:lnTo>
                  <a:lnTo>
                    <a:pt x="0" y="10477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186" r="0" b="-15186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38100"/>
              <a:ext cx="3505200" cy="1085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FINAL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850106" y="6565106"/>
            <a:ext cx="5014912" cy="914400"/>
            <a:chOff x="0" y="0"/>
            <a:chExt cx="6686550" cy="121920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668655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686550">
                  <a:moveTo>
                    <a:pt x="0" y="0"/>
                  </a:moveTo>
                  <a:lnTo>
                    <a:pt x="6686550" y="0"/>
                  </a:lnTo>
                  <a:lnTo>
                    <a:pt x="668655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7F5F0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81" id="81"/>
          <p:cNvGrpSpPr/>
          <p:nvPr/>
        </p:nvGrpSpPr>
        <p:grpSpPr>
          <a:xfrm rot="0">
            <a:off x="971550" y="6629400"/>
            <a:ext cx="4772025" cy="785812"/>
            <a:chOff x="0" y="0"/>
            <a:chExt cx="6362700" cy="104775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6362700" cy="1047750"/>
            </a:xfrm>
            <a:custGeom>
              <a:avLst/>
              <a:gdLst/>
              <a:ahLst/>
              <a:cxnLst/>
              <a:rect r="r" b="b" t="t" l="l"/>
              <a:pathLst>
                <a:path h="1047750" w="6362700">
                  <a:moveTo>
                    <a:pt x="0" y="0"/>
                  </a:moveTo>
                  <a:lnTo>
                    <a:pt x="6362700" y="0"/>
                  </a:lnTo>
                  <a:lnTo>
                    <a:pt x="6362700" y="1047750"/>
                  </a:lnTo>
                  <a:lnTo>
                    <a:pt x="0" y="10477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327" r="0" b="-68327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38100"/>
              <a:ext cx="6362700" cy="1085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Blok agroklimat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5850731" y="6565106"/>
            <a:ext cx="8729662" cy="914400"/>
            <a:chOff x="0" y="0"/>
            <a:chExt cx="11639550" cy="121920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163955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1639550">
                  <a:moveTo>
                    <a:pt x="0" y="0"/>
                  </a:moveTo>
                  <a:lnTo>
                    <a:pt x="11639550" y="0"/>
                  </a:lnTo>
                  <a:lnTo>
                    <a:pt x="1163955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7F5F0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86" id="86"/>
          <p:cNvGrpSpPr/>
          <p:nvPr/>
        </p:nvGrpSpPr>
        <p:grpSpPr>
          <a:xfrm rot="0">
            <a:off x="5972175" y="6629400"/>
            <a:ext cx="8486775" cy="785812"/>
            <a:chOff x="0" y="0"/>
            <a:chExt cx="11315700" cy="104775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1315700" cy="1047750"/>
            </a:xfrm>
            <a:custGeom>
              <a:avLst/>
              <a:gdLst/>
              <a:ahLst/>
              <a:cxnLst/>
              <a:rect r="r" b="b" t="t" l="l"/>
              <a:pathLst>
                <a:path h="1047750" w="11315700">
                  <a:moveTo>
                    <a:pt x="0" y="0"/>
                  </a:moveTo>
                  <a:lnTo>
                    <a:pt x="11315700" y="0"/>
                  </a:lnTo>
                  <a:lnTo>
                    <a:pt x="11315700" y="1047750"/>
                  </a:lnTo>
                  <a:lnTo>
                    <a:pt x="0" y="10477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0438" r="0" b="-160438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11315700" cy="1085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Rain L1–L3 + VHI L1–L2; diuji melalui ablation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4566106" y="6565106"/>
            <a:ext cx="2871788" cy="914400"/>
            <a:chOff x="0" y="0"/>
            <a:chExt cx="3829050" cy="121920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3829050" cy="1219200"/>
            </a:xfrm>
            <a:custGeom>
              <a:avLst/>
              <a:gdLst/>
              <a:ahLst/>
              <a:cxnLst/>
              <a:rect r="r" b="b" t="t" l="l"/>
              <a:pathLst>
                <a:path h="1219200" w="3829050">
                  <a:moveTo>
                    <a:pt x="0" y="0"/>
                  </a:moveTo>
                  <a:lnTo>
                    <a:pt x="3829050" y="0"/>
                  </a:lnTo>
                  <a:lnTo>
                    <a:pt x="382905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7F5F0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91" id="91"/>
          <p:cNvGrpSpPr/>
          <p:nvPr/>
        </p:nvGrpSpPr>
        <p:grpSpPr>
          <a:xfrm rot="0">
            <a:off x="14687550" y="6629400"/>
            <a:ext cx="2628900" cy="785812"/>
            <a:chOff x="0" y="0"/>
            <a:chExt cx="3505200" cy="104775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3505200" cy="1047750"/>
            </a:xfrm>
            <a:custGeom>
              <a:avLst/>
              <a:gdLst/>
              <a:ahLst/>
              <a:cxnLst/>
              <a:rect r="r" b="b" t="t" l="l"/>
              <a:pathLst>
                <a:path h="1047750" w="3505200">
                  <a:moveTo>
                    <a:pt x="0" y="0"/>
                  </a:moveTo>
                  <a:lnTo>
                    <a:pt x="3505200" y="0"/>
                  </a:lnTo>
                  <a:lnTo>
                    <a:pt x="3505200" y="1047750"/>
                  </a:lnTo>
                  <a:lnTo>
                    <a:pt x="0" y="10477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186" r="0" b="-15186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38100"/>
              <a:ext cx="3505200" cy="1085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FINAL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6079331" y="3864769"/>
            <a:ext cx="8486775" cy="785812"/>
            <a:chOff x="0" y="0"/>
            <a:chExt cx="11315700" cy="104775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11315700" cy="1047750"/>
            </a:xfrm>
            <a:custGeom>
              <a:avLst/>
              <a:gdLst/>
              <a:ahLst/>
              <a:cxnLst/>
              <a:rect r="r" b="b" t="t" l="l"/>
              <a:pathLst>
                <a:path h="1047750" w="11315700">
                  <a:moveTo>
                    <a:pt x="0" y="0"/>
                  </a:moveTo>
                  <a:lnTo>
                    <a:pt x="11315700" y="0"/>
                  </a:lnTo>
                  <a:lnTo>
                    <a:pt x="11315700" y="1047750"/>
                  </a:lnTo>
                  <a:lnTo>
                    <a:pt x="0" y="10477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0438" r="0" b="-160438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38100"/>
              <a:ext cx="11315700" cy="1085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Kandungan prediktif temporal; bukan kausalitas struktural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14687550" y="3855244"/>
            <a:ext cx="2628900" cy="785812"/>
            <a:chOff x="0" y="0"/>
            <a:chExt cx="3505200" cy="104775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3505200" cy="1047750"/>
            </a:xfrm>
            <a:custGeom>
              <a:avLst/>
              <a:gdLst/>
              <a:ahLst/>
              <a:cxnLst/>
              <a:rect r="r" b="b" t="t" l="l"/>
              <a:pathLst>
                <a:path h="1047750" w="3505200">
                  <a:moveTo>
                    <a:pt x="0" y="0"/>
                  </a:moveTo>
                  <a:lnTo>
                    <a:pt x="3505200" y="0"/>
                  </a:lnTo>
                  <a:lnTo>
                    <a:pt x="3505200" y="1047750"/>
                  </a:lnTo>
                  <a:lnTo>
                    <a:pt x="0" y="10477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186" r="0" b="-15186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38100"/>
              <a:ext cx="3505200" cy="1085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FINAL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857250" y="8501062"/>
            <a:ext cx="16573500" cy="828675"/>
            <a:chOff x="0" y="0"/>
            <a:chExt cx="22098000" cy="110490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22098000" cy="1104900"/>
            </a:xfrm>
            <a:custGeom>
              <a:avLst/>
              <a:gdLst/>
              <a:ahLst/>
              <a:cxnLst/>
              <a:rect r="r" b="b" t="t" l="l"/>
              <a:pathLst>
                <a:path h="110490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1104900"/>
                  </a:lnTo>
                  <a:lnTo>
                    <a:pt x="0" y="1104900"/>
                  </a:lnTo>
                  <a:close/>
                </a:path>
              </a:pathLst>
            </a:custGeom>
            <a:solidFill>
              <a:srgbClr val="155744"/>
            </a:solidFill>
          </p:spPr>
        </p:sp>
      </p:grpSp>
      <p:grpSp>
        <p:nvGrpSpPr>
          <p:cNvPr name="Group 102" id="102"/>
          <p:cNvGrpSpPr/>
          <p:nvPr/>
        </p:nvGrpSpPr>
        <p:grpSpPr>
          <a:xfrm rot="0">
            <a:off x="1171575" y="8601075"/>
            <a:ext cx="15944850" cy="614362"/>
            <a:chOff x="0" y="0"/>
            <a:chExt cx="21259800" cy="819150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21259800" cy="819150"/>
            </a:xfrm>
            <a:custGeom>
              <a:avLst/>
              <a:gdLst/>
              <a:ahLst/>
              <a:cxnLst/>
              <a:rect r="r" b="b" t="t" l="l"/>
              <a:pathLst>
                <a:path h="819150" w="21259800">
                  <a:moveTo>
                    <a:pt x="0" y="0"/>
                  </a:moveTo>
                  <a:lnTo>
                    <a:pt x="21259800" y="0"/>
                  </a:lnTo>
                  <a:lnTo>
                    <a:pt x="21259800" y="819150"/>
                  </a:lnTo>
                  <a:lnTo>
                    <a:pt x="0" y="8191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5704" r="0" b="-455704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-38100"/>
              <a:ext cx="21259800" cy="857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65"/>
                </a:lnSpc>
              </a:pPr>
              <a:r>
                <a:rPr lang="en-US" sz="2137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Bekukan keputusan ini agar penulisan dan evaluasi tidak terus bergeser</a:t>
              </a: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971550" y="3864769"/>
            <a:ext cx="4772025" cy="785812"/>
            <a:chOff x="0" y="0"/>
            <a:chExt cx="6362700" cy="1047750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6362700" cy="1047750"/>
            </a:xfrm>
            <a:custGeom>
              <a:avLst/>
              <a:gdLst/>
              <a:ahLst/>
              <a:cxnLst/>
              <a:rect r="r" b="b" t="t" l="l"/>
              <a:pathLst>
                <a:path h="1047750" w="6362700">
                  <a:moveTo>
                    <a:pt x="0" y="0"/>
                  </a:moveTo>
                  <a:lnTo>
                    <a:pt x="6362700" y="0"/>
                  </a:lnTo>
                  <a:lnTo>
                    <a:pt x="6362700" y="1047750"/>
                  </a:lnTo>
                  <a:lnTo>
                    <a:pt x="0" y="10477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327" r="0" b="-68327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38100"/>
              <a:ext cx="6362700" cy="1085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Bahasa inferensi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571500"/>
            <a:chOff x="0" y="0"/>
            <a:chExt cx="24384000" cy="762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762000"/>
            </a:xfrm>
            <a:custGeom>
              <a:avLst/>
              <a:gdLst/>
              <a:ahLst/>
              <a:cxnLst/>
              <a:rect r="r" b="b" t="t" l="l"/>
              <a:pathLst>
                <a:path h="762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15574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100012"/>
            <a:ext cx="16573500" cy="357188"/>
            <a:chOff x="0" y="0"/>
            <a:chExt cx="22098000" cy="4762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098000" cy="476250"/>
            </a:xfrm>
            <a:custGeom>
              <a:avLst/>
              <a:gdLst/>
              <a:ahLst/>
              <a:cxnLst/>
              <a:rect r="r" b="b" t="t" l="l"/>
              <a:pathLst>
                <a:path h="47625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476250"/>
                  </a:lnTo>
                  <a:lnTo>
                    <a:pt x="0" y="476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4105" r="0" b="-85410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2098000" cy="504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755"/>
                </a:lnSpc>
              </a:pPr>
              <a:r>
                <a:rPr lang="en-US" sz="1462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HASIL YANG DISEPAKATI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57250" y="885825"/>
            <a:ext cx="16573500" cy="771525"/>
            <a:chOff x="0" y="0"/>
            <a:chExt cx="22098000" cy="10287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098000" cy="1028700"/>
            </a:xfrm>
            <a:custGeom>
              <a:avLst/>
              <a:gdLst/>
              <a:ahLst/>
              <a:cxnLst/>
              <a:rect r="r" b="b" t="t" l="l"/>
              <a:pathLst>
                <a:path h="102870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1028700"/>
                  </a:lnTo>
                  <a:lnTo>
                    <a:pt x="0" y="10287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8567" r="0" b="-368567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76200"/>
              <a:ext cx="22098000" cy="1104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sz="4050" b="true">
                  <a:solidFill>
                    <a:srgbClr val="1557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Empat keputusan masih perlu ditutup dalam pertemuan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7002125" y="9686925"/>
            <a:ext cx="500062" cy="257175"/>
            <a:chOff x="0" y="0"/>
            <a:chExt cx="666750" cy="3429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66750" cy="342900"/>
            </a:xfrm>
            <a:custGeom>
              <a:avLst/>
              <a:gdLst/>
              <a:ahLst/>
              <a:cxnLst/>
              <a:rect r="r" b="b" t="t" l="l"/>
              <a:pathLst>
                <a:path h="342900" w="666750">
                  <a:moveTo>
                    <a:pt x="0" y="0"/>
                  </a:moveTo>
                  <a:lnTo>
                    <a:pt x="666750" y="0"/>
                  </a:lnTo>
                  <a:lnTo>
                    <a:pt x="666750" y="342900"/>
                  </a:lnTo>
                  <a:lnTo>
                    <a:pt x="0" y="3429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984" t="0" r="-15984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66750" cy="361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85"/>
                </a:lnSpc>
              </a:pPr>
              <a:r>
                <a:rPr lang="en-US" sz="1237">
                  <a:solidFill>
                    <a:srgbClr val="77736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22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50106" y="2135981"/>
            <a:ext cx="7872412" cy="2300288"/>
            <a:chOff x="0" y="0"/>
            <a:chExt cx="10496550" cy="30670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496550" cy="3067050"/>
            </a:xfrm>
            <a:custGeom>
              <a:avLst/>
              <a:gdLst/>
              <a:ahLst/>
              <a:cxnLst/>
              <a:rect r="r" b="b" t="t" l="l"/>
              <a:pathLst>
                <a:path h="3067050" w="10496550">
                  <a:moveTo>
                    <a:pt x="0" y="0"/>
                  </a:moveTo>
                  <a:lnTo>
                    <a:pt x="10496550" y="0"/>
                  </a:lnTo>
                  <a:lnTo>
                    <a:pt x="10496550" y="3067050"/>
                  </a:lnTo>
                  <a:lnTo>
                    <a:pt x="0" y="3067050"/>
                  </a:lnTo>
                  <a:close/>
                </a:path>
              </a:pathLst>
            </a:custGeom>
            <a:solidFill>
              <a:srgbClr val="ECE9E3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857250" y="2143125"/>
            <a:ext cx="85725" cy="2286000"/>
            <a:chOff x="0" y="0"/>
            <a:chExt cx="114300" cy="3048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4300" cy="3048000"/>
            </a:xfrm>
            <a:custGeom>
              <a:avLst/>
              <a:gdLst/>
              <a:ahLst/>
              <a:cxnLst/>
              <a:rect r="r" b="b" t="t" l="l"/>
              <a:pathLst>
                <a:path h="3048000" w="114300">
                  <a:moveTo>
                    <a:pt x="0" y="0"/>
                  </a:moveTo>
                  <a:lnTo>
                    <a:pt x="114300" y="0"/>
                  </a:lnTo>
                  <a:lnTo>
                    <a:pt x="114300" y="3048000"/>
                  </a:lnTo>
                  <a:lnTo>
                    <a:pt x="0" y="3048000"/>
                  </a:lnTo>
                  <a:close/>
                </a:path>
              </a:pathLst>
            </a:custGeom>
            <a:solidFill>
              <a:srgbClr val="D86F00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00150" y="2371725"/>
            <a:ext cx="7258050" cy="485775"/>
            <a:chOff x="0" y="0"/>
            <a:chExt cx="9677400" cy="6477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677400" cy="647700"/>
            </a:xfrm>
            <a:custGeom>
              <a:avLst/>
              <a:gdLst/>
              <a:ahLst/>
              <a:cxnLst/>
              <a:rect r="r" b="b" t="t" l="l"/>
              <a:pathLst>
                <a:path h="647700" w="9677400">
                  <a:moveTo>
                    <a:pt x="0" y="0"/>
                  </a:moveTo>
                  <a:lnTo>
                    <a:pt x="9677400" y="0"/>
                  </a:lnTo>
                  <a:lnTo>
                    <a:pt x="9677400" y="647700"/>
                  </a:lnTo>
                  <a:lnTo>
                    <a:pt x="0" y="6477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1129" r="0" b="-241129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9677400" cy="70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35"/>
                </a:lnSpc>
              </a:pPr>
              <a:r>
                <a:rPr lang="en-US" sz="2362" b="true">
                  <a:solidFill>
                    <a:srgbClr val="D86F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 — OOS 2026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00150" y="2971800"/>
            <a:ext cx="7258050" cy="1200150"/>
            <a:chOff x="0" y="0"/>
            <a:chExt cx="9677400" cy="16002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677400" cy="1600200"/>
            </a:xfrm>
            <a:custGeom>
              <a:avLst/>
              <a:gdLst/>
              <a:ahLst/>
              <a:cxnLst/>
              <a:rect r="r" b="b" t="t" l="l"/>
              <a:pathLst>
                <a:path h="1600200" w="9677400">
                  <a:moveTo>
                    <a:pt x="0" y="0"/>
                  </a:moveTo>
                  <a:lnTo>
                    <a:pt x="9677400" y="0"/>
                  </a:lnTo>
                  <a:lnTo>
                    <a:pt x="9677400" y="1600200"/>
                  </a:lnTo>
                  <a:lnTo>
                    <a:pt x="0" y="1600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7838" r="0" b="-67838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9677400" cy="1638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95"/>
                </a:lnSpc>
              </a:pPr>
              <a:r>
                <a:rPr lang="en-US" sz="1912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Sepakati penggunaan partial-2026 sampai data terbaru dan cara menuliskan keterbatasannya.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565481" y="2135981"/>
            <a:ext cx="7872412" cy="2300288"/>
            <a:chOff x="0" y="0"/>
            <a:chExt cx="10496550" cy="30670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496550" cy="3067050"/>
            </a:xfrm>
            <a:custGeom>
              <a:avLst/>
              <a:gdLst/>
              <a:ahLst/>
              <a:cxnLst/>
              <a:rect r="r" b="b" t="t" l="l"/>
              <a:pathLst>
                <a:path h="3067050" w="10496550">
                  <a:moveTo>
                    <a:pt x="0" y="0"/>
                  </a:moveTo>
                  <a:lnTo>
                    <a:pt x="10496550" y="0"/>
                  </a:lnTo>
                  <a:lnTo>
                    <a:pt x="10496550" y="3067050"/>
                  </a:lnTo>
                  <a:lnTo>
                    <a:pt x="0" y="3067050"/>
                  </a:lnTo>
                  <a:close/>
                </a:path>
              </a:pathLst>
            </a:custGeom>
            <a:solidFill>
              <a:srgbClr val="ECE9E3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9572625" y="2143125"/>
            <a:ext cx="85725" cy="2286000"/>
            <a:chOff x="0" y="0"/>
            <a:chExt cx="114300" cy="30480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4300" cy="3048000"/>
            </a:xfrm>
            <a:custGeom>
              <a:avLst/>
              <a:gdLst/>
              <a:ahLst/>
              <a:cxnLst/>
              <a:rect r="r" b="b" t="t" l="l"/>
              <a:pathLst>
                <a:path h="3048000" w="114300">
                  <a:moveTo>
                    <a:pt x="0" y="0"/>
                  </a:moveTo>
                  <a:lnTo>
                    <a:pt x="114300" y="0"/>
                  </a:lnTo>
                  <a:lnTo>
                    <a:pt x="114300" y="3048000"/>
                  </a:lnTo>
                  <a:lnTo>
                    <a:pt x="0" y="3048000"/>
                  </a:lnTo>
                  <a:close/>
                </a:path>
              </a:pathLst>
            </a:custGeom>
            <a:solidFill>
              <a:srgbClr val="D86F00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915525" y="2371725"/>
            <a:ext cx="7258050" cy="485775"/>
            <a:chOff x="0" y="0"/>
            <a:chExt cx="9677400" cy="6477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677400" cy="647700"/>
            </a:xfrm>
            <a:custGeom>
              <a:avLst/>
              <a:gdLst/>
              <a:ahLst/>
              <a:cxnLst/>
              <a:rect r="r" b="b" t="t" l="l"/>
              <a:pathLst>
                <a:path h="647700" w="9677400">
                  <a:moveTo>
                    <a:pt x="0" y="0"/>
                  </a:moveTo>
                  <a:lnTo>
                    <a:pt x="9677400" y="0"/>
                  </a:lnTo>
                  <a:lnTo>
                    <a:pt x="9677400" y="647700"/>
                  </a:lnTo>
                  <a:lnTo>
                    <a:pt x="0" y="6477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1129" r="0" b="-241129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9677400" cy="70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35"/>
                </a:lnSpc>
              </a:pPr>
              <a:r>
                <a:rPr lang="en-US" sz="2362" b="true">
                  <a:solidFill>
                    <a:srgbClr val="D86F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 — FREEZE MODEL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915525" y="2971800"/>
            <a:ext cx="7258050" cy="1200150"/>
            <a:chOff x="0" y="0"/>
            <a:chExt cx="9677400" cy="16002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677400" cy="1600200"/>
            </a:xfrm>
            <a:custGeom>
              <a:avLst/>
              <a:gdLst/>
              <a:ahLst/>
              <a:cxnLst/>
              <a:rect r="r" b="b" t="t" l="l"/>
              <a:pathLst>
                <a:path h="1600200" w="9677400">
                  <a:moveTo>
                    <a:pt x="0" y="0"/>
                  </a:moveTo>
                  <a:lnTo>
                    <a:pt x="9677400" y="0"/>
                  </a:lnTo>
                  <a:lnTo>
                    <a:pt x="9677400" y="1600200"/>
                  </a:lnTo>
                  <a:lnTo>
                    <a:pt x="0" y="1600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7838" r="0" b="-67838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9677400" cy="1638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95"/>
                </a:lnSpc>
              </a:pPr>
              <a:r>
                <a:rPr lang="en-US" sz="1912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Tetapkan model utama, baseline, dan metrik evaluasi.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850106" y="4993481"/>
            <a:ext cx="7872412" cy="2300288"/>
            <a:chOff x="0" y="0"/>
            <a:chExt cx="10496550" cy="306705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496550" cy="3067050"/>
            </a:xfrm>
            <a:custGeom>
              <a:avLst/>
              <a:gdLst/>
              <a:ahLst/>
              <a:cxnLst/>
              <a:rect r="r" b="b" t="t" l="l"/>
              <a:pathLst>
                <a:path h="3067050" w="10496550">
                  <a:moveTo>
                    <a:pt x="0" y="0"/>
                  </a:moveTo>
                  <a:lnTo>
                    <a:pt x="10496550" y="0"/>
                  </a:lnTo>
                  <a:lnTo>
                    <a:pt x="10496550" y="3067050"/>
                  </a:lnTo>
                  <a:lnTo>
                    <a:pt x="0" y="3067050"/>
                  </a:lnTo>
                  <a:close/>
                </a:path>
              </a:pathLst>
            </a:custGeom>
            <a:solidFill>
              <a:srgbClr val="ECE9E3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857250" y="5000625"/>
            <a:ext cx="85725" cy="2286000"/>
            <a:chOff x="0" y="0"/>
            <a:chExt cx="114300" cy="30480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14300" cy="3048000"/>
            </a:xfrm>
            <a:custGeom>
              <a:avLst/>
              <a:gdLst/>
              <a:ahLst/>
              <a:cxnLst/>
              <a:rect r="r" b="b" t="t" l="l"/>
              <a:pathLst>
                <a:path h="3048000" w="114300">
                  <a:moveTo>
                    <a:pt x="0" y="0"/>
                  </a:moveTo>
                  <a:lnTo>
                    <a:pt x="114300" y="0"/>
                  </a:lnTo>
                  <a:lnTo>
                    <a:pt x="114300" y="3048000"/>
                  </a:lnTo>
                  <a:lnTo>
                    <a:pt x="0" y="3048000"/>
                  </a:lnTo>
                  <a:close/>
                </a:path>
              </a:pathLst>
            </a:custGeom>
            <a:solidFill>
              <a:srgbClr val="BE5550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200150" y="5229225"/>
            <a:ext cx="7258050" cy="485775"/>
            <a:chOff x="0" y="0"/>
            <a:chExt cx="9677400" cy="6477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677400" cy="647700"/>
            </a:xfrm>
            <a:custGeom>
              <a:avLst/>
              <a:gdLst/>
              <a:ahLst/>
              <a:cxnLst/>
              <a:rect r="r" b="b" t="t" l="l"/>
              <a:pathLst>
                <a:path h="647700" w="9677400">
                  <a:moveTo>
                    <a:pt x="0" y="0"/>
                  </a:moveTo>
                  <a:lnTo>
                    <a:pt x="9677400" y="0"/>
                  </a:lnTo>
                  <a:lnTo>
                    <a:pt x="9677400" y="647700"/>
                  </a:lnTo>
                  <a:lnTo>
                    <a:pt x="0" y="6477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1129" r="0" b="-241129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57150"/>
              <a:ext cx="9677400" cy="70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35"/>
                </a:lnSpc>
              </a:pPr>
              <a:r>
                <a:rPr lang="en-US" sz="2362" b="true">
                  <a:solidFill>
                    <a:srgbClr val="BE555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 — KEPENULISAN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200150" y="5829300"/>
            <a:ext cx="7258050" cy="1200150"/>
            <a:chOff x="0" y="0"/>
            <a:chExt cx="9677400" cy="16002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677400" cy="1600200"/>
            </a:xfrm>
            <a:custGeom>
              <a:avLst/>
              <a:gdLst/>
              <a:ahLst/>
              <a:cxnLst/>
              <a:rect r="r" b="b" t="t" l="l"/>
              <a:pathLst>
                <a:path h="1600200" w="9677400">
                  <a:moveTo>
                    <a:pt x="0" y="0"/>
                  </a:moveTo>
                  <a:lnTo>
                    <a:pt x="9677400" y="0"/>
                  </a:lnTo>
                  <a:lnTo>
                    <a:pt x="9677400" y="1600200"/>
                  </a:lnTo>
                  <a:lnTo>
                    <a:pt x="0" y="1600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7838" r="0" b="-67838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9677400" cy="1638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95"/>
                </a:lnSpc>
              </a:pPr>
              <a:r>
                <a:rPr lang="en-US" sz="1912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Tentukan urutan penulis, corresponding author, dan final sign-off.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565481" y="4993481"/>
            <a:ext cx="7872412" cy="2300288"/>
            <a:chOff x="0" y="0"/>
            <a:chExt cx="10496550" cy="306705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496550" cy="3067050"/>
            </a:xfrm>
            <a:custGeom>
              <a:avLst/>
              <a:gdLst/>
              <a:ahLst/>
              <a:cxnLst/>
              <a:rect r="r" b="b" t="t" l="l"/>
              <a:pathLst>
                <a:path h="3067050" w="10496550">
                  <a:moveTo>
                    <a:pt x="0" y="0"/>
                  </a:moveTo>
                  <a:lnTo>
                    <a:pt x="10496550" y="0"/>
                  </a:lnTo>
                  <a:lnTo>
                    <a:pt x="10496550" y="3067050"/>
                  </a:lnTo>
                  <a:lnTo>
                    <a:pt x="0" y="3067050"/>
                  </a:lnTo>
                  <a:close/>
                </a:path>
              </a:pathLst>
            </a:custGeom>
            <a:solidFill>
              <a:srgbClr val="ECE9E3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9572625" y="5000625"/>
            <a:ext cx="85725" cy="2286000"/>
            <a:chOff x="0" y="0"/>
            <a:chExt cx="114300" cy="30480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14300" cy="3048000"/>
            </a:xfrm>
            <a:custGeom>
              <a:avLst/>
              <a:gdLst/>
              <a:ahLst/>
              <a:cxnLst/>
              <a:rect r="r" b="b" t="t" l="l"/>
              <a:pathLst>
                <a:path h="3048000" w="114300">
                  <a:moveTo>
                    <a:pt x="0" y="0"/>
                  </a:moveTo>
                  <a:lnTo>
                    <a:pt x="114300" y="0"/>
                  </a:lnTo>
                  <a:lnTo>
                    <a:pt x="114300" y="3048000"/>
                  </a:lnTo>
                  <a:lnTo>
                    <a:pt x="0" y="3048000"/>
                  </a:lnTo>
                  <a:close/>
                </a:path>
              </a:pathLst>
            </a:custGeom>
            <a:solidFill>
              <a:srgbClr val="155744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9915525" y="5229225"/>
            <a:ext cx="7258050" cy="485775"/>
            <a:chOff x="0" y="0"/>
            <a:chExt cx="9677400" cy="6477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677400" cy="647700"/>
            </a:xfrm>
            <a:custGeom>
              <a:avLst/>
              <a:gdLst/>
              <a:ahLst/>
              <a:cxnLst/>
              <a:rect r="r" b="b" t="t" l="l"/>
              <a:pathLst>
                <a:path h="647700" w="9677400">
                  <a:moveTo>
                    <a:pt x="0" y="0"/>
                  </a:moveTo>
                  <a:lnTo>
                    <a:pt x="9677400" y="0"/>
                  </a:lnTo>
                  <a:lnTo>
                    <a:pt x="9677400" y="647700"/>
                  </a:lnTo>
                  <a:lnTo>
                    <a:pt x="0" y="6477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1129" r="0" b="-241129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57150"/>
              <a:ext cx="9677400" cy="70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35"/>
                </a:lnSpc>
              </a:pPr>
              <a:r>
                <a:rPr lang="en-US" sz="2362" b="true">
                  <a:solidFill>
                    <a:srgbClr val="1557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 — REVIEW EKSTERNAL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915525" y="5829300"/>
            <a:ext cx="7258050" cy="1200150"/>
            <a:chOff x="0" y="0"/>
            <a:chExt cx="9677400" cy="16002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9677400" cy="1600200"/>
            </a:xfrm>
            <a:custGeom>
              <a:avLst/>
              <a:gdLst/>
              <a:ahLst/>
              <a:cxnLst/>
              <a:rect r="r" b="b" t="t" l="l"/>
              <a:pathLst>
                <a:path h="1600200" w="9677400">
                  <a:moveTo>
                    <a:pt x="0" y="0"/>
                  </a:moveTo>
                  <a:lnTo>
                    <a:pt x="9677400" y="0"/>
                  </a:lnTo>
                  <a:lnTo>
                    <a:pt x="9677400" y="1600200"/>
                  </a:lnTo>
                  <a:lnTo>
                    <a:pt x="0" y="1600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7838" r="0" b="-67838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9677400" cy="1638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95"/>
                </a:lnSpc>
              </a:pPr>
              <a:r>
                <a:rPr lang="en-US" sz="1912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Tentukan reviewer yang diundang, PIC undangan, dan batas waktu komentar.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857250" y="8143875"/>
            <a:ext cx="16573500" cy="828675"/>
            <a:chOff x="0" y="0"/>
            <a:chExt cx="22098000" cy="11049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2098000" cy="1104900"/>
            </a:xfrm>
            <a:custGeom>
              <a:avLst/>
              <a:gdLst/>
              <a:ahLst/>
              <a:cxnLst/>
              <a:rect r="r" b="b" t="t" l="l"/>
              <a:pathLst>
                <a:path h="110490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1104900"/>
                  </a:lnTo>
                  <a:lnTo>
                    <a:pt x="0" y="1104900"/>
                  </a:lnTo>
                  <a:close/>
                </a:path>
              </a:pathLst>
            </a:custGeom>
            <a:solidFill>
              <a:srgbClr val="BE5550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171575" y="8243888"/>
            <a:ext cx="15944850" cy="614362"/>
            <a:chOff x="0" y="0"/>
            <a:chExt cx="21259800" cy="81915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1259800" cy="819150"/>
            </a:xfrm>
            <a:custGeom>
              <a:avLst/>
              <a:gdLst/>
              <a:ahLst/>
              <a:cxnLst/>
              <a:rect r="r" b="b" t="t" l="l"/>
              <a:pathLst>
                <a:path h="819150" w="21259800">
                  <a:moveTo>
                    <a:pt x="0" y="0"/>
                  </a:moveTo>
                  <a:lnTo>
                    <a:pt x="21259800" y="0"/>
                  </a:lnTo>
                  <a:lnTo>
                    <a:pt x="21259800" y="819150"/>
                  </a:lnTo>
                  <a:lnTo>
                    <a:pt x="0" y="8191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5704" r="0" b="-455704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21259800" cy="857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65"/>
                </a:lnSpc>
              </a:pPr>
              <a:r>
                <a:rPr lang="en-US" sz="2137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Jangan akhiri rapat sebelum setiap keputusan memiliki owner dan tanggal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571500"/>
            <a:chOff x="0" y="0"/>
            <a:chExt cx="24384000" cy="762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762000"/>
            </a:xfrm>
            <a:custGeom>
              <a:avLst/>
              <a:gdLst/>
              <a:ahLst/>
              <a:cxnLst/>
              <a:rect r="r" b="b" t="t" l="l"/>
              <a:pathLst>
                <a:path h="762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15574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100012"/>
            <a:ext cx="16573500" cy="357188"/>
            <a:chOff x="0" y="0"/>
            <a:chExt cx="22098000" cy="4762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098000" cy="476250"/>
            </a:xfrm>
            <a:custGeom>
              <a:avLst/>
              <a:gdLst/>
              <a:ahLst/>
              <a:cxnLst/>
              <a:rect r="r" b="b" t="t" l="l"/>
              <a:pathLst>
                <a:path h="47625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476250"/>
                  </a:lnTo>
                  <a:lnTo>
                    <a:pt x="0" y="476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4105" r="0" b="-85410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2098000" cy="504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755"/>
                </a:lnSpc>
              </a:pPr>
              <a:r>
                <a:rPr lang="en-US" sz="1462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HASIL YANG DISEPAKATI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57250" y="885825"/>
            <a:ext cx="16573500" cy="771525"/>
            <a:chOff x="0" y="0"/>
            <a:chExt cx="22098000" cy="10287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098000" cy="1028700"/>
            </a:xfrm>
            <a:custGeom>
              <a:avLst/>
              <a:gdLst/>
              <a:ahLst/>
              <a:cxnLst/>
              <a:rect r="r" b="b" t="t" l="l"/>
              <a:pathLst>
                <a:path h="102870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1028700"/>
                  </a:lnTo>
                  <a:lnTo>
                    <a:pt x="0" y="10287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8567" r="0" b="-368567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76200"/>
              <a:ext cx="22098000" cy="1104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sz="4050" b="true">
                  <a:solidFill>
                    <a:srgbClr val="1557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Pembagian kerja menghubungkan data, model, dan naskah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7002125" y="9686925"/>
            <a:ext cx="500062" cy="257175"/>
            <a:chOff x="0" y="0"/>
            <a:chExt cx="666750" cy="3429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66750" cy="342900"/>
            </a:xfrm>
            <a:custGeom>
              <a:avLst/>
              <a:gdLst/>
              <a:ahLst/>
              <a:cxnLst/>
              <a:rect r="r" b="b" t="t" l="l"/>
              <a:pathLst>
                <a:path h="342900" w="666750">
                  <a:moveTo>
                    <a:pt x="0" y="0"/>
                  </a:moveTo>
                  <a:lnTo>
                    <a:pt x="666750" y="0"/>
                  </a:lnTo>
                  <a:lnTo>
                    <a:pt x="666750" y="342900"/>
                  </a:lnTo>
                  <a:lnTo>
                    <a:pt x="0" y="3429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984" t="0" r="-15984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66750" cy="361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85"/>
                </a:lnSpc>
              </a:pPr>
              <a:r>
                <a:rPr lang="en-US" sz="1237">
                  <a:solidFill>
                    <a:srgbClr val="77736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23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50106" y="1993106"/>
            <a:ext cx="3729038" cy="1014412"/>
            <a:chOff x="0" y="0"/>
            <a:chExt cx="4972050" cy="13525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972050" cy="1352550"/>
            </a:xfrm>
            <a:custGeom>
              <a:avLst/>
              <a:gdLst/>
              <a:ahLst/>
              <a:cxnLst/>
              <a:rect r="r" b="b" t="t" l="l"/>
              <a:pathLst>
                <a:path h="1352550" w="4972050">
                  <a:moveTo>
                    <a:pt x="0" y="0"/>
                  </a:moveTo>
                  <a:lnTo>
                    <a:pt x="4972050" y="0"/>
                  </a:lnTo>
                  <a:lnTo>
                    <a:pt x="4972050" y="1352550"/>
                  </a:lnTo>
                  <a:lnTo>
                    <a:pt x="0" y="1352550"/>
                  </a:lnTo>
                  <a:close/>
                </a:path>
              </a:pathLst>
            </a:custGeom>
            <a:solidFill>
              <a:srgbClr val="155744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971550" y="2057400"/>
            <a:ext cx="3486150" cy="885825"/>
            <a:chOff x="0" y="0"/>
            <a:chExt cx="4648200" cy="11811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648200" cy="1181100"/>
            </a:xfrm>
            <a:custGeom>
              <a:avLst/>
              <a:gdLst/>
              <a:ahLst/>
              <a:cxnLst/>
              <a:rect r="r" b="b" t="t" l="l"/>
              <a:pathLst>
                <a:path h="1181100" w="4648200">
                  <a:moveTo>
                    <a:pt x="0" y="0"/>
                  </a:moveTo>
                  <a:lnTo>
                    <a:pt x="4648200" y="0"/>
                  </a:lnTo>
                  <a:lnTo>
                    <a:pt x="4648200" y="1181100"/>
                  </a:lnTo>
                  <a:lnTo>
                    <a:pt x="0" y="11811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683" r="0" b="-26683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4648200" cy="1219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25"/>
                </a:lnSpc>
              </a:pPr>
              <a:r>
                <a:rPr lang="en-US" sz="1687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Pekerjaan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564856" y="1993106"/>
            <a:ext cx="6157912" cy="1014412"/>
            <a:chOff x="0" y="0"/>
            <a:chExt cx="8210550" cy="13525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210550" cy="1352550"/>
            </a:xfrm>
            <a:custGeom>
              <a:avLst/>
              <a:gdLst/>
              <a:ahLst/>
              <a:cxnLst/>
              <a:rect r="r" b="b" t="t" l="l"/>
              <a:pathLst>
                <a:path h="1352550" w="8210550">
                  <a:moveTo>
                    <a:pt x="0" y="0"/>
                  </a:moveTo>
                  <a:lnTo>
                    <a:pt x="8210550" y="0"/>
                  </a:lnTo>
                  <a:lnTo>
                    <a:pt x="8210550" y="1352550"/>
                  </a:lnTo>
                  <a:lnTo>
                    <a:pt x="0" y="1352550"/>
                  </a:lnTo>
                  <a:close/>
                </a:path>
              </a:pathLst>
            </a:custGeom>
            <a:solidFill>
              <a:srgbClr val="155744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4686300" y="2057400"/>
            <a:ext cx="5915025" cy="885825"/>
            <a:chOff x="0" y="0"/>
            <a:chExt cx="7886700" cy="11811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886700" cy="1181100"/>
            </a:xfrm>
            <a:custGeom>
              <a:avLst/>
              <a:gdLst/>
              <a:ahLst/>
              <a:cxnLst/>
              <a:rect r="r" b="b" t="t" l="l"/>
              <a:pathLst>
                <a:path h="1181100" w="7886700">
                  <a:moveTo>
                    <a:pt x="0" y="0"/>
                  </a:moveTo>
                  <a:lnTo>
                    <a:pt x="7886700" y="0"/>
                  </a:lnTo>
                  <a:lnTo>
                    <a:pt x="7886700" y="1181100"/>
                  </a:lnTo>
                  <a:lnTo>
                    <a:pt x="0" y="11811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109" r="0" b="-80109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7886700" cy="1219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25"/>
                </a:lnSpc>
              </a:pPr>
              <a:r>
                <a:rPr lang="en-US" sz="1687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Ruang lingkup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708481" y="1993106"/>
            <a:ext cx="4157662" cy="1014412"/>
            <a:chOff x="0" y="0"/>
            <a:chExt cx="5543550" cy="13525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543550" cy="1352550"/>
            </a:xfrm>
            <a:custGeom>
              <a:avLst/>
              <a:gdLst/>
              <a:ahLst/>
              <a:cxnLst/>
              <a:rect r="r" b="b" t="t" l="l"/>
              <a:pathLst>
                <a:path h="1352550" w="5543550">
                  <a:moveTo>
                    <a:pt x="0" y="0"/>
                  </a:moveTo>
                  <a:lnTo>
                    <a:pt x="5543550" y="0"/>
                  </a:lnTo>
                  <a:lnTo>
                    <a:pt x="5543550" y="1352550"/>
                  </a:lnTo>
                  <a:lnTo>
                    <a:pt x="0" y="1352550"/>
                  </a:lnTo>
                  <a:close/>
                </a:path>
              </a:pathLst>
            </a:custGeom>
            <a:solidFill>
              <a:srgbClr val="155744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0829925" y="2057400"/>
            <a:ext cx="3914775" cy="885825"/>
            <a:chOff x="0" y="0"/>
            <a:chExt cx="5219700" cy="11811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219700" cy="1181100"/>
            </a:xfrm>
            <a:custGeom>
              <a:avLst/>
              <a:gdLst/>
              <a:ahLst/>
              <a:cxnLst/>
              <a:rect r="r" b="b" t="t" l="l"/>
              <a:pathLst>
                <a:path h="1181100" w="5219700">
                  <a:moveTo>
                    <a:pt x="0" y="0"/>
                  </a:moveTo>
                  <a:lnTo>
                    <a:pt x="5219700" y="0"/>
                  </a:lnTo>
                  <a:lnTo>
                    <a:pt x="5219700" y="1181100"/>
                  </a:lnTo>
                  <a:lnTo>
                    <a:pt x="0" y="11811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111" r="0" b="-36111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5219700" cy="1219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25"/>
                </a:lnSpc>
              </a:pPr>
              <a:r>
                <a:rPr lang="en-US" sz="1687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Lead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4851856" y="1993106"/>
            <a:ext cx="2586038" cy="1014412"/>
            <a:chOff x="0" y="0"/>
            <a:chExt cx="3448050" cy="135255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448050" cy="1352550"/>
            </a:xfrm>
            <a:custGeom>
              <a:avLst/>
              <a:gdLst/>
              <a:ahLst/>
              <a:cxnLst/>
              <a:rect r="r" b="b" t="t" l="l"/>
              <a:pathLst>
                <a:path h="1352550" w="3448050">
                  <a:moveTo>
                    <a:pt x="0" y="0"/>
                  </a:moveTo>
                  <a:lnTo>
                    <a:pt x="3448050" y="0"/>
                  </a:lnTo>
                  <a:lnTo>
                    <a:pt x="3448050" y="1352550"/>
                  </a:lnTo>
                  <a:lnTo>
                    <a:pt x="0" y="1352550"/>
                  </a:lnTo>
                  <a:close/>
                </a:path>
              </a:pathLst>
            </a:custGeom>
            <a:solidFill>
              <a:srgbClr val="155744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4973300" y="2057400"/>
            <a:ext cx="2343150" cy="885825"/>
            <a:chOff x="0" y="0"/>
            <a:chExt cx="3124200" cy="11811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124200" cy="1181100"/>
            </a:xfrm>
            <a:custGeom>
              <a:avLst/>
              <a:gdLst/>
              <a:ahLst/>
              <a:cxnLst/>
              <a:rect r="r" b="b" t="t" l="l"/>
              <a:pathLst>
                <a:path h="1181100" w="3124200">
                  <a:moveTo>
                    <a:pt x="0" y="0"/>
                  </a:moveTo>
                  <a:lnTo>
                    <a:pt x="3124200" y="0"/>
                  </a:lnTo>
                  <a:lnTo>
                    <a:pt x="3124200" y="1181100"/>
                  </a:lnTo>
                  <a:lnTo>
                    <a:pt x="0" y="11811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1" r="0" b="-1541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3124200" cy="1219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25"/>
                </a:lnSpc>
              </a:pPr>
              <a:r>
                <a:rPr lang="en-US" sz="1687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Output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850106" y="2993231"/>
            <a:ext cx="3729038" cy="1014412"/>
            <a:chOff x="0" y="0"/>
            <a:chExt cx="4972050" cy="135255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972050" cy="1352550"/>
            </a:xfrm>
            <a:custGeom>
              <a:avLst/>
              <a:gdLst/>
              <a:ahLst/>
              <a:cxnLst/>
              <a:rect r="r" b="b" t="t" l="l"/>
              <a:pathLst>
                <a:path h="1352550" w="4972050">
                  <a:moveTo>
                    <a:pt x="0" y="0"/>
                  </a:moveTo>
                  <a:lnTo>
                    <a:pt x="4972050" y="0"/>
                  </a:lnTo>
                  <a:lnTo>
                    <a:pt x="4972050" y="1352550"/>
                  </a:lnTo>
                  <a:lnTo>
                    <a:pt x="0" y="1352550"/>
                  </a:lnTo>
                  <a:close/>
                </a:path>
              </a:pathLst>
            </a:custGeom>
            <a:solidFill>
              <a:srgbClr val="F7F5F0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971550" y="3057525"/>
            <a:ext cx="3486150" cy="885825"/>
            <a:chOff x="0" y="0"/>
            <a:chExt cx="4648200" cy="11811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648200" cy="1181100"/>
            </a:xfrm>
            <a:custGeom>
              <a:avLst/>
              <a:gdLst/>
              <a:ahLst/>
              <a:cxnLst/>
              <a:rect r="r" b="b" t="t" l="l"/>
              <a:pathLst>
                <a:path h="1181100" w="4648200">
                  <a:moveTo>
                    <a:pt x="0" y="0"/>
                  </a:moveTo>
                  <a:lnTo>
                    <a:pt x="4648200" y="0"/>
                  </a:lnTo>
                  <a:lnTo>
                    <a:pt x="4648200" y="1181100"/>
                  </a:lnTo>
                  <a:lnTo>
                    <a:pt x="0" y="11811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683" r="0" b="-26683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4648200" cy="1219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25"/>
                </a:lnSpc>
              </a:pPr>
              <a:r>
                <a:rPr lang="en-US" sz="1687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 &amp; reproducibility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4564856" y="2993231"/>
            <a:ext cx="6157912" cy="1014412"/>
            <a:chOff x="0" y="0"/>
            <a:chExt cx="8210550" cy="135255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210550" cy="1352550"/>
            </a:xfrm>
            <a:custGeom>
              <a:avLst/>
              <a:gdLst/>
              <a:ahLst/>
              <a:cxnLst/>
              <a:rect r="r" b="b" t="t" l="l"/>
              <a:pathLst>
                <a:path h="1352550" w="8210550">
                  <a:moveTo>
                    <a:pt x="0" y="0"/>
                  </a:moveTo>
                  <a:lnTo>
                    <a:pt x="8210550" y="0"/>
                  </a:lnTo>
                  <a:lnTo>
                    <a:pt x="8210550" y="1352550"/>
                  </a:lnTo>
                  <a:lnTo>
                    <a:pt x="0" y="1352550"/>
                  </a:lnTo>
                  <a:close/>
                </a:path>
              </a:pathLst>
            </a:custGeom>
            <a:solidFill>
              <a:srgbClr val="F7F5F0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4686300" y="3057525"/>
            <a:ext cx="5915025" cy="885825"/>
            <a:chOff x="0" y="0"/>
            <a:chExt cx="7886700" cy="11811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886700" cy="1181100"/>
            </a:xfrm>
            <a:custGeom>
              <a:avLst/>
              <a:gdLst/>
              <a:ahLst/>
              <a:cxnLst/>
              <a:rect r="r" b="b" t="t" l="l"/>
              <a:pathLst>
                <a:path h="1181100" w="7886700">
                  <a:moveTo>
                    <a:pt x="0" y="0"/>
                  </a:moveTo>
                  <a:lnTo>
                    <a:pt x="7886700" y="0"/>
                  </a:lnTo>
                  <a:lnTo>
                    <a:pt x="7886700" y="1181100"/>
                  </a:lnTo>
                  <a:lnTo>
                    <a:pt x="0" y="11811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109" r="0" b="-80109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7886700" cy="1219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25"/>
                </a:lnSpc>
              </a:pPr>
              <a:r>
                <a:rPr lang="en-US" sz="1687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Rekonsiliasi, manifest, ledger, frozen cut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0708481" y="2993231"/>
            <a:ext cx="4157662" cy="1014412"/>
            <a:chOff x="0" y="0"/>
            <a:chExt cx="5543550" cy="135255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543550" cy="1352550"/>
            </a:xfrm>
            <a:custGeom>
              <a:avLst/>
              <a:gdLst/>
              <a:ahLst/>
              <a:cxnLst/>
              <a:rect r="r" b="b" t="t" l="l"/>
              <a:pathLst>
                <a:path h="1352550" w="5543550">
                  <a:moveTo>
                    <a:pt x="0" y="0"/>
                  </a:moveTo>
                  <a:lnTo>
                    <a:pt x="5543550" y="0"/>
                  </a:lnTo>
                  <a:lnTo>
                    <a:pt x="5543550" y="1352550"/>
                  </a:lnTo>
                  <a:lnTo>
                    <a:pt x="0" y="1352550"/>
                  </a:lnTo>
                  <a:close/>
                </a:path>
              </a:pathLst>
            </a:custGeom>
            <a:solidFill>
              <a:srgbClr val="F7F5F0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10829925" y="3057525"/>
            <a:ext cx="3914775" cy="885825"/>
            <a:chOff x="0" y="0"/>
            <a:chExt cx="5219700" cy="11811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219700" cy="1181100"/>
            </a:xfrm>
            <a:custGeom>
              <a:avLst/>
              <a:gdLst/>
              <a:ahLst/>
              <a:cxnLst/>
              <a:rect r="r" b="b" t="t" l="l"/>
              <a:pathLst>
                <a:path h="1181100" w="5219700">
                  <a:moveTo>
                    <a:pt x="0" y="0"/>
                  </a:moveTo>
                  <a:lnTo>
                    <a:pt x="5219700" y="0"/>
                  </a:lnTo>
                  <a:lnTo>
                    <a:pt x="5219700" y="1181100"/>
                  </a:lnTo>
                  <a:lnTo>
                    <a:pt x="0" y="11811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111" r="0" b="-36111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5219700" cy="1219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25"/>
                </a:lnSpc>
              </a:pPr>
              <a:r>
                <a:rPr lang="en-US" sz="1687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Alwan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4851856" y="2993231"/>
            <a:ext cx="2586038" cy="1014412"/>
            <a:chOff x="0" y="0"/>
            <a:chExt cx="3448050" cy="135255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448050" cy="1352550"/>
            </a:xfrm>
            <a:custGeom>
              <a:avLst/>
              <a:gdLst/>
              <a:ahLst/>
              <a:cxnLst/>
              <a:rect r="r" b="b" t="t" l="l"/>
              <a:pathLst>
                <a:path h="1352550" w="3448050">
                  <a:moveTo>
                    <a:pt x="0" y="0"/>
                  </a:moveTo>
                  <a:lnTo>
                    <a:pt x="3448050" y="0"/>
                  </a:lnTo>
                  <a:lnTo>
                    <a:pt x="3448050" y="1352550"/>
                  </a:lnTo>
                  <a:lnTo>
                    <a:pt x="0" y="1352550"/>
                  </a:lnTo>
                  <a:close/>
                </a:path>
              </a:pathLst>
            </a:custGeom>
            <a:solidFill>
              <a:srgbClr val="F7F5F0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14973300" y="3057525"/>
            <a:ext cx="2343150" cy="885825"/>
            <a:chOff x="0" y="0"/>
            <a:chExt cx="3124200" cy="11811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124200" cy="1181100"/>
            </a:xfrm>
            <a:custGeom>
              <a:avLst/>
              <a:gdLst/>
              <a:ahLst/>
              <a:cxnLst/>
              <a:rect r="r" b="b" t="t" l="l"/>
              <a:pathLst>
                <a:path h="1181100" w="3124200">
                  <a:moveTo>
                    <a:pt x="0" y="0"/>
                  </a:moveTo>
                  <a:lnTo>
                    <a:pt x="3124200" y="0"/>
                  </a:lnTo>
                  <a:lnTo>
                    <a:pt x="3124200" y="1181100"/>
                  </a:lnTo>
                  <a:lnTo>
                    <a:pt x="0" y="11811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1" r="0" b="-1541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3124200" cy="1219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25"/>
                </a:lnSpc>
              </a:pPr>
              <a:r>
                <a:rPr lang="en-US" sz="1687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 final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850106" y="3993356"/>
            <a:ext cx="3729038" cy="1014412"/>
            <a:chOff x="0" y="0"/>
            <a:chExt cx="4972050" cy="135255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972050" cy="1352550"/>
            </a:xfrm>
            <a:custGeom>
              <a:avLst/>
              <a:gdLst/>
              <a:ahLst/>
              <a:cxnLst/>
              <a:rect r="r" b="b" t="t" l="l"/>
              <a:pathLst>
                <a:path h="1352550" w="4972050">
                  <a:moveTo>
                    <a:pt x="0" y="0"/>
                  </a:moveTo>
                  <a:lnTo>
                    <a:pt x="4972050" y="0"/>
                  </a:lnTo>
                  <a:lnTo>
                    <a:pt x="4972050" y="1352550"/>
                  </a:lnTo>
                  <a:lnTo>
                    <a:pt x="0" y="1352550"/>
                  </a:lnTo>
                  <a:close/>
                </a:path>
              </a:pathLst>
            </a:custGeom>
            <a:solidFill>
              <a:srgbClr val="ECE9E3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971550" y="4057650"/>
            <a:ext cx="3486150" cy="885825"/>
            <a:chOff x="0" y="0"/>
            <a:chExt cx="4648200" cy="11811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4648200" cy="1181100"/>
            </a:xfrm>
            <a:custGeom>
              <a:avLst/>
              <a:gdLst/>
              <a:ahLst/>
              <a:cxnLst/>
              <a:rect r="r" b="b" t="t" l="l"/>
              <a:pathLst>
                <a:path h="1181100" w="4648200">
                  <a:moveTo>
                    <a:pt x="0" y="0"/>
                  </a:moveTo>
                  <a:lnTo>
                    <a:pt x="4648200" y="0"/>
                  </a:lnTo>
                  <a:lnTo>
                    <a:pt x="4648200" y="1181100"/>
                  </a:lnTo>
                  <a:lnTo>
                    <a:pt x="0" y="11811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683" r="0" b="-26683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4648200" cy="1219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25"/>
                </a:lnSpc>
              </a:pPr>
              <a:r>
                <a:rPr lang="en-US" sz="1687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Model &amp; evaluation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4564856" y="3993356"/>
            <a:ext cx="6157912" cy="1014412"/>
            <a:chOff x="0" y="0"/>
            <a:chExt cx="8210550" cy="135255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8210550" cy="1352550"/>
            </a:xfrm>
            <a:custGeom>
              <a:avLst/>
              <a:gdLst/>
              <a:ahLst/>
              <a:cxnLst/>
              <a:rect r="r" b="b" t="t" l="l"/>
              <a:pathLst>
                <a:path h="1352550" w="8210550">
                  <a:moveTo>
                    <a:pt x="0" y="0"/>
                  </a:moveTo>
                  <a:lnTo>
                    <a:pt x="8210550" y="0"/>
                  </a:lnTo>
                  <a:lnTo>
                    <a:pt x="8210550" y="1352550"/>
                  </a:lnTo>
                  <a:lnTo>
                    <a:pt x="0" y="1352550"/>
                  </a:lnTo>
                  <a:close/>
                </a:path>
              </a:pathLst>
            </a:custGeom>
            <a:solidFill>
              <a:srgbClr val="ECE9E3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4686300" y="4057650"/>
            <a:ext cx="5915025" cy="885825"/>
            <a:chOff x="0" y="0"/>
            <a:chExt cx="7886700" cy="11811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7886700" cy="1181100"/>
            </a:xfrm>
            <a:custGeom>
              <a:avLst/>
              <a:gdLst/>
              <a:ahLst/>
              <a:cxnLst/>
              <a:rect r="r" b="b" t="t" l="l"/>
              <a:pathLst>
                <a:path h="1181100" w="7886700">
                  <a:moveTo>
                    <a:pt x="0" y="0"/>
                  </a:moveTo>
                  <a:lnTo>
                    <a:pt x="7886700" y="0"/>
                  </a:lnTo>
                  <a:lnTo>
                    <a:pt x="7886700" y="1181100"/>
                  </a:lnTo>
                  <a:lnTo>
                    <a:pt x="0" y="11811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109" r="0" b="-80109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7886700" cy="1219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25"/>
                </a:lnSpc>
              </a:pPr>
              <a:r>
                <a:rPr lang="en-US" sz="1687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Leakage fix, rolling OOS, ablation, diagnostics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0708481" y="3993356"/>
            <a:ext cx="4157662" cy="1014412"/>
            <a:chOff x="0" y="0"/>
            <a:chExt cx="5543550" cy="135255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5543550" cy="1352550"/>
            </a:xfrm>
            <a:custGeom>
              <a:avLst/>
              <a:gdLst/>
              <a:ahLst/>
              <a:cxnLst/>
              <a:rect r="r" b="b" t="t" l="l"/>
              <a:pathLst>
                <a:path h="1352550" w="5543550">
                  <a:moveTo>
                    <a:pt x="0" y="0"/>
                  </a:moveTo>
                  <a:lnTo>
                    <a:pt x="5543550" y="0"/>
                  </a:lnTo>
                  <a:lnTo>
                    <a:pt x="5543550" y="1352550"/>
                  </a:lnTo>
                  <a:lnTo>
                    <a:pt x="0" y="1352550"/>
                  </a:lnTo>
                  <a:close/>
                </a:path>
              </a:pathLst>
            </a:custGeom>
            <a:solidFill>
              <a:srgbClr val="ECE9E3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65" id="65"/>
          <p:cNvGrpSpPr/>
          <p:nvPr/>
        </p:nvGrpSpPr>
        <p:grpSpPr>
          <a:xfrm rot="0">
            <a:off x="10829925" y="4057650"/>
            <a:ext cx="3914775" cy="885825"/>
            <a:chOff x="0" y="0"/>
            <a:chExt cx="5219700" cy="11811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5219700" cy="1181100"/>
            </a:xfrm>
            <a:custGeom>
              <a:avLst/>
              <a:gdLst/>
              <a:ahLst/>
              <a:cxnLst/>
              <a:rect r="r" b="b" t="t" l="l"/>
              <a:pathLst>
                <a:path h="1181100" w="5219700">
                  <a:moveTo>
                    <a:pt x="0" y="0"/>
                  </a:moveTo>
                  <a:lnTo>
                    <a:pt x="5219700" y="0"/>
                  </a:lnTo>
                  <a:lnTo>
                    <a:pt x="5219700" y="1181100"/>
                  </a:lnTo>
                  <a:lnTo>
                    <a:pt x="0" y="11811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111" r="0" b="-36111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5219700" cy="1219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25"/>
                </a:lnSpc>
              </a:pPr>
              <a:r>
                <a:rPr lang="en-US" sz="1687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Duta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4851856" y="3993356"/>
            <a:ext cx="2586038" cy="1014412"/>
            <a:chOff x="0" y="0"/>
            <a:chExt cx="3448050" cy="135255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3448050" cy="1352550"/>
            </a:xfrm>
            <a:custGeom>
              <a:avLst/>
              <a:gdLst/>
              <a:ahLst/>
              <a:cxnLst/>
              <a:rect r="r" b="b" t="t" l="l"/>
              <a:pathLst>
                <a:path h="1352550" w="3448050">
                  <a:moveTo>
                    <a:pt x="0" y="0"/>
                  </a:moveTo>
                  <a:lnTo>
                    <a:pt x="3448050" y="0"/>
                  </a:lnTo>
                  <a:lnTo>
                    <a:pt x="3448050" y="1352550"/>
                  </a:lnTo>
                  <a:lnTo>
                    <a:pt x="0" y="1352550"/>
                  </a:lnTo>
                  <a:close/>
                </a:path>
              </a:pathLst>
            </a:custGeom>
            <a:solidFill>
              <a:srgbClr val="ECE9E3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70" id="70"/>
          <p:cNvGrpSpPr/>
          <p:nvPr/>
        </p:nvGrpSpPr>
        <p:grpSpPr>
          <a:xfrm rot="0">
            <a:off x="14973300" y="4057650"/>
            <a:ext cx="2343150" cy="885825"/>
            <a:chOff x="0" y="0"/>
            <a:chExt cx="3124200" cy="118110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124200" cy="1181100"/>
            </a:xfrm>
            <a:custGeom>
              <a:avLst/>
              <a:gdLst/>
              <a:ahLst/>
              <a:cxnLst/>
              <a:rect r="r" b="b" t="t" l="l"/>
              <a:pathLst>
                <a:path h="1181100" w="3124200">
                  <a:moveTo>
                    <a:pt x="0" y="0"/>
                  </a:moveTo>
                  <a:lnTo>
                    <a:pt x="3124200" y="0"/>
                  </a:lnTo>
                  <a:lnTo>
                    <a:pt x="3124200" y="1181100"/>
                  </a:lnTo>
                  <a:lnTo>
                    <a:pt x="0" y="11811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1" r="0" b="-1541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3124200" cy="1219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25"/>
                </a:lnSpc>
              </a:pPr>
              <a:r>
                <a:rPr lang="en-US" sz="1687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Hasil final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850106" y="4993481"/>
            <a:ext cx="3729038" cy="1014412"/>
            <a:chOff x="0" y="0"/>
            <a:chExt cx="4972050" cy="135255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4972050" cy="1352550"/>
            </a:xfrm>
            <a:custGeom>
              <a:avLst/>
              <a:gdLst/>
              <a:ahLst/>
              <a:cxnLst/>
              <a:rect r="r" b="b" t="t" l="l"/>
              <a:pathLst>
                <a:path h="1352550" w="4972050">
                  <a:moveTo>
                    <a:pt x="0" y="0"/>
                  </a:moveTo>
                  <a:lnTo>
                    <a:pt x="4972050" y="0"/>
                  </a:lnTo>
                  <a:lnTo>
                    <a:pt x="4972050" y="1352550"/>
                  </a:lnTo>
                  <a:lnTo>
                    <a:pt x="0" y="1352550"/>
                  </a:lnTo>
                  <a:close/>
                </a:path>
              </a:pathLst>
            </a:custGeom>
            <a:solidFill>
              <a:srgbClr val="F7F5F0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75" id="75"/>
          <p:cNvGrpSpPr/>
          <p:nvPr/>
        </p:nvGrpSpPr>
        <p:grpSpPr>
          <a:xfrm rot="0">
            <a:off x="971550" y="5057775"/>
            <a:ext cx="3486150" cy="885825"/>
            <a:chOff x="0" y="0"/>
            <a:chExt cx="4648200" cy="118110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4648200" cy="1181100"/>
            </a:xfrm>
            <a:custGeom>
              <a:avLst/>
              <a:gdLst/>
              <a:ahLst/>
              <a:cxnLst/>
              <a:rect r="r" b="b" t="t" l="l"/>
              <a:pathLst>
                <a:path h="1181100" w="4648200">
                  <a:moveTo>
                    <a:pt x="0" y="0"/>
                  </a:moveTo>
                  <a:lnTo>
                    <a:pt x="4648200" y="0"/>
                  </a:lnTo>
                  <a:lnTo>
                    <a:pt x="4648200" y="1181100"/>
                  </a:lnTo>
                  <a:lnTo>
                    <a:pt x="0" y="11811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683" r="0" b="-26683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38100"/>
              <a:ext cx="4648200" cy="1219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25"/>
                </a:lnSpc>
              </a:pPr>
              <a:r>
                <a:rPr lang="en-US" sz="1687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Bab 1–3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4564856" y="4993481"/>
            <a:ext cx="6157912" cy="1014412"/>
            <a:chOff x="0" y="0"/>
            <a:chExt cx="8210550" cy="135255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8210550" cy="1352550"/>
            </a:xfrm>
            <a:custGeom>
              <a:avLst/>
              <a:gdLst/>
              <a:ahLst/>
              <a:cxnLst/>
              <a:rect r="r" b="b" t="t" l="l"/>
              <a:pathLst>
                <a:path h="1352550" w="8210550">
                  <a:moveTo>
                    <a:pt x="0" y="0"/>
                  </a:moveTo>
                  <a:lnTo>
                    <a:pt x="8210550" y="0"/>
                  </a:lnTo>
                  <a:lnTo>
                    <a:pt x="8210550" y="1352550"/>
                  </a:lnTo>
                  <a:lnTo>
                    <a:pt x="0" y="1352550"/>
                  </a:lnTo>
                  <a:close/>
                </a:path>
              </a:pathLst>
            </a:custGeom>
            <a:solidFill>
              <a:srgbClr val="F7F5F0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80" id="80"/>
          <p:cNvGrpSpPr/>
          <p:nvPr/>
        </p:nvGrpSpPr>
        <p:grpSpPr>
          <a:xfrm rot="0">
            <a:off x="4686300" y="5057775"/>
            <a:ext cx="5915025" cy="885825"/>
            <a:chOff x="0" y="0"/>
            <a:chExt cx="7886700" cy="118110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7886700" cy="1181100"/>
            </a:xfrm>
            <a:custGeom>
              <a:avLst/>
              <a:gdLst/>
              <a:ahLst/>
              <a:cxnLst/>
              <a:rect r="r" b="b" t="t" l="l"/>
              <a:pathLst>
                <a:path h="1181100" w="7886700">
                  <a:moveTo>
                    <a:pt x="0" y="0"/>
                  </a:moveTo>
                  <a:lnTo>
                    <a:pt x="7886700" y="0"/>
                  </a:lnTo>
                  <a:lnTo>
                    <a:pt x="7886700" y="1181100"/>
                  </a:lnTo>
                  <a:lnTo>
                    <a:pt x="0" y="11811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109" r="0" b="-80109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7886700" cy="1219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25"/>
                </a:lnSpc>
              </a:pPr>
              <a:r>
                <a:rPr lang="en-US" sz="1687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Framing, literatur, metode, integrasi narasi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0708481" y="4993481"/>
            <a:ext cx="4157662" cy="1014412"/>
            <a:chOff x="0" y="0"/>
            <a:chExt cx="5543550" cy="135255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5543550" cy="1352550"/>
            </a:xfrm>
            <a:custGeom>
              <a:avLst/>
              <a:gdLst/>
              <a:ahLst/>
              <a:cxnLst/>
              <a:rect r="r" b="b" t="t" l="l"/>
              <a:pathLst>
                <a:path h="1352550" w="5543550">
                  <a:moveTo>
                    <a:pt x="0" y="0"/>
                  </a:moveTo>
                  <a:lnTo>
                    <a:pt x="5543550" y="0"/>
                  </a:lnTo>
                  <a:lnTo>
                    <a:pt x="5543550" y="1352550"/>
                  </a:lnTo>
                  <a:lnTo>
                    <a:pt x="0" y="1352550"/>
                  </a:lnTo>
                  <a:close/>
                </a:path>
              </a:pathLst>
            </a:custGeom>
            <a:solidFill>
              <a:srgbClr val="F7F5F0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85" id="85"/>
          <p:cNvGrpSpPr/>
          <p:nvPr/>
        </p:nvGrpSpPr>
        <p:grpSpPr>
          <a:xfrm rot="0">
            <a:off x="10829925" y="5057775"/>
            <a:ext cx="3914775" cy="885825"/>
            <a:chOff x="0" y="0"/>
            <a:chExt cx="5219700" cy="118110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5219700" cy="1181100"/>
            </a:xfrm>
            <a:custGeom>
              <a:avLst/>
              <a:gdLst/>
              <a:ahLst/>
              <a:cxnLst/>
              <a:rect r="r" b="b" t="t" l="l"/>
              <a:pathLst>
                <a:path h="1181100" w="5219700">
                  <a:moveTo>
                    <a:pt x="0" y="0"/>
                  </a:moveTo>
                  <a:lnTo>
                    <a:pt x="5219700" y="0"/>
                  </a:lnTo>
                  <a:lnTo>
                    <a:pt x="5219700" y="1181100"/>
                  </a:lnTo>
                  <a:lnTo>
                    <a:pt x="0" y="11811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111" r="0" b="-36111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38100"/>
              <a:ext cx="5219700" cy="1219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25"/>
                </a:lnSpc>
              </a:pPr>
              <a:r>
                <a:rPr lang="en-US" sz="1687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Hendra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4851856" y="4993481"/>
            <a:ext cx="2586038" cy="1014412"/>
            <a:chOff x="0" y="0"/>
            <a:chExt cx="3448050" cy="135255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3448050" cy="1352550"/>
            </a:xfrm>
            <a:custGeom>
              <a:avLst/>
              <a:gdLst/>
              <a:ahLst/>
              <a:cxnLst/>
              <a:rect r="r" b="b" t="t" l="l"/>
              <a:pathLst>
                <a:path h="1352550" w="3448050">
                  <a:moveTo>
                    <a:pt x="0" y="0"/>
                  </a:moveTo>
                  <a:lnTo>
                    <a:pt x="3448050" y="0"/>
                  </a:lnTo>
                  <a:lnTo>
                    <a:pt x="3448050" y="1352550"/>
                  </a:lnTo>
                  <a:lnTo>
                    <a:pt x="0" y="1352550"/>
                  </a:lnTo>
                  <a:close/>
                </a:path>
              </a:pathLst>
            </a:custGeom>
            <a:solidFill>
              <a:srgbClr val="F7F5F0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90" id="90"/>
          <p:cNvGrpSpPr/>
          <p:nvPr/>
        </p:nvGrpSpPr>
        <p:grpSpPr>
          <a:xfrm rot="0">
            <a:off x="14973300" y="5057775"/>
            <a:ext cx="2343150" cy="885825"/>
            <a:chOff x="0" y="0"/>
            <a:chExt cx="3124200" cy="118110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3124200" cy="1181100"/>
            </a:xfrm>
            <a:custGeom>
              <a:avLst/>
              <a:gdLst/>
              <a:ahLst/>
              <a:cxnLst/>
              <a:rect r="r" b="b" t="t" l="l"/>
              <a:pathLst>
                <a:path h="1181100" w="3124200">
                  <a:moveTo>
                    <a:pt x="0" y="0"/>
                  </a:moveTo>
                  <a:lnTo>
                    <a:pt x="3124200" y="0"/>
                  </a:lnTo>
                  <a:lnTo>
                    <a:pt x="3124200" y="1181100"/>
                  </a:lnTo>
                  <a:lnTo>
                    <a:pt x="0" y="11811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1" r="0" b="-1541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38100"/>
              <a:ext cx="3124200" cy="1219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25"/>
                </a:lnSpc>
              </a:pPr>
              <a:r>
                <a:rPr lang="en-US" sz="1687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Draft kuat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850106" y="5993606"/>
            <a:ext cx="3729038" cy="1014412"/>
            <a:chOff x="0" y="0"/>
            <a:chExt cx="4972050" cy="135255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4972050" cy="1352550"/>
            </a:xfrm>
            <a:custGeom>
              <a:avLst/>
              <a:gdLst/>
              <a:ahLst/>
              <a:cxnLst/>
              <a:rect r="r" b="b" t="t" l="l"/>
              <a:pathLst>
                <a:path h="1352550" w="4972050">
                  <a:moveTo>
                    <a:pt x="0" y="0"/>
                  </a:moveTo>
                  <a:lnTo>
                    <a:pt x="4972050" y="0"/>
                  </a:lnTo>
                  <a:lnTo>
                    <a:pt x="4972050" y="1352550"/>
                  </a:lnTo>
                  <a:lnTo>
                    <a:pt x="0" y="1352550"/>
                  </a:lnTo>
                  <a:close/>
                </a:path>
              </a:pathLst>
            </a:custGeom>
            <a:solidFill>
              <a:srgbClr val="ECE9E3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95" id="95"/>
          <p:cNvGrpSpPr/>
          <p:nvPr/>
        </p:nvGrpSpPr>
        <p:grpSpPr>
          <a:xfrm rot="0">
            <a:off x="971550" y="6057900"/>
            <a:ext cx="3486150" cy="885825"/>
            <a:chOff x="0" y="0"/>
            <a:chExt cx="4648200" cy="118110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4648200" cy="1181100"/>
            </a:xfrm>
            <a:custGeom>
              <a:avLst/>
              <a:gdLst/>
              <a:ahLst/>
              <a:cxnLst/>
              <a:rect r="r" b="b" t="t" l="l"/>
              <a:pathLst>
                <a:path h="1181100" w="4648200">
                  <a:moveTo>
                    <a:pt x="0" y="0"/>
                  </a:moveTo>
                  <a:lnTo>
                    <a:pt x="4648200" y="0"/>
                  </a:lnTo>
                  <a:lnTo>
                    <a:pt x="4648200" y="1181100"/>
                  </a:lnTo>
                  <a:lnTo>
                    <a:pt x="0" y="11811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683" r="0" b="-26683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38100"/>
              <a:ext cx="4648200" cy="1219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25"/>
                </a:lnSpc>
              </a:pPr>
              <a:r>
                <a:rPr lang="en-US" sz="1687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Bab 4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4564856" y="5993606"/>
            <a:ext cx="6157912" cy="1014412"/>
            <a:chOff x="0" y="0"/>
            <a:chExt cx="8210550" cy="135255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8210550" cy="1352550"/>
            </a:xfrm>
            <a:custGeom>
              <a:avLst/>
              <a:gdLst/>
              <a:ahLst/>
              <a:cxnLst/>
              <a:rect r="r" b="b" t="t" l="l"/>
              <a:pathLst>
                <a:path h="1352550" w="8210550">
                  <a:moveTo>
                    <a:pt x="0" y="0"/>
                  </a:moveTo>
                  <a:lnTo>
                    <a:pt x="8210550" y="0"/>
                  </a:lnTo>
                  <a:lnTo>
                    <a:pt x="8210550" y="1352550"/>
                  </a:lnTo>
                  <a:lnTo>
                    <a:pt x="0" y="1352550"/>
                  </a:lnTo>
                  <a:close/>
                </a:path>
              </a:pathLst>
            </a:custGeom>
            <a:solidFill>
              <a:srgbClr val="ECE9E3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100" id="100"/>
          <p:cNvGrpSpPr/>
          <p:nvPr/>
        </p:nvGrpSpPr>
        <p:grpSpPr>
          <a:xfrm rot="0">
            <a:off x="4686300" y="6057900"/>
            <a:ext cx="5915025" cy="885825"/>
            <a:chOff x="0" y="0"/>
            <a:chExt cx="7886700" cy="118110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7886700" cy="1181100"/>
            </a:xfrm>
            <a:custGeom>
              <a:avLst/>
              <a:gdLst/>
              <a:ahLst/>
              <a:cxnLst/>
              <a:rect r="r" b="b" t="t" l="l"/>
              <a:pathLst>
                <a:path h="1181100" w="7886700">
                  <a:moveTo>
                    <a:pt x="0" y="0"/>
                  </a:moveTo>
                  <a:lnTo>
                    <a:pt x="7886700" y="0"/>
                  </a:lnTo>
                  <a:lnTo>
                    <a:pt x="7886700" y="1181100"/>
                  </a:lnTo>
                  <a:lnTo>
                    <a:pt x="0" y="11811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109" r="0" b="-80109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38100"/>
              <a:ext cx="7886700" cy="1219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25"/>
                </a:lnSpc>
              </a:pPr>
              <a:r>
                <a:rPr lang="en-US" sz="1687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Hasil data dan model, interpretasi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10708481" y="5993606"/>
            <a:ext cx="4157662" cy="1014412"/>
            <a:chOff x="0" y="0"/>
            <a:chExt cx="5543550" cy="1352550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5543550" cy="1352550"/>
            </a:xfrm>
            <a:custGeom>
              <a:avLst/>
              <a:gdLst/>
              <a:ahLst/>
              <a:cxnLst/>
              <a:rect r="r" b="b" t="t" l="l"/>
              <a:pathLst>
                <a:path h="1352550" w="5543550">
                  <a:moveTo>
                    <a:pt x="0" y="0"/>
                  </a:moveTo>
                  <a:lnTo>
                    <a:pt x="5543550" y="0"/>
                  </a:lnTo>
                  <a:lnTo>
                    <a:pt x="5543550" y="1352550"/>
                  </a:lnTo>
                  <a:lnTo>
                    <a:pt x="0" y="1352550"/>
                  </a:lnTo>
                  <a:close/>
                </a:path>
              </a:pathLst>
            </a:custGeom>
            <a:solidFill>
              <a:srgbClr val="ECE9E3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105" id="105"/>
          <p:cNvGrpSpPr/>
          <p:nvPr/>
        </p:nvGrpSpPr>
        <p:grpSpPr>
          <a:xfrm rot="0">
            <a:off x="10829925" y="6057900"/>
            <a:ext cx="3914775" cy="885825"/>
            <a:chOff x="0" y="0"/>
            <a:chExt cx="5219700" cy="1181100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5219700" cy="1181100"/>
            </a:xfrm>
            <a:custGeom>
              <a:avLst/>
              <a:gdLst/>
              <a:ahLst/>
              <a:cxnLst/>
              <a:rect r="r" b="b" t="t" l="l"/>
              <a:pathLst>
                <a:path h="1181100" w="5219700">
                  <a:moveTo>
                    <a:pt x="0" y="0"/>
                  </a:moveTo>
                  <a:lnTo>
                    <a:pt x="5219700" y="0"/>
                  </a:lnTo>
                  <a:lnTo>
                    <a:pt x="5219700" y="1181100"/>
                  </a:lnTo>
                  <a:lnTo>
                    <a:pt x="0" y="11811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111" r="0" b="-36111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38100"/>
              <a:ext cx="5219700" cy="1219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25"/>
                </a:lnSpc>
              </a:pPr>
              <a:r>
                <a:rPr lang="en-US" sz="1687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Duta + Alwan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14851856" y="5993606"/>
            <a:ext cx="2586038" cy="1014412"/>
            <a:chOff x="0" y="0"/>
            <a:chExt cx="3448050" cy="1352550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3448050" cy="1352550"/>
            </a:xfrm>
            <a:custGeom>
              <a:avLst/>
              <a:gdLst/>
              <a:ahLst/>
              <a:cxnLst/>
              <a:rect r="r" b="b" t="t" l="l"/>
              <a:pathLst>
                <a:path h="1352550" w="3448050">
                  <a:moveTo>
                    <a:pt x="0" y="0"/>
                  </a:moveTo>
                  <a:lnTo>
                    <a:pt x="3448050" y="0"/>
                  </a:lnTo>
                  <a:lnTo>
                    <a:pt x="3448050" y="1352550"/>
                  </a:lnTo>
                  <a:lnTo>
                    <a:pt x="0" y="1352550"/>
                  </a:lnTo>
                  <a:close/>
                </a:path>
              </a:pathLst>
            </a:custGeom>
            <a:solidFill>
              <a:srgbClr val="ECE9E3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110" id="110"/>
          <p:cNvGrpSpPr/>
          <p:nvPr/>
        </p:nvGrpSpPr>
        <p:grpSpPr>
          <a:xfrm rot="0">
            <a:off x="14973300" y="6057900"/>
            <a:ext cx="2343150" cy="885825"/>
            <a:chOff x="0" y="0"/>
            <a:chExt cx="3124200" cy="118110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3124200" cy="1181100"/>
            </a:xfrm>
            <a:custGeom>
              <a:avLst/>
              <a:gdLst/>
              <a:ahLst/>
              <a:cxnLst/>
              <a:rect r="r" b="b" t="t" l="l"/>
              <a:pathLst>
                <a:path h="1181100" w="3124200">
                  <a:moveTo>
                    <a:pt x="0" y="0"/>
                  </a:moveTo>
                  <a:lnTo>
                    <a:pt x="3124200" y="0"/>
                  </a:lnTo>
                  <a:lnTo>
                    <a:pt x="3124200" y="1181100"/>
                  </a:lnTo>
                  <a:lnTo>
                    <a:pt x="0" y="11811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1" r="0" b="-1541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38100"/>
              <a:ext cx="3124200" cy="1219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25"/>
                </a:lnSpc>
              </a:pPr>
              <a:r>
                <a:rPr lang="en-US" sz="1687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Results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850106" y="6993731"/>
            <a:ext cx="3729038" cy="1014412"/>
            <a:chOff x="0" y="0"/>
            <a:chExt cx="4972050" cy="135255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4972050" cy="1352550"/>
            </a:xfrm>
            <a:custGeom>
              <a:avLst/>
              <a:gdLst/>
              <a:ahLst/>
              <a:cxnLst/>
              <a:rect r="r" b="b" t="t" l="l"/>
              <a:pathLst>
                <a:path h="1352550" w="4972050">
                  <a:moveTo>
                    <a:pt x="0" y="0"/>
                  </a:moveTo>
                  <a:lnTo>
                    <a:pt x="4972050" y="0"/>
                  </a:lnTo>
                  <a:lnTo>
                    <a:pt x="4972050" y="1352550"/>
                  </a:lnTo>
                  <a:lnTo>
                    <a:pt x="0" y="1352550"/>
                  </a:lnTo>
                  <a:close/>
                </a:path>
              </a:pathLst>
            </a:custGeom>
            <a:solidFill>
              <a:srgbClr val="F7F5F0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115" id="115"/>
          <p:cNvGrpSpPr/>
          <p:nvPr/>
        </p:nvGrpSpPr>
        <p:grpSpPr>
          <a:xfrm rot="0">
            <a:off x="971550" y="7058025"/>
            <a:ext cx="3486150" cy="885825"/>
            <a:chOff x="0" y="0"/>
            <a:chExt cx="4648200" cy="1181100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4648200" cy="1181100"/>
            </a:xfrm>
            <a:custGeom>
              <a:avLst/>
              <a:gdLst/>
              <a:ahLst/>
              <a:cxnLst/>
              <a:rect r="r" b="b" t="t" l="l"/>
              <a:pathLst>
                <a:path h="1181100" w="4648200">
                  <a:moveTo>
                    <a:pt x="0" y="0"/>
                  </a:moveTo>
                  <a:lnTo>
                    <a:pt x="4648200" y="0"/>
                  </a:lnTo>
                  <a:lnTo>
                    <a:pt x="4648200" y="1181100"/>
                  </a:lnTo>
                  <a:lnTo>
                    <a:pt x="0" y="11811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683" r="0" b="-26683"/>
              </a:stretch>
            </a:blipFill>
          </p:spPr>
        </p:sp>
        <p:sp>
          <p:nvSpPr>
            <p:cNvPr name="TextBox 117" id="117"/>
            <p:cNvSpPr txBox="true"/>
            <p:nvPr/>
          </p:nvSpPr>
          <p:spPr>
            <a:xfrm>
              <a:off x="0" y="-38100"/>
              <a:ext cx="4648200" cy="1219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25"/>
                </a:lnSpc>
              </a:pPr>
              <a:r>
                <a:rPr lang="en-US" sz="1687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Review &amp; response</a:t>
              </a:r>
            </a:p>
          </p:txBody>
        </p:sp>
      </p:grpSp>
      <p:grpSp>
        <p:nvGrpSpPr>
          <p:cNvPr name="Group 118" id="118"/>
          <p:cNvGrpSpPr/>
          <p:nvPr/>
        </p:nvGrpSpPr>
        <p:grpSpPr>
          <a:xfrm rot="0">
            <a:off x="4564856" y="6993731"/>
            <a:ext cx="6157912" cy="1014412"/>
            <a:chOff x="0" y="0"/>
            <a:chExt cx="8210550" cy="1352550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8210550" cy="1352550"/>
            </a:xfrm>
            <a:custGeom>
              <a:avLst/>
              <a:gdLst/>
              <a:ahLst/>
              <a:cxnLst/>
              <a:rect r="r" b="b" t="t" l="l"/>
              <a:pathLst>
                <a:path h="1352550" w="8210550">
                  <a:moveTo>
                    <a:pt x="0" y="0"/>
                  </a:moveTo>
                  <a:lnTo>
                    <a:pt x="8210550" y="0"/>
                  </a:lnTo>
                  <a:lnTo>
                    <a:pt x="8210550" y="1352550"/>
                  </a:lnTo>
                  <a:lnTo>
                    <a:pt x="0" y="1352550"/>
                  </a:lnTo>
                  <a:close/>
                </a:path>
              </a:pathLst>
            </a:custGeom>
            <a:solidFill>
              <a:srgbClr val="F7F5F0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120" id="120"/>
          <p:cNvGrpSpPr/>
          <p:nvPr/>
        </p:nvGrpSpPr>
        <p:grpSpPr>
          <a:xfrm rot="0">
            <a:off x="4686300" y="7058025"/>
            <a:ext cx="5915025" cy="885825"/>
            <a:chOff x="0" y="0"/>
            <a:chExt cx="7886700" cy="1181100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7886700" cy="1181100"/>
            </a:xfrm>
            <a:custGeom>
              <a:avLst/>
              <a:gdLst/>
              <a:ahLst/>
              <a:cxnLst/>
              <a:rect r="r" b="b" t="t" l="l"/>
              <a:pathLst>
                <a:path h="1181100" w="7886700">
                  <a:moveTo>
                    <a:pt x="0" y="0"/>
                  </a:moveTo>
                  <a:lnTo>
                    <a:pt x="7886700" y="0"/>
                  </a:lnTo>
                  <a:lnTo>
                    <a:pt x="7886700" y="1181100"/>
                  </a:lnTo>
                  <a:lnTo>
                    <a:pt x="0" y="11811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109" r="0" b="-80109"/>
              </a:stretch>
            </a:blipFill>
          </p:spPr>
        </p:sp>
        <p:sp>
          <p:nvSpPr>
            <p:cNvPr name="TextBox 122" id="122"/>
            <p:cNvSpPr txBox="true"/>
            <p:nvPr/>
          </p:nvSpPr>
          <p:spPr>
            <a:xfrm>
              <a:off x="0" y="-38100"/>
              <a:ext cx="7886700" cy="1219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25"/>
                </a:lnSpc>
              </a:pPr>
              <a:r>
                <a:rPr lang="en-US" sz="1687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Integrasi komentar dan konsistensi klaim</a:t>
              </a:r>
            </a:p>
          </p:txBody>
        </p:sp>
      </p:grpSp>
      <p:grpSp>
        <p:nvGrpSpPr>
          <p:cNvPr name="Group 123" id="123"/>
          <p:cNvGrpSpPr/>
          <p:nvPr/>
        </p:nvGrpSpPr>
        <p:grpSpPr>
          <a:xfrm rot="0">
            <a:off x="10708481" y="6993731"/>
            <a:ext cx="4157662" cy="1014412"/>
            <a:chOff x="0" y="0"/>
            <a:chExt cx="5543550" cy="1352550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5543550" cy="1352550"/>
            </a:xfrm>
            <a:custGeom>
              <a:avLst/>
              <a:gdLst/>
              <a:ahLst/>
              <a:cxnLst/>
              <a:rect r="r" b="b" t="t" l="l"/>
              <a:pathLst>
                <a:path h="1352550" w="5543550">
                  <a:moveTo>
                    <a:pt x="0" y="0"/>
                  </a:moveTo>
                  <a:lnTo>
                    <a:pt x="5543550" y="0"/>
                  </a:lnTo>
                  <a:lnTo>
                    <a:pt x="5543550" y="1352550"/>
                  </a:lnTo>
                  <a:lnTo>
                    <a:pt x="0" y="1352550"/>
                  </a:lnTo>
                  <a:close/>
                </a:path>
              </a:pathLst>
            </a:custGeom>
            <a:solidFill>
              <a:srgbClr val="F7F5F0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125" id="125"/>
          <p:cNvGrpSpPr/>
          <p:nvPr/>
        </p:nvGrpSpPr>
        <p:grpSpPr>
          <a:xfrm rot="0">
            <a:off x="10829925" y="7058025"/>
            <a:ext cx="3914775" cy="885825"/>
            <a:chOff x="0" y="0"/>
            <a:chExt cx="5219700" cy="1181100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5219700" cy="1181100"/>
            </a:xfrm>
            <a:custGeom>
              <a:avLst/>
              <a:gdLst/>
              <a:ahLst/>
              <a:cxnLst/>
              <a:rect r="r" b="b" t="t" l="l"/>
              <a:pathLst>
                <a:path h="1181100" w="5219700">
                  <a:moveTo>
                    <a:pt x="0" y="0"/>
                  </a:moveTo>
                  <a:lnTo>
                    <a:pt x="5219700" y="0"/>
                  </a:lnTo>
                  <a:lnTo>
                    <a:pt x="5219700" y="1181100"/>
                  </a:lnTo>
                  <a:lnTo>
                    <a:pt x="0" y="11811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111" r="0" b="-36111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38100"/>
              <a:ext cx="5219700" cy="1219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25"/>
                </a:lnSpc>
              </a:pPr>
              <a:r>
                <a:rPr lang="en-US" sz="1687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Hendra </a:t>
              </a: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14851856" y="6993731"/>
            <a:ext cx="2586038" cy="1014412"/>
            <a:chOff x="0" y="0"/>
            <a:chExt cx="3448050" cy="1352550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3448050" cy="1352550"/>
            </a:xfrm>
            <a:custGeom>
              <a:avLst/>
              <a:gdLst/>
              <a:ahLst/>
              <a:cxnLst/>
              <a:rect r="r" b="b" t="t" l="l"/>
              <a:pathLst>
                <a:path h="1352550" w="3448050">
                  <a:moveTo>
                    <a:pt x="0" y="0"/>
                  </a:moveTo>
                  <a:lnTo>
                    <a:pt x="3448050" y="0"/>
                  </a:lnTo>
                  <a:lnTo>
                    <a:pt x="3448050" y="1352550"/>
                  </a:lnTo>
                  <a:lnTo>
                    <a:pt x="0" y="1352550"/>
                  </a:lnTo>
                  <a:close/>
                </a:path>
              </a:pathLst>
            </a:custGeom>
            <a:solidFill>
              <a:srgbClr val="F7F5F0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130" id="130"/>
          <p:cNvGrpSpPr/>
          <p:nvPr/>
        </p:nvGrpSpPr>
        <p:grpSpPr>
          <a:xfrm rot="0">
            <a:off x="14973300" y="7058025"/>
            <a:ext cx="2343150" cy="885825"/>
            <a:chOff x="0" y="0"/>
            <a:chExt cx="3124200" cy="1181100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3124200" cy="1181100"/>
            </a:xfrm>
            <a:custGeom>
              <a:avLst/>
              <a:gdLst/>
              <a:ahLst/>
              <a:cxnLst/>
              <a:rect r="r" b="b" t="t" l="l"/>
              <a:pathLst>
                <a:path h="1181100" w="3124200">
                  <a:moveTo>
                    <a:pt x="0" y="0"/>
                  </a:moveTo>
                  <a:lnTo>
                    <a:pt x="3124200" y="0"/>
                  </a:lnTo>
                  <a:lnTo>
                    <a:pt x="3124200" y="1181100"/>
                  </a:lnTo>
                  <a:lnTo>
                    <a:pt x="0" y="11811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1" r="0" b="-1541"/>
              </a:stretch>
            </a:blipFill>
          </p:spPr>
        </p:sp>
        <p:sp>
          <p:nvSpPr>
            <p:cNvPr name="TextBox 132" id="132"/>
            <p:cNvSpPr txBox="true"/>
            <p:nvPr/>
          </p:nvSpPr>
          <p:spPr>
            <a:xfrm>
              <a:off x="0" y="-38100"/>
              <a:ext cx="3124200" cy="1219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25"/>
                </a:lnSpc>
              </a:pPr>
              <a:r>
                <a:rPr lang="en-US" sz="1687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Draft revisi</a:t>
              </a:r>
            </a:p>
          </p:txBody>
        </p:sp>
      </p:grpSp>
      <p:grpSp>
        <p:nvGrpSpPr>
          <p:cNvPr name="Group 133" id="133"/>
          <p:cNvGrpSpPr/>
          <p:nvPr/>
        </p:nvGrpSpPr>
        <p:grpSpPr>
          <a:xfrm rot="0">
            <a:off x="857250" y="8286750"/>
            <a:ext cx="16573500" cy="828675"/>
            <a:chOff x="0" y="0"/>
            <a:chExt cx="22098000" cy="1104900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22098000" cy="1104900"/>
            </a:xfrm>
            <a:custGeom>
              <a:avLst/>
              <a:gdLst/>
              <a:ahLst/>
              <a:cxnLst/>
              <a:rect r="r" b="b" t="t" l="l"/>
              <a:pathLst>
                <a:path h="110490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1104900"/>
                  </a:lnTo>
                  <a:lnTo>
                    <a:pt x="0" y="1104900"/>
                  </a:lnTo>
                  <a:close/>
                </a:path>
              </a:pathLst>
            </a:custGeom>
            <a:solidFill>
              <a:srgbClr val="155744"/>
            </a:solidFill>
          </p:spPr>
        </p:sp>
      </p:grpSp>
      <p:grpSp>
        <p:nvGrpSpPr>
          <p:cNvPr name="Group 135" id="135"/>
          <p:cNvGrpSpPr/>
          <p:nvPr/>
        </p:nvGrpSpPr>
        <p:grpSpPr>
          <a:xfrm rot="0">
            <a:off x="1171575" y="8386762"/>
            <a:ext cx="15944850" cy="614362"/>
            <a:chOff x="0" y="0"/>
            <a:chExt cx="21259800" cy="819150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21259800" cy="819150"/>
            </a:xfrm>
            <a:custGeom>
              <a:avLst/>
              <a:gdLst/>
              <a:ahLst/>
              <a:cxnLst/>
              <a:rect r="r" b="b" t="t" l="l"/>
              <a:pathLst>
                <a:path h="819150" w="21259800">
                  <a:moveTo>
                    <a:pt x="0" y="0"/>
                  </a:moveTo>
                  <a:lnTo>
                    <a:pt x="21259800" y="0"/>
                  </a:lnTo>
                  <a:lnTo>
                    <a:pt x="21259800" y="819150"/>
                  </a:lnTo>
                  <a:lnTo>
                    <a:pt x="0" y="8191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5704" r="0" b="-455704"/>
              </a:stretch>
            </a:blipFill>
          </p:spPr>
        </p:sp>
        <p:sp>
          <p:nvSpPr>
            <p:cNvPr name="TextBox 137" id="137"/>
            <p:cNvSpPr txBox="true"/>
            <p:nvPr/>
          </p:nvSpPr>
          <p:spPr>
            <a:xfrm>
              <a:off x="0" y="-38100"/>
              <a:ext cx="21259800" cy="857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65"/>
                </a:lnSpc>
              </a:pPr>
              <a:r>
                <a:rPr lang="en-US" sz="2137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Semua angka dan klaim harus dapat ditelusuri ke data, kode, dan owner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571500"/>
            <a:chOff x="0" y="0"/>
            <a:chExt cx="24384000" cy="762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762000"/>
            </a:xfrm>
            <a:custGeom>
              <a:avLst/>
              <a:gdLst/>
              <a:ahLst/>
              <a:cxnLst/>
              <a:rect r="r" b="b" t="t" l="l"/>
              <a:pathLst>
                <a:path h="762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15574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100012"/>
            <a:ext cx="16573500" cy="357188"/>
            <a:chOff x="0" y="0"/>
            <a:chExt cx="22098000" cy="4762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098000" cy="476250"/>
            </a:xfrm>
            <a:custGeom>
              <a:avLst/>
              <a:gdLst/>
              <a:ahLst/>
              <a:cxnLst/>
              <a:rect r="r" b="b" t="t" l="l"/>
              <a:pathLst>
                <a:path h="47625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476250"/>
                  </a:lnTo>
                  <a:lnTo>
                    <a:pt x="0" y="476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4105" r="0" b="-85410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2098000" cy="504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755"/>
                </a:lnSpc>
              </a:pPr>
              <a:r>
                <a:rPr lang="en-US" sz="1462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HASIL YANG DISEPAKATI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57250" y="885825"/>
            <a:ext cx="16573500" cy="771525"/>
            <a:chOff x="0" y="0"/>
            <a:chExt cx="22098000" cy="10287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098000" cy="1028700"/>
            </a:xfrm>
            <a:custGeom>
              <a:avLst/>
              <a:gdLst/>
              <a:ahLst/>
              <a:cxnLst/>
              <a:rect r="r" b="b" t="t" l="l"/>
              <a:pathLst>
                <a:path h="102870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1028700"/>
                  </a:lnTo>
                  <a:lnTo>
                    <a:pt x="0" y="10287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8567" r="0" b="-368567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76200"/>
              <a:ext cx="22098000" cy="1104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sz="4050" b="true">
                  <a:solidFill>
                    <a:srgbClr val="1557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Timeline harus memberi ruang untuk beberapa putaran revisi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7002125" y="9686925"/>
            <a:ext cx="500062" cy="257175"/>
            <a:chOff x="0" y="0"/>
            <a:chExt cx="666750" cy="3429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66750" cy="342900"/>
            </a:xfrm>
            <a:custGeom>
              <a:avLst/>
              <a:gdLst/>
              <a:ahLst/>
              <a:cxnLst/>
              <a:rect r="r" b="b" t="t" l="l"/>
              <a:pathLst>
                <a:path h="342900" w="666750">
                  <a:moveTo>
                    <a:pt x="0" y="0"/>
                  </a:moveTo>
                  <a:lnTo>
                    <a:pt x="666750" y="0"/>
                  </a:lnTo>
                  <a:lnTo>
                    <a:pt x="666750" y="342900"/>
                  </a:lnTo>
                  <a:lnTo>
                    <a:pt x="0" y="3429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984" t="0" r="-15984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66750" cy="361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85"/>
                </a:lnSpc>
              </a:pPr>
              <a:r>
                <a:rPr lang="en-US" sz="1237">
                  <a:solidFill>
                    <a:srgbClr val="77736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24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50106" y="1921669"/>
            <a:ext cx="3300412" cy="957262"/>
            <a:chOff x="0" y="0"/>
            <a:chExt cx="4400550" cy="12763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400550" cy="1276350"/>
            </a:xfrm>
            <a:custGeom>
              <a:avLst/>
              <a:gdLst/>
              <a:ahLst/>
              <a:cxnLst/>
              <a:rect r="r" b="b" t="t" l="l"/>
              <a:pathLst>
                <a:path h="1276350" w="4400550">
                  <a:moveTo>
                    <a:pt x="0" y="0"/>
                  </a:moveTo>
                  <a:lnTo>
                    <a:pt x="4400550" y="0"/>
                  </a:lnTo>
                  <a:lnTo>
                    <a:pt x="4400550" y="1276350"/>
                  </a:lnTo>
                  <a:lnTo>
                    <a:pt x="0" y="1276350"/>
                  </a:lnTo>
                  <a:close/>
                </a:path>
              </a:pathLst>
            </a:custGeom>
            <a:solidFill>
              <a:srgbClr val="155744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971550" y="1985962"/>
            <a:ext cx="3057525" cy="828675"/>
            <a:chOff x="0" y="0"/>
            <a:chExt cx="4076700" cy="11049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076700" cy="1104900"/>
            </a:xfrm>
            <a:custGeom>
              <a:avLst/>
              <a:gdLst/>
              <a:ahLst/>
              <a:cxnLst/>
              <a:rect r="r" b="b" t="t" l="l"/>
              <a:pathLst>
                <a:path h="1104900" w="4076700">
                  <a:moveTo>
                    <a:pt x="0" y="0"/>
                  </a:moveTo>
                  <a:lnTo>
                    <a:pt x="4076700" y="0"/>
                  </a:lnTo>
                  <a:lnTo>
                    <a:pt x="4076700" y="1104900"/>
                  </a:lnTo>
                  <a:lnTo>
                    <a:pt x="0" y="11049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893" r="0" b="-21893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4076700" cy="1143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25"/>
                </a:lnSpc>
              </a:pPr>
              <a:r>
                <a:rPr lang="en-US" sz="1687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Periode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136231" y="1921669"/>
            <a:ext cx="5586412" cy="957262"/>
            <a:chOff x="0" y="0"/>
            <a:chExt cx="7448550" cy="12763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448550" cy="1276350"/>
            </a:xfrm>
            <a:custGeom>
              <a:avLst/>
              <a:gdLst/>
              <a:ahLst/>
              <a:cxnLst/>
              <a:rect r="r" b="b" t="t" l="l"/>
              <a:pathLst>
                <a:path h="1276350" w="7448550">
                  <a:moveTo>
                    <a:pt x="0" y="0"/>
                  </a:moveTo>
                  <a:lnTo>
                    <a:pt x="7448550" y="0"/>
                  </a:lnTo>
                  <a:lnTo>
                    <a:pt x="7448550" y="1276350"/>
                  </a:lnTo>
                  <a:lnTo>
                    <a:pt x="0" y="1276350"/>
                  </a:lnTo>
                  <a:close/>
                </a:path>
              </a:pathLst>
            </a:custGeom>
            <a:solidFill>
              <a:srgbClr val="155744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4257675" y="1985962"/>
            <a:ext cx="5343525" cy="828675"/>
            <a:chOff x="0" y="0"/>
            <a:chExt cx="7124700" cy="11049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124700" cy="1104900"/>
            </a:xfrm>
            <a:custGeom>
              <a:avLst/>
              <a:gdLst/>
              <a:ahLst/>
              <a:cxnLst/>
              <a:rect r="r" b="b" t="t" l="l"/>
              <a:pathLst>
                <a:path h="1104900" w="7124700">
                  <a:moveTo>
                    <a:pt x="0" y="0"/>
                  </a:moveTo>
                  <a:lnTo>
                    <a:pt x="7124700" y="0"/>
                  </a:lnTo>
                  <a:lnTo>
                    <a:pt x="7124700" y="1104900"/>
                  </a:lnTo>
                  <a:lnTo>
                    <a:pt x="0" y="11049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644" r="0" b="-75644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7124700" cy="1143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25"/>
                </a:lnSpc>
              </a:pPr>
              <a:r>
                <a:rPr lang="en-US" sz="1687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Milestone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708356" y="1921669"/>
            <a:ext cx="4157662" cy="957262"/>
            <a:chOff x="0" y="0"/>
            <a:chExt cx="5543550" cy="12763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543550" cy="1276350"/>
            </a:xfrm>
            <a:custGeom>
              <a:avLst/>
              <a:gdLst/>
              <a:ahLst/>
              <a:cxnLst/>
              <a:rect r="r" b="b" t="t" l="l"/>
              <a:pathLst>
                <a:path h="1276350" w="5543550">
                  <a:moveTo>
                    <a:pt x="0" y="0"/>
                  </a:moveTo>
                  <a:lnTo>
                    <a:pt x="5543550" y="0"/>
                  </a:lnTo>
                  <a:lnTo>
                    <a:pt x="5543550" y="1276350"/>
                  </a:lnTo>
                  <a:lnTo>
                    <a:pt x="0" y="1276350"/>
                  </a:lnTo>
                  <a:close/>
                </a:path>
              </a:pathLst>
            </a:custGeom>
            <a:solidFill>
              <a:srgbClr val="155744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9829800" y="1985962"/>
            <a:ext cx="3914775" cy="828675"/>
            <a:chOff x="0" y="0"/>
            <a:chExt cx="5219700" cy="11049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219700" cy="1104900"/>
            </a:xfrm>
            <a:custGeom>
              <a:avLst/>
              <a:gdLst/>
              <a:ahLst/>
              <a:cxnLst/>
              <a:rect r="r" b="b" t="t" l="l"/>
              <a:pathLst>
                <a:path h="1104900" w="5219700">
                  <a:moveTo>
                    <a:pt x="0" y="0"/>
                  </a:moveTo>
                  <a:lnTo>
                    <a:pt x="5219700" y="0"/>
                  </a:lnTo>
                  <a:lnTo>
                    <a:pt x="5219700" y="1104900"/>
                  </a:lnTo>
                  <a:lnTo>
                    <a:pt x="0" y="11049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050" r="0" b="-4205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5219700" cy="1143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25"/>
                </a:lnSpc>
              </a:pPr>
              <a:r>
                <a:rPr lang="en-US" sz="1687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Lead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3851731" y="1921669"/>
            <a:ext cx="3586162" cy="957262"/>
            <a:chOff x="0" y="0"/>
            <a:chExt cx="4781550" cy="127635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781550" cy="1276350"/>
            </a:xfrm>
            <a:custGeom>
              <a:avLst/>
              <a:gdLst/>
              <a:ahLst/>
              <a:cxnLst/>
              <a:rect r="r" b="b" t="t" l="l"/>
              <a:pathLst>
                <a:path h="1276350" w="4781550">
                  <a:moveTo>
                    <a:pt x="0" y="0"/>
                  </a:moveTo>
                  <a:lnTo>
                    <a:pt x="4781550" y="0"/>
                  </a:lnTo>
                  <a:lnTo>
                    <a:pt x="4781550" y="1276350"/>
                  </a:lnTo>
                  <a:lnTo>
                    <a:pt x="0" y="1276350"/>
                  </a:lnTo>
                  <a:close/>
                </a:path>
              </a:pathLst>
            </a:custGeom>
            <a:solidFill>
              <a:srgbClr val="155744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3973175" y="1985962"/>
            <a:ext cx="3343275" cy="828675"/>
            <a:chOff x="0" y="0"/>
            <a:chExt cx="4457700" cy="11049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457700" cy="1104900"/>
            </a:xfrm>
            <a:custGeom>
              <a:avLst/>
              <a:gdLst/>
              <a:ahLst/>
              <a:cxnLst/>
              <a:rect r="r" b="b" t="t" l="l"/>
              <a:pathLst>
                <a:path h="1104900" w="4457700">
                  <a:moveTo>
                    <a:pt x="0" y="0"/>
                  </a:moveTo>
                  <a:lnTo>
                    <a:pt x="4457700" y="0"/>
                  </a:lnTo>
                  <a:lnTo>
                    <a:pt x="4457700" y="1104900"/>
                  </a:lnTo>
                  <a:lnTo>
                    <a:pt x="0" y="11049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612" r="0" b="-28612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4457700" cy="1143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25"/>
                </a:lnSpc>
              </a:pPr>
              <a:r>
                <a:rPr lang="en-US" sz="1687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Output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850106" y="2864644"/>
            <a:ext cx="3300412" cy="957262"/>
            <a:chOff x="0" y="0"/>
            <a:chExt cx="4400550" cy="127635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400550" cy="1276350"/>
            </a:xfrm>
            <a:custGeom>
              <a:avLst/>
              <a:gdLst/>
              <a:ahLst/>
              <a:cxnLst/>
              <a:rect r="r" b="b" t="t" l="l"/>
              <a:pathLst>
                <a:path h="1276350" w="4400550">
                  <a:moveTo>
                    <a:pt x="0" y="0"/>
                  </a:moveTo>
                  <a:lnTo>
                    <a:pt x="4400550" y="0"/>
                  </a:lnTo>
                  <a:lnTo>
                    <a:pt x="4400550" y="1276350"/>
                  </a:lnTo>
                  <a:lnTo>
                    <a:pt x="0" y="1276350"/>
                  </a:lnTo>
                  <a:close/>
                </a:path>
              </a:pathLst>
            </a:custGeom>
            <a:solidFill>
              <a:srgbClr val="F7F5F0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971550" y="2928938"/>
            <a:ext cx="3057525" cy="828675"/>
            <a:chOff x="0" y="0"/>
            <a:chExt cx="4076700" cy="11049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076700" cy="1104900"/>
            </a:xfrm>
            <a:custGeom>
              <a:avLst/>
              <a:gdLst/>
              <a:ahLst/>
              <a:cxnLst/>
              <a:rect r="r" b="b" t="t" l="l"/>
              <a:pathLst>
                <a:path h="1104900" w="4076700">
                  <a:moveTo>
                    <a:pt x="0" y="0"/>
                  </a:moveTo>
                  <a:lnTo>
                    <a:pt x="4076700" y="0"/>
                  </a:lnTo>
                  <a:lnTo>
                    <a:pt x="4076700" y="1104900"/>
                  </a:lnTo>
                  <a:lnTo>
                    <a:pt x="0" y="11049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893" r="0" b="-21893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4076700" cy="1143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25"/>
                </a:lnSpc>
              </a:pPr>
              <a:r>
                <a:rPr lang="en-US" sz="1687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Week 3 Juli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4136231" y="2864644"/>
            <a:ext cx="5586412" cy="957262"/>
            <a:chOff x="0" y="0"/>
            <a:chExt cx="7448550" cy="127635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448550" cy="1276350"/>
            </a:xfrm>
            <a:custGeom>
              <a:avLst/>
              <a:gdLst/>
              <a:ahLst/>
              <a:cxnLst/>
              <a:rect r="r" b="b" t="t" l="l"/>
              <a:pathLst>
                <a:path h="1276350" w="7448550">
                  <a:moveTo>
                    <a:pt x="0" y="0"/>
                  </a:moveTo>
                  <a:lnTo>
                    <a:pt x="7448550" y="0"/>
                  </a:lnTo>
                  <a:lnTo>
                    <a:pt x="7448550" y="1276350"/>
                  </a:lnTo>
                  <a:lnTo>
                    <a:pt x="0" y="1276350"/>
                  </a:lnTo>
                  <a:close/>
                </a:path>
              </a:pathLst>
            </a:custGeom>
            <a:solidFill>
              <a:srgbClr val="F7F5F0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4257675" y="2928938"/>
            <a:ext cx="5343525" cy="828675"/>
            <a:chOff x="0" y="0"/>
            <a:chExt cx="7124700" cy="11049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124700" cy="1104900"/>
            </a:xfrm>
            <a:custGeom>
              <a:avLst/>
              <a:gdLst/>
              <a:ahLst/>
              <a:cxnLst/>
              <a:rect r="r" b="b" t="t" l="l"/>
              <a:pathLst>
                <a:path h="1104900" w="7124700">
                  <a:moveTo>
                    <a:pt x="0" y="0"/>
                  </a:moveTo>
                  <a:lnTo>
                    <a:pt x="7124700" y="0"/>
                  </a:lnTo>
                  <a:lnTo>
                    <a:pt x="7124700" y="1104900"/>
                  </a:lnTo>
                  <a:lnTo>
                    <a:pt x="0" y="11049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644" r="0" b="-75644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7124700" cy="1143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25"/>
                </a:lnSpc>
              </a:pPr>
              <a:r>
                <a:rPr lang="en-US" sz="1687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Final draft internal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708356" y="2864644"/>
            <a:ext cx="4157662" cy="957262"/>
            <a:chOff x="0" y="0"/>
            <a:chExt cx="5543550" cy="127635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543550" cy="1276350"/>
            </a:xfrm>
            <a:custGeom>
              <a:avLst/>
              <a:gdLst/>
              <a:ahLst/>
              <a:cxnLst/>
              <a:rect r="r" b="b" t="t" l="l"/>
              <a:pathLst>
                <a:path h="1276350" w="5543550">
                  <a:moveTo>
                    <a:pt x="0" y="0"/>
                  </a:moveTo>
                  <a:lnTo>
                    <a:pt x="5543550" y="0"/>
                  </a:lnTo>
                  <a:lnTo>
                    <a:pt x="5543550" y="1276350"/>
                  </a:lnTo>
                  <a:lnTo>
                    <a:pt x="0" y="1276350"/>
                  </a:lnTo>
                  <a:close/>
                </a:path>
              </a:pathLst>
            </a:custGeom>
            <a:solidFill>
              <a:srgbClr val="F7F5F0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9829800" y="2928938"/>
            <a:ext cx="3914775" cy="828675"/>
            <a:chOff x="0" y="0"/>
            <a:chExt cx="5219700" cy="11049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219700" cy="1104900"/>
            </a:xfrm>
            <a:custGeom>
              <a:avLst/>
              <a:gdLst/>
              <a:ahLst/>
              <a:cxnLst/>
              <a:rect r="r" b="b" t="t" l="l"/>
              <a:pathLst>
                <a:path h="1104900" w="5219700">
                  <a:moveTo>
                    <a:pt x="0" y="0"/>
                  </a:moveTo>
                  <a:lnTo>
                    <a:pt x="5219700" y="0"/>
                  </a:lnTo>
                  <a:lnTo>
                    <a:pt x="5219700" y="1104900"/>
                  </a:lnTo>
                  <a:lnTo>
                    <a:pt x="0" y="11049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050" r="0" b="-4205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5219700" cy="1143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25"/>
                </a:lnSpc>
              </a:pPr>
              <a:r>
                <a:rPr lang="en-US" sz="1687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Hendra, Duta, Alwan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3851731" y="2864644"/>
            <a:ext cx="3586162" cy="957262"/>
            <a:chOff x="0" y="0"/>
            <a:chExt cx="4781550" cy="127635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781550" cy="1276350"/>
            </a:xfrm>
            <a:custGeom>
              <a:avLst/>
              <a:gdLst/>
              <a:ahLst/>
              <a:cxnLst/>
              <a:rect r="r" b="b" t="t" l="l"/>
              <a:pathLst>
                <a:path h="1276350" w="4781550">
                  <a:moveTo>
                    <a:pt x="0" y="0"/>
                  </a:moveTo>
                  <a:lnTo>
                    <a:pt x="4781550" y="0"/>
                  </a:lnTo>
                  <a:lnTo>
                    <a:pt x="4781550" y="1276350"/>
                  </a:lnTo>
                  <a:lnTo>
                    <a:pt x="0" y="1276350"/>
                  </a:lnTo>
                  <a:close/>
                </a:path>
              </a:pathLst>
            </a:custGeom>
            <a:solidFill>
              <a:srgbClr val="F7F5F0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13973175" y="2928938"/>
            <a:ext cx="3343275" cy="828675"/>
            <a:chOff x="0" y="0"/>
            <a:chExt cx="4457700" cy="11049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457700" cy="1104900"/>
            </a:xfrm>
            <a:custGeom>
              <a:avLst/>
              <a:gdLst/>
              <a:ahLst/>
              <a:cxnLst/>
              <a:rect r="r" b="b" t="t" l="l"/>
              <a:pathLst>
                <a:path h="1104900" w="4457700">
                  <a:moveTo>
                    <a:pt x="0" y="0"/>
                  </a:moveTo>
                  <a:lnTo>
                    <a:pt x="4457700" y="0"/>
                  </a:lnTo>
                  <a:lnTo>
                    <a:pt x="4457700" y="1104900"/>
                  </a:lnTo>
                  <a:lnTo>
                    <a:pt x="0" y="11049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612" r="0" b="-28612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4457700" cy="1143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25"/>
                </a:lnSpc>
              </a:pPr>
              <a:r>
                <a:rPr lang="en-US" sz="1687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Draft v1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850106" y="3807619"/>
            <a:ext cx="3300412" cy="957262"/>
            <a:chOff x="0" y="0"/>
            <a:chExt cx="4400550" cy="127635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400550" cy="1276350"/>
            </a:xfrm>
            <a:custGeom>
              <a:avLst/>
              <a:gdLst/>
              <a:ahLst/>
              <a:cxnLst/>
              <a:rect r="r" b="b" t="t" l="l"/>
              <a:pathLst>
                <a:path h="1276350" w="4400550">
                  <a:moveTo>
                    <a:pt x="0" y="0"/>
                  </a:moveTo>
                  <a:lnTo>
                    <a:pt x="4400550" y="0"/>
                  </a:lnTo>
                  <a:lnTo>
                    <a:pt x="4400550" y="1276350"/>
                  </a:lnTo>
                  <a:lnTo>
                    <a:pt x="0" y="1276350"/>
                  </a:lnTo>
                  <a:close/>
                </a:path>
              </a:pathLst>
            </a:custGeom>
            <a:solidFill>
              <a:srgbClr val="ECE9E3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971550" y="3871912"/>
            <a:ext cx="3057525" cy="828675"/>
            <a:chOff x="0" y="0"/>
            <a:chExt cx="4076700" cy="11049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4076700" cy="1104900"/>
            </a:xfrm>
            <a:custGeom>
              <a:avLst/>
              <a:gdLst/>
              <a:ahLst/>
              <a:cxnLst/>
              <a:rect r="r" b="b" t="t" l="l"/>
              <a:pathLst>
                <a:path h="1104900" w="4076700">
                  <a:moveTo>
                    <a:pt x="0" y="0"/>
                  </a:moveTo>
                  <a:lnTo>
                    <a:pt x="4076700" y="0"/>
                  </a:lnTo>
                  <a:lnTo>
                    <a:pt x="4076700" y="1104900"/>
                  </a:lnTo>
                  <a:lnTo>
                    <a:pt x="0" y="11049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893" r="0" b="-21893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4076700" cy="1143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25"/>
                </a:lnSpc>
              </a:pPr>
              <a:r>
                <a:rPr lang="en-US" sz="1687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Week 4 Juli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4136231" y="3807619"/>
            <a:ext cx="5586412" cy="957262"/>
            <a:chOff x="0" y="0"/>
            <a:chExt cx="7448550" cy="127635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7448550" cy="1276350"/>
            </a:xfrm>
            <a:custGeom>
              <a:avLst/>
              <a:gdLst/>
              <a:ahLst/>
              <a:cxnLst/>
              <a:rect r="r" b="b" t="t" l="l"/>
              <a:pathLst>
                <a:path h="1276350" w="7448550">
                  <a:moveTo>
                    <a:pt x="0" y="0"/>
                  </a:moveTo>
                  <a:lnTo>
                    <a:pt x="7448550" y="0"/>
                  </a:lnTo>
                  <a:lnTo>
                    <a:pt x="7448550" y="1276350"/>
                  </a:lnTo>
                  <a:lnTo>
                    <a:pt x="0" y="1276350"/>
                  </a:lnTo>
                  <a:close/>
                </a:path>
              </a:pathLst>
            </a:custGeom>
            <a:solidFill>
              <a:srgbClr val="ECE9E3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4257675" y="3871912"/>
            <a:ext cx="5343525" cy="828675"/>
            <a:chOff x="0" y="0"/>
            <a:chExt cx="7124700" cy="11049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7124700" cy="1104900"/>
            </a:xfrm>
            <a:custGeom>
              <a:avLst/>
              <a:gdLst/>
              <a:ahLst/>
              <a:cxnLst/>
              <a:rect r="r" b="b" t="t" l="l"/>
              <a:pathLst>
                <a:path h="1104900" w="7124700">
                  <a:moveTo>
                    <a:pt x="0" y="0"/>
                  </a:moveTo>
                  <a:lnTo>
                    <a:pt x="7124700" y="0"/>
                  </a:lnTo>
                  <a:lnTo>
                    <a:pt x="7124700" y="1104900"/>
                  </a:lnTo>
                  <a:lnTo>
                    <a:pt x="0" y="11049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644" r="0" b="-75644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7124700" cy="1143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25"/>
                </a:lnSpc>
              </a:pPr>
              <a:r>
                <a:rPr lang="en-US" sz="1687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Undang reviewer eksternal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9708356" y="3807619"/>
            <a:ext cx="4157662" cy="957262"/>
            <a:chOff x="0" y="0"/>
            <a:chExt cx="5543550" cy="127635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5543550" cy="1276350"/>
            </a:xfrm>
            <a:custGeom>
              <a:avLst/>
              <a:gdLst/>
              <a:ahLst/>
              <a:cxnLst/>
              <a:rect r="r" b="b" t="t" l="l"/>
              <a:pathLst>
                <a:path h="1276350" w="5543550">
                  <a:moveTo>
                    <a:pt x="0" y="0"/>
                  </a:moveTo>
                  <a:lnTo>
                    <a:pt x="5543550" y="0"/>
                  </a:lnTo>
                  <a:lnTo>
                    <a:pt x="5543550" y="1276350"/>
                  </a:lnTo>
                  <a:lnTo>
                    <a:pt x="0" y="1276350"/>
                  </a:lnTo>
                  <a:close/>
                </a:path>
              </a:pathLst>
            </a:custGeom>
            <a:solidFill>
              <a:srgbClr val="ECE9E3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65" id="65"/>
          <p:cNvGrpSpPr/>
          <p:nvPr/>
        </p:nvGrpSpPr>
        <p:grpSpPr>
          <a:xfrm rot="0">
            <a:off x="9829800" y="3871912"/>
            <a:ext cx="3914775" cy="828675"/>
            <a:chOff x="0" y="0"/>
            <a:chExt cx="5219700" cy="11049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5219700" cy="1104900"/>
            </a:xfrm>
            <a:custGeom>
              <a:avLst/>
              <a:gdLst/>
              <a:ahLst/>
              <a:cxnLst/>
              <a:rect r="r" b="b" t="t" l="l"/>
              <a:pathLst>
                <a:path h="1104900" w="5219700">
                  <a:moveTo>
                    <a:pt x="0" y="0"/>
                  </a:moveTo>
                  <a:lnTo>
                    <a:pt x="5219700" y="0"/>
                  </a:lnTo>
                  <a:lnTo>
                    <a:pt x="5219700" y="1104900"/>
                  </a:lnTo>
                  <a:lnTo>
                    <a:pt x="0" y="11049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050" r="0" b="-4205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5219700" cy="1143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25"/>
                </a:lnSpc>
              </a:pPr>
              <a:r>
                <a:rPr lang="en-US" sz="1687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Hendra, Duta, Alwan</a:t>
              </a:r>
            </a:p>
            <a:p>
              <a:pPr algn="ctr">
                <a:lnSpc>
                  <a:spcPts val="2025"/>
                </a:lnSpc>
              </a:pP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3851731" y="3807619"/>
            <a:ext cx="3586162" cy="957262"/>
            <a:chOff x="0" y="0"/>
            <a:chExt cx="4781550" cy="127635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4781550" cy="1276350"/>
            </a:xfrm>
            <a:custGeom>
              <a:avLst/>
              <a:gdLst/>
              <a:ahLst/>
              <a:cxnLst/>
              <a:rect r="r" b="b" t="t" l="l"/>
              <a:pathLst>
                <a:path h="1276350" w="4781550">
                  <a:moveTo>
                    <a:pt x="0" y="0"/>
                  </a:moveTo>
                  <a:lnTo>
                    <a:pt x="4781550" y="0"/>
                  </a:lnTo>
                  <a:lnTo>
                    <a:pt x="4781550" y="1276350"/>
                  </a:lnTo>
                  <a:lnTo>
                    <a:pt x="0" y="1276350"/>
                  </a:lnTo>
                  <a:close/>
                </a:path>
              </a:pathLst>
            </a:custGeom>
            <a:solidFill>
              <a:srgbClr val="ECE9E3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70" id="70"/>
          <p:cNvGrpSpPr/>
          <p:nvPr/>
        </p:nvGrpSpPr>
        <p:grpSpPr>
          <a:xfrm rot="0">
            <a:off x="13973175" y="3871912"/>
            <a:ext cx="3343275" cy="828675"/>
            <a:chOff x="0" y="0"/>
            <a:chExt cx="4457700" cy="110490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4457700" cy="1104900"/>
            </a:xfrm>
            <a:custGeom>
              <a:avLst/>
              <a:gdLst/>
              <a:ahLst/>
              <a:cxnLst/>
              <a:rect r="r" b="b" t="t" l="l"/>
              <a:pathLst>
                <a:path h="1104900" w="4457700">
                  <a:moveTo>
                    <a:pt x="0" y="0"/>
                  </a:moveTo>
                  <a:lnTo>
                    <a:pt x="4457700" y="0"/>
                  </a:lnTo>
                  <a:lnTo>
                    <a:pt x="4457700" y="1104900"/>
                  </a:lnTo>
                  <a:lnTo>
                    <a:pt x="0" y="11049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612" r="0" b="-28612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4457700" cy="1143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25"/>
                </a:lnSpc>
              </a:pPr>
              <a:r>
                <a:rPr lang="en-US" sz="1687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Komentar 1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850106" y="4750594"/>
            <a:ext cx="3300412" cy="957262"/>
            <a:chOff x="0" y="0"/>
            <a:chExt cx="4400550" cy="127635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4400550" cy="1276350"/>
            </a:xfrm>
            <a:custGeom>
              <a:avLst/>
              <a:gdLst/>
              <a:ahLst/>
              <a:cxnLst/>
              <a:rect r="r" b="b" t="t" l="l"/>
              <a:pathLst>
                <a:path h="1276350" w="4400550">
                  <a:moveTo>
                    <a:pt x="0" y="0"/>
                  </a:moveTo>
                  <a:lnTo>
                    <a:pt x="4400550" y="0"/>
                  </a:lnTo>
                  <a:lnTo>
                    <a:pt x="4400550" y="1276350"/>
                  </a:lnTo>
                  <a:lnTo>
                    <a:pt x="0" y="1276350"/>
                  </a:lnTo>
                  <a:close/>
                </a:path>
              </a:pathLst>
            </a:custGeom>
            <a:solidFill>
              <a:srgbClr val="F7F5F0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75" id="75"/>
          <p:cNvGrpSpPr/>
          <p:nvPr/>
        </p:nvGrpSpPr>
        <p:grpSpPr>
          <a:xfrm rot="0">
            <a:off x="971550" y="4814888"/>
            <a:ext cx="3057525" cy="828675"/>
            <a:chOff x="0" y="0"/>
            <a:chExt cx="4076700" cy="110490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4076700" cy="1104900"/>
            </a:xfrm>
            <a:custGeom>
              <a:avLst/>
              <a:gdLst/>
              <a:ahLst/>
              <a:cxnLst/>
              <a:rect r="r" b="b" t="t" l="l"/>
              <a:pathLst>
                <a:path h="1104900" w="4076700">
                  <a:moveTo>
                    <a:pt x="0" y="0"/>
                  </a:moveTo>
                  <a:lnTo>
                    <a:pt x="4076700" y="0"/>
                  </a:lnTo>
                  <a:lnTo>
                    <a:pt x="4076700" y="1104900"/>
                  </a:lnTo>
                  <a:lnTo>
                    <a:pt x="0" y="11049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893" r="0" b="-21893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38100"/>
              <a:ext cx="4076700" cy="1143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25"/>
                </a:lnSpc>
              </a:pPr>
              <a:r>
                <a:rPr lang="en-US" sz="1687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Awal Agustus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4136231" y="4750594"/>
            <a:ext cx="5586412" cy="957262"/>
            <a:chOff x="0" y="0"/>
            <a:chExt cx="7448550" cy="127635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7448550" cy="1276350"/>
            </a:xfrm>
            <a:custGeom>
              <a:avLst/>
              <a:gdLst/>
              <a:ahLst/>
              <a:cxnLst/>
              <a:rect r="r" b="b" t="t" l="l"/>
              <a:pathLst>
                <a:path h="1276350" w="7448550">
                  <a:moveTo>
                    <a:pt x="0" y="0"/>
                  </a:moveTo>
                  <a:lnTo>
                    <a:pt x="7448550" y="0"/>
                  </a:lnTo>
                  <a:lnTo>
                    <a:pt x="7448550" y="1276350"/>
                  </a:lnTo>
                  <a:lnTo>
                    <a:pt x="0" y="1276350"/>
                  </a:lnTo>
                  <a:close/>
                </a:path>
              </a:pathLst>
            </a:custGeom>
            <a:solidFill>
              <a:srgbClr val="F7F5F0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80" id="80"/>
          <p:cNvGrpSpPr/>
          <p:nvPr/>
        </p:nvGrpSpPr>
        <p:grpSpPr>
          <a:xfrm rot="0">
            <a:off x="4257675" y="4814888"/>
            <a:ext cx="5343525" cy="828675"/>
            <a:chOff x="0" y="0"/>
            <a:chExt cx="7124700" cy="110490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7124700" cy="1104900"/>
            </a:xfrm>
            <a:custGeom>
              <a:avLst/>
              <a:gdLst/>
              <a:ahLst/>
              <a:cxnLst/>
              <a:rect r="r" b="b" t="t" l="l"/>
              <a:pathLst>
                <a:path h="1104900" w="7124700">
                  <a:moveTo>
                    <a:pt x="0" y="0"/>
                  </a:moveTo>
                  <a:lnTo>
                    <a:pt x="7124700" y="0"/>
                  </a:lnTo>
                  <a:lnTo>
                    <a:pt x="7124700" y="1104900"/>
                  </a:lnTo>
                  <a:lnTo>
                    <a:pt x="0" y="11049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644" r="0" b="-75644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7124700" cy="1143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25"/>
                </a:lnSpc>
              </a:pPr>
              <a:r>
                <a:rPr lang="en-US" sz="1687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Revisi dan rerun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9708356" y="4750594"/>
            <a:ext cx="4157662" cy="957262"/>
            <a:chOff x="0" y="0"/>
            <a:chExt cx="5543550" cy="127635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5543550" cy="1276350"/>
            </a:xfrm>
            <a:custGeom>
              <a:avLst/>
              <a:gdLst/>
              <a:ahLst/>
              <a:cxnLst/>
              <a:rect r="r" b="b" t="t" l="l"/>
              <a:pathLst>
                <a:path h="1276350" w="5543550">
                  <a:moveTo>
                    <a:pt x="0" y="0"/>
                  </a:moveTo>
                  <a:lnTo>
                    <a:pt x="5543550" y="0"/>
                  </a:lnTo>
                  <a:lnTo>
                    <a:pt x="5543550" y="1276350"/>
                  </a:lnTo>
                  <a:lnTo>
                    <a:pt x="0" y="1276350"/>
                  </a:lnTo>
                  <a:close/>
                </a:path>
              </a:pathLst>
            </a:custGeom>
            <a:solidFill>
              <a:srgbClr val="F7F5F0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85" id="85"/>
          <p:cNvGrpSpPr/>
          <p:nvPr/>
        </p:nvGrpSpPr>
        <p:grpSpPr>
          <a:xfrm rot="0">
            <a:off x="9829800" y="4814888"/>
            <a:ext cx="3914775" cy="828675"/>
            <a:chOff x="0" y="0"/>
            <a:chExt cx="5219700" cy="110490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5219700" cy="1104900"/>
            </a:xfrm>
            <a:custGeom>
              <a:avLst/>
              <a:gdLst/>
              <a:ahLst/>
              <a:cxnLst/>
              <a:rect r="r" b="b" t="t" l="l"/>
              <a:pathLst>
                <a:path h="1104900" w="5219700">
                  <a:moveTo>
                    <a:pt x="0" y="0"/>
                  </a:moveTo>
                  <a:lnTo>
                    <a:pt x="5219700" y="0"/>
                  </a:lnTo>
                  <a:lnTo>
                    <a:pt x="5219700" y="1104900"/>
                  </a:lnTo>
                  <a:lnTo>
                    <a:pt x="0" y="11049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050" r="0" b="-42050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38100"/>
              <a:ext cx="5219700" cy="1143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25"/>
                </a:lnSpc>
              </a:pPr>
              <a:r>
                <a:rPr lang="en-US" sz="1687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Duta + Alwan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3851731" y="4750594"/>
            <a:ext cx="3586162" cy="957262"/>
            <a:chOff x="0" y="0"/>
            <a:chExt cx="4781550" cy="127635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4781550" cy="1276350"/>
            </a:xfrm>
            <a:custGeom>
              <a:avLst/>
              <a:gdLst/>
              <a:ahLst/>
              <a:cxnLst/>
              <a:rect r="r" b="b" t="t" l="l"/>
              <a:pathLst>
                <a:path h="1276350" w="4781550">
                  <a:moveTo>
                    <a:pt x="0" y="0"/>
                  </a:moveTo>
                  <a:lnTo>
                    <a:pt x="4781550" y="0"/>
                  </a:lnTo>
                  <a:lnTo>
                    <a:pt x="4781550" y="1276350"/>
                  </a:lnTo>
                  <a:lnTo>
                    <a:pt x="0" y="1276350"/>
                  </a:lnTo>
                  <a:close/>
                </a:path>
              </a:pathLst>
            </a:custGeom>
            <a:solidFill>
              <a:srgbClr val="F7F5F0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90" id="90"/>
          <p:cNvGrpSpPr/>
          <p:nvPr/>
        </p:nvGrpSpPr>
        <p:grpSpPr>
          <a:xfrm rot="0">
            <a:off x="13973175" y="4814888"/>
            <a:ext cx="3343275" cy="828675"/>
            <a:chOff x="0" y="0"/>
            <a:chExt cx="4457700" cy="110490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4457700" cy="1104900"/>
            </a:xfrm>
            <a:custGeom>
              <a:avLst/>
              <a:gdLst/>
              <a:ahLst/>
              <a:cxnLst/>
              <a:rect r="r" b="b" t="t" l="l"/>
              <a:pathLst>
                <a:path h="1104900" w="4457700">
                  <a:moveTo>
                    <a:pt x="0" y="0"/>
                  </a:moveTo>
                  <a:lnTo>
                    <a:pt x="4457700" y="0"/>
                  </a:lnTo>
                  <a:lnTo>
                    <a:pt x="4457700" y="1104900"/>
                  </a:lnTo>
                  <a:lnTo>
                    <a:pt x="0" y="11049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612" r="0" b="-28612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38100"/>
              <a:ext cx="4457700" cy="1143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25"/>
                </a:lnSpc>
              </a:pPr>
              <a:r>
                <a:rPr lang="en-US" sz="1687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Draft v2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850106" y="5693569"/>
            <a:ext cx="3300412" cy="957262"/>
            <a:chOff x="0" y="0"/>
            <a:chExt cx="4400550" cy="127635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4400550" cy="1276350"/>
            </a:xfrm>
            <a:custGeom>
              <a:avLst/>
              <a:gdLst/>
              <a:ahLst/>
              <a:cxnLst/>
              <a:rect r="r" b="b" t="t" l="l"/>
              <a:pathLst>
                <a:path h="1276350" w="4400550">
                  <a:moveTo>
                    <a:pt x="0" y="0"/>
                  </a:moveTo>
                  <a:lnTo>
                    <a:pt x="4400550" y="0"/>
                  </a:lnTo>
                  <a:lnTo>
                    <a:pt x="4400550" y="1276350"/>
                  </a:lnTo>
                  <a:lnTo>
                    <a:pt x="0" y="1276350"/>
                  </a:lnTo>
                  <a:close/>
                </a:path>
              </a:pathLst>
            </a:custGeom>
            <a:solidFill>
              <a:srgbClr val="ECE9E3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95" id="95"/>
          <p:cNvGrpSpPr/>
          <p:nvPr/>
        </p:nvGrpSpPr>
        <p:grpSpPr>
          <a:xfrm rot="0">
            <a:off x="971550" y="5757862"/>
            <a:ext cx="3057525" cy="828675"/>
            <a:chOff x="0" y="0"/>
            <a:chExt cx="4076700" cy="110490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4076700" cy="1104900"/>
            </a:xfrm>
            <a:custGeom>
              <a:avLst/>
              <a:gdLst/>
              <a:ahLst/>
              <a:cxnLst/>
              <a:rect r="r" b="b" t="t" l="l"/>
              <a:pathLst>
                <a:path h="1104900" w="4076700">
                  <a:moveTo>
                    <a:pt x="0" y="0"/>
                  </a:moveTo>
                  <a:lnTo>
                    <a:pt x="4076700" y="0"/>
                  </a:lnTo>
                  <a:lnTo>
                    <a:pt x="4076700" y="1104900"/>
                  </a:lnTo>
                  <a:lnTo>
                    <a:pt x="0" y="11049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893" r="0" b="-21893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38100"/>
              <a:ext cx="4076700" cy="1143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25"/>
                </a:lnSpc>
              </a:pPr>
              <a:r>
                <a:rPr lang="en-US" sz="1687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Pertengahan Agustus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4136231" y="5693569"/>
            <a:ext cx="5586412" cy="957262"/>
            <a:chOff x="0" y="0"/>
            <a:chExt cx="7448550" cy="127635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7448550" cy="1276350"/>
            </a:xfrm>
            <a:custGeom>
              <a:avLst/>
              <a:gdLst/>
              <a:ahLst/>
              <a:cxnLst/>
              <a:rect r="r" b="b" t="t" l="l"/>
              <a:pathLst>
                <a:path h="1276350" w="7448550">
                  <a:moveTo>
                    <a:pt x="0" y="0"/>
                  </a:moveTo>
                  <a:lnTo>
                    <a:pt x="7448550" y="0"/>
                  </a:lnTo>
                  <a:lnTo>
                    <a:pt x="7448550" y="1276350"/>
                  </a:lnTo>
                  <a:lnTo>
                    <a:pt x="0" y="1276350"/>
                  </a:lnTo>
                  <a:close/>
                </a:path>
              </a:pathLst>
            </a:custGeom>
            <a:solidFill>
              <a:srgbClr val="ECE9E3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100" id="100"/>
          <p:cNvGrpSpPr/>
          <p:nvPr/>
        </p:nvGrpSpPr>
        <p:grpSpPr>
          <a:xfrm rot="0">
            <a:off x="4257675" y="5757862"/>
            <a:ext cx="5343525" cy="828675"/>
            <a:chOff x="0" y="0"/>
            <a:chExt cx="7124700" cy="110490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7124700" cy="1104900"/>
            </a:xfrm>
            <a:custGeom>
              <a:avLst/>
              <a:gdLst/>
              <a:ahLst/>
              <a:cxnLst/>
              <a:rect r="r" b="b" t="t" l="l"/>
              <a:pathLst>
                <a:path h="1104900" w="7124700">
                  <a:moveTo>
                    <a:pt x="0" y="0"/>
                  </a:moveTo>
                  <a:lnTo>
                    <a:pt x="7124700" y="0"/>
                  </a:lnTo>
                  <a:lnTo>
                    <a:pt x="7124700" y="1104900"/>
                  </a:lnTo>
                  <a:lnTo>
                    <a:pt x="0" y="11049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644" r="0" b="-75644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38100"/>
              <a:ext cx="7124700" cy="1143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25"/>
                </a:lnSpc>
              </a:pPr>
              <a:r>
                <a:rPr lang="en-US" sz="1687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Review berikutnya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9708356" y="5693569"/>
            <a:ext cx="4157662" cy="957262"/>
            <a:chOff x="0" y="0"/>
            <a:chExt cx="5543550" cy="1276350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5543550" cy="1276350"/>
            </a:xfrm>
            <a:custGeom>
              <a:avLst/>
              <a:gdLst/>
              <a:ahLst/>
              <a:cxnLst/>
              <a:rect r="r" b="b" t="t" l="l"/>
              <a:pathLst>
                <a:path h="1276350" w="5543550">
                  <a:moveTo>
                    <a:pt x="0" y="0"/>
                  </a:moveTo>
                  <a:lnTo>
                    <a:pt x="5543550" y="0"/>
                  </a:lnTo>
                  <a:lnTo>
                    <a:pt x="5543550" y="1276350"/>
                  </a:lnTo>
                  <a:lnTo>
                    <a:pt x="0" y="1276350"/>
                  </a:lnTo>
                  <a:close/>
                </a:path>
              </a:pathLst>
            </a:custGeom>
            <a:solidFill>
              <a:srgbClr val="ECE9E3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105" id="105"/>
          <p:cNvGrpSpPr/>
          <p:nvPr/>
        </p:nvGrpSpPr>
        <p:grpSpPr>
          <a:xfrm rot="0">
            <a:off x="9829800" y="5757862"/>
            <a:ext cx="3914775" cy="828675"/>
            <a:chOff x="0" y="0"/>
            <a:chExt cx="5219700" cy="1104900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5219700" cy="1104900"/>
            </a:xfrm>
            <a:custGeom>
              <a:avLst/>
              <a:gdLst/>
              <a:ahLst/>
              <a:cxnLst/>
              <a:rect r="r" b="b" t="t" l="l"/>
              <a:pathLst>
                <a:path h="1104900" w="5219700">
                  <a:moveTo>
                    <a:pt x="0" y="0"/>
                  </a:moveTo>
                  <a:lnTo>
                    <a:pt x="5219700" y="0"/>
                  </a:lnTo>
                  <a:lnTo>
                    <a:pt x="5219700" y="1104900"/>
                  </a:lnTo>
                  <a:lnTo>
                    <a:pt x="0" y="11049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050" r="0" b="-42050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38100"/>
              <a:ext cx="5219700" cy="1143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25"/>
                </a:lnSpc>
              </a:pPr>
              <a:r>
                <a:rPr lang="en-US" sz="1687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Hendra, Duta, Alwan</a:t>
              </a:r>
            </a:p>
            <a:p>
              <a:pPr algn="ctr">
                <a:lnSpc>
                  <a:spcPts val="2025"/>
                </a:lnSpc>
              </a:pP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13851731" y="5693569"/>
            <a:ext cx="3586162" cy="957262"/>
            <a:chOff x="0" y="0"/>
            <a:chExt cx="4781550" cy="1276350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4781550" cy="1276350"/>
            </a:xfrm>
            <a:custGeom>
              <a:avLst/>
              <a:gdLst/>
              <a:ahLst/>
              <a:cxnLst/>
              <a:rect r="r" b="b" t="t" l="l"/>
              <a:pathLst>
                <a:path h="1276350" w="4781550">
                  <a:moveTo>
                    <a:pt x="0" y="0"/>
                  </a:moveTo>
                  <a:lnTo>
                    <a:pt x="4781550" y="0"/>
                  </a:lnTo>
                  <a:lnTo>
                    <a:pt x="4781550" y="1276350"/>
                  </a:lnTo>
                  <a:lnTo>
                    <a:pt x="0" y="1276350"/>
                  </a:lnTo>
                  <a:close/>
                </a:path>
              </a:pathLst>
            </a:custGeom>
            <a:solidFill>
              <a:srgbClr val="ECE9E3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110" id="110"/>
          <p:cNvGrpSpPr/>
          <p:nvPr/>
        </p:nvGrpSpPr>
        <p:grpSpPr>
          <a:xfrm rot="0">
            <a:off x="13973175" y="5757862"/>
            <a:ext cx="3343275" cy="828675"/>
            <a:chOff x="0" y="0"/>
            <a:chExt cx="4457700" cy="110490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4457700" cy="1104900"/>
            </a:xfrm>
            <a:custGeom>
              <a:avLst/>
              <a:gdLst/>
              <a:ahLst/>
              <a:cxnLst/>
              <a:rect r="r" b="b" t="t" l="l"/>
              <a:pathLst>
                <a:path h="1104900" w="4457700">
                  <a:moveTo>
                    <a:pt x="0" y="0"/>
                  </a:moveTo>
                  <a:lnTo>
                    <a:pt x="4457700" y="0"/>
                  </a:lnTo>
                  <a:lnTo>
                    <a:pt x="4457700" y="1104900"/>
                  </a:lnTo>
                  <a:lnTo>
                    <a:pt x="0" y="11049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612" r="0" b="-28612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38100"/>
              <a:ext cx="4457700" cy="1143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25"/>
                </a:lnSpc>
              </a:pPr>
              <a:r>
                <a:rPr lang="en-US" sz="1687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Reviewer-ready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850106" y="6636544"/>
            <a:ext cx="3300412" cy="957262"/>
            <a:chOff x="0" y="0"/>
            <a:chExt cx="4400550" cy="127635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4400550" cy="1276350"/>
            </a:xfrm>
            <a:custGeom>
              <a:avLst/>
              <a:gdLst/>
              <a:ahLst/>
              <a:cxnLst/>
              <a:rect r="r" b="b" t="t" l="l"/>
              <a:pathLst>
                <a:path h="1276350" w="4400550">
                  <a:moveTo>
                    <a:pt x="0" y="0"/>
                  </a:moveTo>
                  <a:lnTo>
                    <a:pt x="4400550" y="0"/>
                  </a:lnTo>
                  <a:lnTo>
                    <a:pt x="4400550" y="1276350"/>
                  </a:lnTo>
                  <a:lnTo>
                    <a:pt x="0" y="1276350"/>
                  </a:lnTo>
                  <a:close/>
                </a:path>
              </a:pathLst>
            </a:custGeom>
            <a:solidFill>
              <a:srgbClr val="F7F5F0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115" id="115"/>
          <p:cNvGrpSpPr/>
          <p:nvPr/>
        </p:nvGrpSpPr>
        <p:grpSpPr>
          <a:xfrm rot="0">
            <a:off x="971550" y="6700838"/>
            <a:ext cx="3057525" cy="828675"/>
            <a:chOff x="0" y="0"/>
            <a:chExt cx="4076700" cy="1104900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4076700" cy="1104900"/>
            </a:xfrm>
            <a:custGeom>
              <a:avLst/>
              <a:gdLst/>
              <a:ahLst/>
              <a:cxnLst/>
              <a:rect r="r" b="b" t="t" l="l"/>
              <a:pathLst>
                <a:path h="1104900" w="4076700">
                  <a:moveTo>
                    <a:pt x="0" y="0"/>
                  </a:moveTo>
                  <a:lnTo>
                    <a:pt x="4076700" y="0"/>
                  </a:lnTo>
                  <a:lnTo>
                    <a:pt x="4076700" y="1104900"/>
                  </a:lnTo>
                  <a:lnTo>
                    <a:pt x="0" y="11049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893" r="0" b="-21893"/>
              </a:stretch>
            </a:blipFill>
          </p:spPr>
        </p:sp>
        <p:sp>
          <p:nvSpPr>
            <p:cNvPr name="TextBox 117" id="117"/>
            <p:cNvSpPr txBox="true"/>
            <p:nvPr/>
          </p:nvSpPr>
          <p:spPr>
            <a:xfrm>
              <a:off x="0" y="-38100"/>
              <a:ext cx="4076700" cy="1143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25"/>
                </a:lnSpc>
              </a:pPr>
              <a:r>
                <a:rPr lang="en-US" sz="1687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Week 4 Agustus</a:t>
              </a:r>
            </a:p>
          </p:txBody>
        </p:sp>
      </p:grpSp>
      <p:grpSp>
        <p:nvGrpSpPr>
          <p:cNvPr name="Group 118" id="118"/>
          <p:cNvGrpSpPr/>
          <p:nvPr/>
        </p:nvGrpSpPr>
        <p:grpSpPr>
          <a:xfrm rot="0">
            <a:off x="4136231" y="6636544"/>
            <a:ext cx="5586412" cy="957262"/>
            <a:chOff x="0" y="0"/>
            <a:chExt cx="7448550" cy="1276350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7448550" cy="1276350"/>
            </a:xfrm>
            <a:custGeom>
              <a:avLst/>
              <a:gdLst/>
              <a:ahLst/>
              <a:cxnLst/>
              <a:rect r="r" b="b" t="t" l="l"/>
              <a:pathLst>
                <a:path h="1276350" w="7448550">
                  <a:moveTo>
                    <a:pt x="0" y="0"/>
                  </a:moveTo>
                  <a:lnTo>
                    <a:pt x="7448550" y="0"/>
                  </a:lnTo>
                  <a:lnTo>
                    <a:pt x="7448550" y="1276350"/>
                  </a:lnTo>
                  <a:lnTo>
                    <a:pt x="0" y="1276350"/>
                  </a:lnTo>
                  <a:close/>
                </a:path>
              </a:pathLst>
            </a:custGeom>
            <a:solidFill>
              <a:srgbClr val="F7F5F0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120" id="120"/>
          <p:cNvGrpSpPr/>
          <p:nvPr/>
        </p:nvGrpSpPr>
        <p:grpSpPr>
          <a:xfrm rot="0">
            <a:off x="4257675" y="6700838"/>
            <a:ext cx="5343525" cy="828675"/>
            <a:chOff x="0" y="0"/>
            <a:chExt cx="7124700" cy="1104900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7124700" cy="1104900"/>
            </a:xfrm>
            <a:custGeom>
              <a:avLst/>
              <a:gdLst/>
              <a:ahLst/>
              <a:cxnLst/>
              <a:rect r="r" b="b" t="t" l="l"/>
              <a:pathLst>
                <a:path h="1104900" w="7124700">
                  <a:moveTo>
                    <a:pt x="0" y="0"/>
                  </a:moveTo>
                  <a:lnTo>
                    <a:pt x="7124700" y="0"/>
                  </a:lnTo>
                  <a:lnTo>
                    <a:pt x="7124700" y="1104900"/>
                  </a:lnTo>
                  <a:lnTo>
                    <a:pt x="0" y="11049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644" r="0" b="-75644"/>
              </a:stretch>
            </a:blipFill>
          </p:spPr>
        </p:sp>
        <p:sp>
          <p:nvSpPr>
            <p:cNvPr name="TextBox 122" id="122"/>
            <p:cNvSpPr txBox="true"/>
            <p:nvPr/>
          </p:nvSpPr>
          <p:spPr>
            <a:xfrm>
              <a:off x="0" y="-38100"/>
              <a:ext cx="7124700" cy="1143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25"/>
                </a:lnSpc>
              </a:pPr>
              <a:r>
                <a:rPr lang="en-US" sz="1687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Final sign-off</a:t>
              </a:r>
            </a:p>
          </p:txBody>
        </p:sp>
      </p:grpSp>
      <p:grpSp>
        <p:nvGrpSpPr>
          <p:cNvPr name="Group 123" id="123"/>
          <p:cNvGrpSpPr/>
          <p:nvPr/>
        </p:nvGrpSpPr>
        <p:grpSpPr>
          <a:xfrm rot="0">
            <a:off x="9708356" y="6636544"/>
            <a:ext cx="4157662" cy="957262"/>
            <a:chOff x="0" y="0"/>
            <a:chExt cx="5543550" cy="1276350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5543550" cy="1276350"/>
            </a:xfrm>
            <a:custGeom>
              <a:avLst/>
              <a:gdLst/>
              <a:ahLst/>
              <a:cxnLst/>
              <a:rect r="r" b="b" t="t" l="l"/>
              <a:pathLst>
                <a:path h="1276350" w="5543550">
                  <a:moveTo>
                    <a:pt x="0" y="0"/>
                  </a:moveTo>
                  <a:lnTo>
                    <a:pt x="5543550" y="0"/>
                  </a:lnTo>
                  <a:lnTo>
                    <a:pt x="5543550" y="1276350"/>
                  </a:lnTo>
                  <a:lnTo>
                    <a:pt x="0" y="1276350"/>
                  </a:lnTo>
                  <a:close/>
                </a:path>
              </a:pathLst>
            </a:custGeom>
            <a:solidFill>
              <a:srgbClr val="F7F5F0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125" id="125"/>
          <p:cNvGrpSpPr/>
          <p:nvPr/>
        </p:nvGrpSpPr>
        <p:grpSpPr>
          <a:xfrm rot="0">
            <a:off x="9829800" y="6700838"/>
            <a:ext cx="3914775" cy="828675"/>
            <a:chOff x="0" y="0"/>
            <a:chExt cx="5219700" cy="1104900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5219700" cy="1104900"/>
            </a:xfrm>
            <a:custGeom>
              <a:avLst/>
              <a:gdLst/>
              <a:ahLst/>
              <a:cxnLst/>
              <a:rect r="r" b="b" t="t" l="l"/>
              <a:pathLst>
                <a:path h="1104900" w="5219700">
                  <a:moveTo>
                    <a:pt x="0" y="0"/>
                  </a:moveTo>
                  <a:lnTo>
                    <a:pt x="5219700" y="0"/>
                  </a:lnTo>
                  <a:lnTo>
                    <a:pt x="5219700" y="1104900"/>
                  </a:lnTo>
                  <a:lnTo>
                    <a:pt x="0" y="11049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050" r="0" b="-42050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38100"/>
              <a:ext cx="5219700" cy="1143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25"/>
                </a:lnSpc>
              </a:pPr>
              <a:r>
                <a:rPr lang="en-US" sz="1687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Hendra, Duta, Alwan</a:t>
              </a:r>
            </a:p>
            <a:p>
              <a:pPr algn="ctr">
                <a:lnSpc>
                  <a:spcPts val="2025"/>
                </a:lnSpc>
              </a:pP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13851731" y="6636544"/>
            <a:ext cx="3586162" cy="957262"/>
            <a:chOff x="0" y="0"/>
            <a:chExt cx="4781550" cy="1276350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4781550" cy="1276350"/>
            </a:xfrm>
            <a:custGeom>
              <a:avLst/>
              <a:gdLst/>
              <a:ahLst/>
              <a:cxnLst/>
              <a:rect r="r" b="b" t="t" l="l"/>
              <a:pathLst>
                <a:path h="1276350" w="4781550">
                  <a:moveTo>
                    <a:pt x="0" y="0"/>
                  </a:moveTo>
                  <a:lnTo>
                    <a:pt x="4781550" y="0"/>
                  </a:lnTo>
                  <a:lnTo>
                    <a:pt x="4781550" y="1276350"/>
                  </a:lnTo>
                  <a:lnTo>
                    <a:pt x="0" y="1276350"/>
                  </a:lnTo>
                  <a:close/>
                </a:path>
              </a:pathLst>
            </a:custGeom>
            <a:solidFill>
              <a:srgbClr val="F7F5F0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130" id="130"/>
          <p:cNvGrpSpPr/>
          <p:nvPr/>
        </p:nvGrpSpPr>
        <p:grpSpPr>
          <a:xfrm rot="0">
            <a:off x="13973175" y="6700838"/>
            <a:ext cx="3343275" cy="828675"/>
            <a:chOff x="0" y="0"/>
            <a:chExt cx="4457700" cy="1104900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4457700" cy="1104900"/>
            </a:xfrm>
            <a:custGeom>
              <a:avLst/>
              <a:gdLst/>
              <a:ahLst/>
              <a:cxnLst/>
              <a:rect r="r" b="b" t="t" l="l"/>
              <a:pathLst>
                <a:path h="1104900" w="4457700">
                  <a:moveTo>
                    <a:pt x="0" y="0"/>
                  </a:moveTo>
                  <a:lnTo>
                    <a:pt x="4457700" y="0"/>
                  </a:lnTo>
                  <a:lnTo>
                    <a:pt x="4457700" y="1104900"/>
                  </a:lnTo>
                  <a:lnTo>
                    <a:pt x="0" y="11049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612" r="0" b="-28612"/>
              </a:stretch>
            </a:blipFill>
          </p:spPr>
        </p:sp>
        <p:sp>
          <p:nvSpPr>
            <p:cNvPr name="TextBox 132" id="132"/>
            <p:cNvSpPr txBox="true"/>
            <p:nvPr/>
          </p:nvSpPr>
          <p:spPr>
            <a:xfrm>
              <a:off x="0" y="-38100"/>
              <a:ext cx="4457700" cy="1143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25"/>
                </a:lnSpc>
              </a:pPr>
              <a:r>
                <a:rPr lang="en-US" sz="1687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Berkas final</a:t>
              </a:r>
            </a:p>
          </p:txBody>
        </p:sp>
      </p:grpSp>
      <p:grpSp>
        <p:nvGrpSpPr>
          <p:cNvPr name="Group 133" id="133"/>
          <p:cNvGrpSpPr/>
          <p:nvPr/>
        </p:nvGrpSpPr>
        <p:grpSpPr>
          <a:xfrm rot="0">
            <a:off x="850106" y="7579519"/>
            <a:ext cx="3300412" cy="957262"/>
            <a:chOff x="0" y="0"/>
            <a:chExt cx="4400550" cy="1276350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4400550" cy="1276350"/>
            </a:xfrm>
            <a:custGeom>
              <a:avLst/>
              <a:gdLst/>
              <a:ahLst/>
              <a:cxnLst/>
              <a:rect r="r" b="b" t="t" l="l"/>
              <a:pathLst>
                <a:path h="1276350" w="4400550">
                  <a:moveTo>
                    <a:pt x="0" y="0"/>
                  </a:moveTo>
                  <a:lnTo>
                    <a:pt x="4400550" y="0"/>
                  </a:lnTo>
                  <a:lnTo>
                    <a:pt x="4400550" y="1276350"/>
                  </a:lnTo>
                  <a:lnTo>
                    <a:pt x="0" y="1276350"/>
                  </a:lnTo>
                  <a:close/>
                </a:path>
              </a:pathLst>
            </a:custGeom>
            <a:solidFill>
              <a:srgbClr val="ECE9E3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135" id="135"/>
          <p:cNvGrpSpPr/>
          <p:nvPr/>
        </p:nvGrpSpPr>
        <p:grpSpPr>
          <a:xfrm rot="0">
            <a:off x="971550" y="7643812"/>
            <a:ext cx="3057525" cy="828675"/>
            <a:chOff x="0" y="0"/>
            <a:chExt cx="4076700" cy="1104900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4076700" cy="1104900"/>
            </a:xfrm>
            <a:custGeom>
              <a:avLst/>
              <a:gdLst/>
              <a:ahLst/>
              <a:cxnLst/>
              <a:rect r="r" b="b" t="t" l="l"/>
              <a:pathLst>
                <a:path h="1104900" w="4076700">
                  <a:moveTo>
                    <a:pt x="0" y="0"/>
                  </a:moveTo>
                  <a:lnTo>
                    <a:pt x="4076700" y="0"/>
                  </a:lnTo>
                  <a:lnTo>
                    <a:pt x="4076700" y="1104900"/>
                  </a:lnTo>
                  <a:lnTo>
                    <a:pt x="0" y="11049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893" r="0" b="-21893"/>
              </a:stretch>
            </a:blipFill>
          </p:spPr>
        </p:sp>
        <p:sp>
          <p:nvSpPr>
            <p:cNvPr name="TextBox 137" id="137"/>
            <p:cNvSpPr txBox="true"/>
            <p:nvPr/>
          </p:nvSpPr>
          <p:spPr>
            <a:xfrm>
              <a:off x="0" y="-38100"/>
              <a:ext cx="4076700" cy="1143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25"/>
                </a:lnSpc>
              </a:pPr>
              <a:r>
                <a:rPr lang="en-US" sz="1687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31 Agustus 2026</a:t>
              </a:r>
            </a:p>
          </p:txBody>
        </p:sp>
      </p:grpSp>
      <p:grpSp>
        <p:nvGrpSpPr>
          <p:cNvPr name="Group 138" id="138"/>
          <p:cNvGrpSpPr/>
          <p:nvPr/>
        </p:nvGrpSpPr>
        <p:grpSpPr>
          <a:xfrm rot="0">
            <a:off x="4136231" y="7579519"/>
            <a:ext cx="5586412" cy="957262"/>
            <a:chOff x="0" y="0"/>
            <a:chExt cx="7448550" cy="1276350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7448550" cy="1276350"/>
            </a:xfrm>
            <a:custGeom>
              <a:avLst/>
              <a:gdLst/>
              <a:ahLst/>
              <a:cxnLst/>
              <a:rect r="r" b="b" t="t" l="l"/>
              <a:pathLst>
                <a:path h="1276350" w="7448550">
                  <a:moveTo>
                    <a:pt x="0" y="0"/>
                  </a:moveTo>
                  <a:lnTo>
                    <a:pt x="7448550" y="0"/>
                  </a:lnTo>
                  <a:lnTo>
                    <a:pt x="7448550" y="1276350"/>
                  </a:lnTo>
                  <a:lnTo>
                    <a:pt x="0" y="1276350"/>
                  </a:lnTo>
                  <a:close/>
                </a:path>
              </a:pathLst>
            </a:custGeom>
            <a:solidFill>
              <a:srgbClr val="ECE9E3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140" id="140"/>
          <p:cNvGrpSpPr/>
          <p:nvPr/>
        </p:nvGrpSpPr>
        <p:grpSpPr>
          <a:xfrm rot="0">
            <a:off x="4257675" y="7643812"/>
            <a:ext cx="5343525" cy="828675"/>
            <a:chOff x="0" y="0"/>
            <a:chExt cx="7124700" cy="1104900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7124700" cy="1104900"/>
            </a:xfrm>
            <a:custGeom>
              <a:avLst/>
              <a:gdLst/>
              <a:ahLst/>
              <a:cxnLst/>
              <a:rect r="r" b="b" t="t" l="l"/>
              <a:pathLst>
                <a:path h="1104900" w="7124700">
                  <a:moveTo>
                    <a:pt x="0" y="0"/>
                  </a:moveTo>
                  <a:lnTo>
                    <a:pt x="7124700" y="0"/>
                  </a:lnTo>
                  <a:lnTo>
                    <a:pt x="7124700" y="1104900"/>
                  </a:lnTo>
                  <a:lnTo>
                    <a:pt x="0" y="11049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644" r="0" b="-75644"/>
              </a:stretch>
            </a:blipFill>
          </p:spPr>
        </p:sp>
        <p:sp>
          <p:nvSpPr>
            <p:cNvPr name="TextBox 142" id="142"/>
            <p:cNvSpPr txBox="true"/>
            <p:nvPr/>
          </p:nvSpPr>
          <p:spPr>
            <a:xfrm>
              <a:off x="0" y="-38100"/>
              <a:ext cx="7124700" cy="1143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25"/>
                </a:lnSpc>
              </a:pPr>
              <a:r>
                <a:rPr lang="en-US" sz="1687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Submit Sumatranomics</a:t>
              </a:r>
            </a:p>
          </p:txBody>
        </p:sp>
      </p:grpSp>
      <p:grpSp>
        <p:nvGrpSpPr>
          <p:cNvPr name="Group 143" id="143"/>
          <p:cNvGrpSpPr/>
          <p:nvPr/>
        </p:nvGrpSpPr>
        <p:grpSpPr>
          <a:xfrm rot="0">
            <a:off x="9708356" y="7579519"/>
            <a:ext cx="4157662" cy="957262"/>
            <a:chOff x="0" y="0"/>
            <a:chExt cx="5543550" cy="1276350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5543550" cy="1276350"/>
            </a:xfrm>
            <a:custGeom>
              <a:avLst/>
              <a:gdLst/>
              <a:ahLst/>
              <a:cxnLst/>
              <a:rect r="r" b="b" t="t" l="l"/>
              <a:pathLst>
                <a:path h="1276350" w="5543550">
                  <a:moveTo>
                    <a:pt x="0" y="0"/>
                  </a:moveTo>
                  <a:lnTo>
                    <a:pt x="5543550" y="0"/>
                  </a:lnTo>
                  <a:lnTo>
                    <a:pt x="5543550" y="1276350"/>
                  </a:lnTo>
                  <a:lnTo>
                    <a:pt x="0" y="1276350"/>
                  </a:lnTo>
                  <a:close/>
                </a:path>
              </a:pathLst>
            </a:custGeom>
            <a:solidFill>
              <a:srgbClr val="ECE9E3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145" id="145"/>
          <p:cNvGrpSpPr/>
          <p:nvPr/>
        </p:nvGrpSpPr>
        <p:grpSpPr>
          <a:xfrm rot="0">
            <a:off x="9829800" y="7643812"/>
            <a:ext cx="3914775" cy="828675"/>
            <a:chOff x="0" y="0"/>
            <a:chExt cx="5219700" cy="1104900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0" y="0"/>
              <a:ext cx="5219700" cy="1104900"/>
            </a:xfrm>
            <a:custGeom>
              <a:avLst/>
              <a:gdLst/>
              <a:ahLst/>
              <a:cxnLst/>
              <a:rect r="r" b="b" t="t" l="l"/>
              <a:pathLst>
                <a:path h="1104900" w="5219700">
                  <a:moveTo>
                    <a:pt x="0" y="0"/>
                  </a:moveTo>
                  <a:lnTo>
                    <a:pt x="5219700" y="0"/>
                  </a:lnTo>
                  <a:lnTo>
                    <a:pt x="5219700" y="1104900"/>
                  </a:lnTo>
                  <a:lnTo>
                    <a:pt x="0" y="11049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050" r="0" b="-42050"/>
              </a:stretch>
            </a:blipFill>
          </p:spPr>
        </p:sp>
        <p:sp>
          <p:nvSpPr>
            <p:cNvPr name="TextBox 147" id="147"/>
            <p:cNvSpPr txBox="true"/>
            <p:nvPr/>
          </p:nvSpPr>
          <p:spPr>
            <a:xfrm>
              <a:off x="0" y="-38100"/>
              <a:ext cx="5219700" cy="1143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25"/>
                </a:lnSpc>
              </a:pPr>
              <a:r>
                <a:rPr lang="en-US" sz="1687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Corresponding author</a:t>
              </a:r>
            </a:p>
          </p:txBody>
        </p:sp>
      </p:grpSp>
      <p:grpSp>
        <p:nvGrpSpPr>
          <p:cNvPr name="Group 148" id="148"/>
          <p:cNvGrpSpPr/>
          <p:nvPr/>
        </p:nvGrpSpPr>
        <p:grpSpPr>
          <a:xfrm rot="0">
            <a:off x="13851731" y="7579519"/>
            <a:ext cx="3586162" cy="957262"/>
            <a:chOff x="0" y="0"/>
            <a:chExt cx="4781550" cy="1276350"/>
          </a:xfrm>
        </p:grpSpPr>
        <p:sp>
          <p:nvSpPr>
            <p:cNvPr name="Freeform 149" id="149"/>
            <p:cNvSpPr/>
            <p:nvPr/>
          </p:nvSpPr>
          <p:spPr>
            <a:xfrm flipH="false" flipV="false" rot="0">
              <a:off x="0" y="0"/>
              <a:ext cx="4781550" cy="1276350"/>
            </a:xfrm>
            <a:custGeom>
              <a:avLst/>
              <a:gdLst/>
              <a:ahLst/>
              <a:cxnLst/>
              <a:rect r="r" b="b" t="t" l="l"/>
              <a:pathLst>
                <a:path h="1276350" w="4781550">
                  <a:moveTo>
                    <a:pt x="0" y="0"/>
                  </a:moveTo>
                  <a:lnTo>
                    <a:pt x="4781550" y="0"/>
                  </a:lnTo>
                  <a:lnTo>
                    <a:pt x="4781550" y="1276350"/>
                  </a:lnTo>
                  <a:lnTo>
                    <a:pt x="0" y="1276350"/>
                  </a:lnTo>
                  <a:close/>
                </a:path>
              </a:pathLst>
            </a:custGeom>
            <a:solidFill>
              <a:srgbClr val="ECE9E3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150" id="150"/>
          <p:cNvGrpSpPr/>
          <p:nvPr/>
        </p:nvGrpSpPr>
        <p:grpSpPr>
          <a:xfrm rot="0">
            <a:off x="13973175" y="7643812"/>
            <a:ext cx="3343275" cy="828675"/>
            <a:chOff x="0" y="0"/>
            <a:chExt cx="4457700" cy="1104900"/>
          </a:xfrm>
        </p:grpSpPr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4457700" cy="1104900"/>
            </a:xfrm>
            <a:custGeom>
              <a:avLst/>
              <a:gdLst/>
              <a:ahLst/>
              <a:cxnLst/>
              <a:rect r="r" b="b" t="t" l="l"/>
              <a:pathLst>
                <a:path h="1104900" w="4457700">
                  <a:moveTo>
                    <a:pt x="0" y="0"/>
                  </a:moveTo>
                  <a:lnTo>
                    <a:pt x="4457700" y="0"/>
                  </a:lnTo>
                  <a:lnTo>
                    <a:pt x="4457700" y="1104900"/>
                  </a:lnTo>
                  <a:lnTo>
                    <a:pt x="0" y="11049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612" r="0" b="-28612"/>
              </a:stretch>
            </a:blipFill>
          </p:spPr>
        </p:sp>
        <p:sp>
          <p:nvSpPr>
            <p:cNvPr name="TextBox 152" id="152"/>
            <p:cNvSpPr txBox="true"/>
            <p:nvPr/>
          </p:nvSpPr>
          <p:spPr>
            <a:xfrm>
              <a:off x="0" y="-38100"/>
              <a:ext cx="4457700" cy="1143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25"/>
                </a:lnSpc>
              </a:pPr>
              <a:r>
                <a:rPr lang="en-US" sz="1687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SUBMITTED</a:t>
              </a:r>
            </a:p>
          </p:txBody>
        </p:sp>
      </p:grpSp>
      <p:grpSp>
        <p:nvGrpSpPr>
          <p:cNvPr name="Group 153" id="153"/>
          <p:cNvGrpSpPr/>
          <p:nvPr/>
        </p:nvGrpSpPr>
        <p:grpSpPr>
          <a:xfrm rot="0">
            <a:off x="857250" y="8858250"/>
            <a:ext cx="16573500" cy="828675"/>
            <a:chOff x="0" y="0"/>
            <a:chExt cx="22098000" cy="1104900"/>
          </a:xfrm>
        </p:grpSpPr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22098000" cy="1104900"/>
            </a:xfrm>
            <a:custGeom>
              <a:avLst/>
              <a:gdLst/>
              <a:ahLst/>
              <a:cxnLst/>
              <a:rect r="r" b="b" t="t" l="l"/>
              <a:pathLst>
                <a:path h="110490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1104900"/>
                  </a:lnTo>
                  <a:lnTo>
                    <a:pt x="0" y="1104900"/>
                  </a:lnTo>
                  <a:close/>
                </a:path>
              </a:pathLst>
            </a:custGeom>
            <a:solidFill>
              <a:srgbClr val="D86F00"/>
            </a:solidFill>
          </p:spPr>
        </p:sp>
      </p:grpSp>
      <p:grpSp>
        <p:nvGrpSpPr>
          <p:cNvPr name="Group 155" id="155"/>
          <p:cNvGrpSpPr/>
          <p:nvPr/>
        </p:nvGrpSpPr>
        <p:grpSpPr>
          <a:xfrm rot="0">
            <a:off x="1171575" y="8958262"/>
            <a:ext cx="15944850" cy="614362"/>
            <a:chOff x="0" y="0"/>
            <a:chExt cx="21259800" cy="819150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21259800" cy="819150"/>
            </a:xfrm>
            <a:custGeom>
              <a:avLst/>
              <a:gdLst/>
              <a:ahLst/>
              <a:cxnLst/>
              <a:rect r="r" b="b" t="t" l="l"/>
              <a:pathLst>
                <a:path h="819150" w="21259800">
                  <a:moveTo>
                    <a:pt x="0" y="0"/>
                  </a:moveTo>
                  <a:lnTo>
                    <a:pt x="21259800" y="0"/>
                  </a:lnTo>
                  <a:lnTo>
                    <a:pt x="21259800" y="819150"/>
                  </a:lnTo>
                  <a:lnTo>
                    <a:pt x="0" y="8191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5704" r="0" b="-455704"/>
              </a:stretch>
            </a:blipFill>
          </p:spPr>
        </p:sp>
        <p:sp>
          <p:nvSpPr>
            <p:cNvPr name="TextBox 157" id="157"/>
            <p:cNvSpPr txBox="true"/>
            <p:nvPr/>
          </p:nvSpPr>
          <p:spPr>
            <a:xfrm>
              <a:off x="0" y="-38100"/>
              <a:ext cx="21259800" cy="857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65"/>
                </a:lnSpc>
              </a:pPr>
              <a:r>
                <a:rPr lang="en-US" sz="2137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Hindari menambah analisis baru pada minggu terakhir kecuali benar-benar kritis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571500"/>
            <a:chOff x="0" y="0"/>
            <a:chExt cx="24384000" cy="762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762000"/>
            </a:xfrm>
            <a:custGeom>
              <a:avLst/>
              <a:gdLst/>
              <a:ahLst/>
              <a:cxnLst/>
              <a:rect r="r" b="b" t="t" l="l"/>
              <a:pathLst>
                <a:path h="762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15574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100012"/>
            <a:ext cx="16573500" cy="357188"/>
            <a:chOff x="0" y="0"/>
            <a:chExt cx="22098000" cy="4762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098000" cy="476250"/>
            </a:xfrm>
            <a:custGeom>
              <a:avLst/>
              <a:gdLst/>
              <a:ahLst/>
              <a:cxnLst/>
              <a:rect r="r" b="b" t="t" l="l"/>
              <a:pathLst>
                <a:path h="47625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476250"/>
                  </a:lnTo>
                  <a:lnTo>
                    <a:pt x="0" y="476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4105" r="0" b="-85410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2098000" cy="504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755"/>
                </a:lnSpc>
              </a:pPr>
              <a:r>
                <a:rPr lang="en-US" sz="1462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PENUTUP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57250" y="885825"/>
            <a:ext cx="16573500" cy="771525"/>
            <a:chOff x="0" y="0"/>
            <a:chExt cx="22098000" cy="10287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098000" cy="1028700"/>
            </a:xfrm>
            <a:custGeom>
              <a:avLst/>
              <a:gdLst/>
              <a:ahLst/>
              <a:cxnLst/>
              <a:rect r="r" b="b" t="t" l="l"/>
              <a:pathLst>
                <a:path h="102870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1028700"/>
                  </a:lnTo>
                  <a:lnTo>
                    <a:pt x="0" y="10287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8567" r="0" b="-368567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76200"/>
              <a:ext cx="22098000" cy="1104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sz="4050" b="true">
                  <a:solidFill>
                    <a:srgbClr val="1557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Pertemuan selesai ketika lima hal ini sudah jelas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7002125" y="9686925"/>
            <a:ext cx="500062" cy="257175"/>
            <a:chOff x="0" y="0"/>
            <a:chExt cx="666750" cy="3429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66750" cy="342900"/>
            </a:xfrm>
            <a:custGeom>
              <a:avLst/>
              <a:gdLst/>
              <a:ahLst/>
              <a:cxnLst/>
              <a:rect r="r" b="b" t="t" l="l"/>
              <a:pathLst>
                <a:path h="342900" w="666750">
                  <a:moveTo>
                    <a:pt x="0" y="0"/>
                  </a:moveTo>
                  <a:lnTo>
                    <a:pt x="666750" y="0"/>
                  </a:lnTo>
                  <a:lnTo>
                    <a:pt x="666750" y="342900"/>
                  </a:lnTo>
                  <a:lnTo>
                    <a:pt x="0" y="3429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984" t="0" r="-15984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66750" cy="361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85"/>
                </a:lnSpc>
              </a:pPr>
              <a:r>
                <a:rPr lang="en-US" sz="1237">
                  <a:solidFill>
                    <a:srgbClr val="77736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25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571625" y="2143125"/>
            <a:ext cx="600075" cy="600075"/>
            <a:chOff x="0" y="0"/>
            <a:chExt cx="800100" cy="8001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00100" cy="800100"/>
            </a:xfrm>
            <a:custGeom>
              <a:avLst/>
              <a:gdLst/>
              <a:ahLst/>
              <a:cxnLst/>
              <a:rect r="r" b="b" t="t" l="l"/>
              <a:pathLst>
                <a:path h="800100" w="800100">
                  <a:moveTo>
                    <a:pt x="0" y="0"/>
                  </a:moveTo>
                  <a:lnTo>
                    <a:pt x="800100" y="0"/>
                  </a:lnTo>
                  <a:lnTo>
                    <a:pt x="800100" y="800100"/>
                  </a:lnTo>
                  <a:lnTo>
                    <a:pt x="0" y="800100"/>
                  </a:lnTo>
                  <a:close/>
                </a:path>
              </a:pathLst>
            </a:custGeom>
            <a:solidFill>
              <a:srgbClr val="155744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571625" y="2143125"/>
            <a:ext cx="600075" cy="600075"/>
            <a:chOff x="0" y="0"/>
            <a:chExt cx="800100" cy="8001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00100" cy="800100"/>
            </a:xfrm>
            <a:custGeom>
              <a:avLst/>
              <a:gdLst/>
              <a:ahLst/>
              <a:cxnLst/>
              <a:rect r="r" b="b" t="t" l="l"/>
              <a:pathLst>
                <a:path h="800100" w="800100">
                  <a:moveTo>
                    <a:pt x="0" y="0"/>
                  </a:moveTo>
                  <a:lnTo>
                    <a:pt x="800100" y="0"/>
                  </a:lnTo>
                  <a:lnTo>
                    <a:pt x="800100" y="800100"/>
                  </a:lnTo>
                  <a:lnTo>
                    <a:pt x="0" y="8001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800100" cy="838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30"/>
                </a:lnSpc>
              </a:pPr>
              <a:r>
                <a:rPr lang="en-US" sz="20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571750" y="2071688"/>
            <a:ext cx="13573125" cy="714375"/>
            <a:chOff x="0" y="0"/>
            <a:chExt cx="18097500" cy="9525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8097500" cy="952500"/>
            </a:xfrm>
            <a:custGeom>
              <a:avLst/>
              <a:gdLst/>
              <a:ahLst/>
              <a:cxnLst/>
              <a:rect r="r" b="b" t="t" l="l"/>
              <a:pathLst>
                <a:path h="952500" w="18097500">
                  <a:moveTo>
                    <a:pt x="0" y="0"/>
                  </a:moveTo>
                  <a:lnTo>
                    <a:pt x="18097500" y="0"/>
                  </a:lnTo>
                  <a:lnTo>
                    <a:pt x="18097500" y="952500"/>
                  </a:lnTo>
                  <a:lnTo>
                    <a:pt x="0" y="9525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0215" r="0" b="-320215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18097500" cy="1000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70"/>
                </a:lnSpc>
              </a:pPr>
              <a:r>
                <a:rPr lang="en-US" sz="2475" b="true">
                  <a:solidFill>
                    <a:srgbClr val="25232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Apa yang menjadi kontribusi utama paper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571625" y="3314700"/>
            <a:ext cx="600075" cy="600075"/>
            <a:chOff x="0" y="0"/>
            <a:chExt cx="800100" cy="8001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00100" cy="800100"/>
            </a:xfrm>
            <a:custGeom>
              <a:avLst/>
              <a:gdLst/>
              <a:ahLst/>
              <a:cxnLst/>
              <a:rect r="r" b="b" t="t" l="l"/>
              <a:pathLst>
                <a:path h="800100" w="800100">
                  <a:moveTo>
                    <a:pt x="0" y="0"/>
                  </a:moveTo>
                  <a:lnTo>
                    <a:pt x="800100" y="0"/>
                  </a:lnTo>
                  <a:lnTo>
                    <a:pt x="800100" y="800100"/>
                  </a:lnTo>
                  <a:lnTo>
                    <a:pt x="0" y="800100"/>
                  </a:lnTo>
                  <a:close/>
                </a:path>
              </a:pathLst>
            </a:custGeom>
            <a:solidFill>
              <a:srgbClr val="155744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571625" y="3314700"/>
            <a:ext cx="600075" cy="600075"/>
            <a:chOff x="0" y="0"/>
            <a:chExt cx="800100" cy="8001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00100" cy="800100"/>
            </a:xfrm>
            <a:custGeom>
              <a:avLst/>
              <a:gdLst/>
              <a:ahLst/>
              <a:cxnLst/>
              <a:rect r="r" b="b" t="t" l="l"/>
              <a:pathLst>
                <a:path h="800100" w="800100">
                  <a:moveTo>
                    <a:pt x="0" y="0"/>
                  </a:moveTo>
                  <a:lnTo>
                    <a:pt x="800100" y="0"/>
                  </a:lnTo>
                  <a:lnTo>
                    <a:pt x="800100" y="800100"/>
                  </a:lnTo>
                  <a:lnTo>
                    <a:pt x="0" y="8001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800100" cy="838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30"/>
                </a:lnSpc>
              </a:pPr>
              <a:r>
                <a:rPr lang="en-US" sz="20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2571750" y="3243262"/>
            <a:ext cx="13573125" cy="714375"/>
            <a:chOff x="0" y="0"/>
            <a:chExt cx="18097500" cy="9525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8097500" cy="952500"/>
            </a:xfrm>
            <a:custGeom>
              <a:avLst/>
              <a:gdLst/>
              <a:ahLst/>
              <a:cxnLst/>
              <a:rect r="r" b="b" t="t" l="l"/>
              <a:pathLst>
                <a:path h="952500" w="18097500">
                  <a:moveTo>
                    <a:pt x="0" y="0"/>
                  </a:moveTo>
                  <a:lnTo>
                    <a:pt x="18097500" y="0"/>
                  </a:lnTo>
                  <a:lnTo>
                    <a:pt x="18097500" y="952500"/>
                  </a:lnTo>
                  <a:lnTo>
                    <a:pt x="0" y="9525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0215" r="0" b="-320215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18097500" cy="1000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70"/>
                </a:lnSpc>
              </a:pPr>
              <a:r>
                <a:rPr lang="en-US" sz="2475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Batas klaim yang disepakati semua penulis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571625" y="4486275"/>
            <a:ext cx="600075" cy="600075"/>
            <a:chOff x="0" y="0"/>
            <a:chExt cx="800100" cy="8001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00100" cy="800100"/>
            </a:xfrm>
            <a:custGeom>
              <a:avLst/>
              <a:gdLst/>
              <a:ahLst/>
              <a:cxnLst/>
              <a:rect r="r" b="b" t="t" l="l"/>
              <a:pathLst>
                <a:path h="800100" w="800100">
                  <a:moveTo>
                    <a:pt x="0" y="0"/>
                  </a:moveTo>
                  <a:lnTo>
                    <a:pt x="800100" y="0"/>
                  </a:lnTo>
                  <a:lnTo>
                    <a:pt x="800100" y="800100"/>
                  </a:lnTo>
                  <a:lnTo>
                    <a:pt x="0" y="800100"/>
                  </a:lnTo>
                  <a:close/>
                </a:path>
              </a:pathLst>
            </a:custGeom>
            <a:solidFill>
              <a:srgbClr val="D86F00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571625" y="4486275"/>
            <a:ext cx="600075" cy="600075"/>
            <a:chOff x="0" y="0"/>
            <a:chExt cx="800100" cy="8001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00100" cy="800100"/>
            </a:xfrm>
            <a:custGeom>
              <a:avLst/>
              <a:gdLst/>
              <a:ahLst/>
              <a:cxnLst/>
              <a:rect r="r" b="b" t="t" l="l"/>
              <a:pathLst>
                <a:path h="800100" w="800100">
                  <a:moveTo>
                    <a:pt x="0" y="0"/>
                  </a:moveTo>
                  <a:lnTo>
                    <a:pt x="800100" y="0"/>
                  </a:lnTo>
                  <a:lnTo>
                    <a:pt x="800100" y="800100"/>
                  </a:lnTo>
                  <a:lnTo>
                    <a:pt x="0" y="8001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800100" cy="838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30"/>
                </a:lnSpc>
              </a:pPr>
              <a:r>
                <a:rPr lang="en-US" sz="20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2571750" y="4414838"/>
            <a:ext cx="13573125" cy="714375"/>
            <a:chOff x="0" y="0"/>
            <a:chExt cx="18097500" cy="9525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8097500" cy="952500"/>
            </a:xfrm>
            <a:custGeom>
              <a:avLst/>
              <a:gdLst/>
              <a:ahLst/>
              <a:cxnLst/>
              <a:rect r="r" b="b" t="t" l="l"/>
              <a:pathLst>
                <a:path h="952500" w="18097500">
                  <a:moveTo>
                    <a:pt x="0" y="0"/>
                  </a:moveTo>
                  <a:lnTo>
                    <a:pt x="18097500" y="0"/>
                  </a:lnTo>
                  <a:lnTo>
                    <a:pt x="18097500" y="952500"/>
                  </a:lnTo>
                  <a:lnTo>
                    <a:pt x="0" y="9525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0215" r="0" b="-320215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18097500" cy="1000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70"/>
                </a:lnSpc>
              </a:pPr>
              <a:r>
                <a:rPr lang="en-US" sz="2475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Desain evaluasi dan partial-2026 OOS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571625" y="5657850"/>
            <a:ext cx="600075" cy="600075"/>
            <a:chOff x="0" y="0"/>
            <a:chExt cx="800100" cy="8001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00100" cy="800100"/>
            </a:xfrm>
            <a:custGeom>
              <a:avLst/>
              <a:gdLst/>
              <a:ahLst/>
              <a:cxnLst/>
              <a:rect r="r" b="b" t="t" l="l"/>
              <a:pathLst>
                <a:path h="800100" w="800100">
                  <a:moveTo>
                    <a:pt x="0" y="0"/>
                  </a:moveTo>
                  <a:lnTo>
                    <a:pt x="800100" y="0"/>
                  </a:lnTo>
                  <a:lnTo>
                    <a:pt x="800100" y="800100"/>
                  </a:lnTo>
                  <a:lnTo>
                    <a:pt x="0" y="800100"/>
                  </a:lnTo>
                  <a:close/>
                </a:path>
              </a:pathLst>
            </a:custGeom>
            <a:solidFill>
              <a:srgbClr val="D86F00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571625" y="5657850"/>
            <a:ext cx="600075" cy="600075"/>
            <a:chOff x="0" y="0"/>
            <a:chExt cx="800100" cy="8001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00100" cy="800100"/>
            </a:xfrm>
            <a:custGeom>
              <a:avLst/>
              <a:gdLst/>
              <a:ahLst/>
              <a:cxnLst/>
              <a:rect r="r" b="b" t="t" l="l"/>
              <a:pathLst>
                <a:path h="800100" w="800100">
                  <a:moveTo>
                    <a:pt x="0" y="0"/>
                  </a:moveTo>
                  <a:lnTo>
                    <a:pt x="800100" y="0"/>
                  </a:lnTo>
                  <a:lnTo>
                    <a:pt x="800100" y="800100"/>
                  </a:lnTo>
                  <a:lnTo>
                    <a:pt x="0" y="8001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800100" cy="838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30"/>
                </a:lnSpc>
              </a:pPr>
              <a:r>
                <a:rPr lang="en-US" sz="20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2571750" y="5586412"/>
            <a:ext cx="13573125" cy="714375"/>
            <a:chOff x="0" y="0"/>
            <a:chExt cx="18097500" cy="9525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8097500" cy="952500"/>
            </a:xfrm>
            <a:custGeom>
              <a:avLst/>
              <a:gdLst/>
              <a:ahLst/>
              <a:cxnLst/>
              <a:rect r="r" b="b" t="t" l="l"/>
              <a:pathLst>
                <a:path h="952500" w="18097500">
                  <a:moveTo>
                    <a:pt x="0" y="0"/>
                  </a:moveTo>
                  <a:lnTo>
                    <a:pt x="18097500" y="0"/>
                  </a:lnTo>
                  <a:lnTo>
                    <a:pt x="18097500" y="952500"/>
                  </a:lnTo>
                  <a:lnTo>
                    <a:pt x="0" y="9525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0215" r="0" b="-320215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18097500" cy="1000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70"/>
                </a:lnSpc>
              </a:pPr>
              <a:r>
                <a:rPr lang="en-US" sz="2475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Pembagian penulisan dan urutan tanggung jawab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571625" y="6829425"/>
            <a:ext cx="600075" cy="600075"/>
            <a:chOff x="0" y="0"/>
            <a:chExt cx="800100" cy="8001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00100" cy="800100"/>
            </a:xfrm>
            <a:custGeom>
              <a:avLst/>
              <a:gdLst/>
              <a:ahLst/>
              <a:cxnLst/>
              <a:rect r="r" b="b" t="t" l="l"/>
              <a:pathLst>
                <a:path h="800100" w="800100">
                  <a:moveTo>
                    <a:pt x="0" y="0"/>
                  </a:moveTo>
                  <a:lnTo>
                    <a:pt x="800100" y="0"/>
                  </a:lnTo>
                  <a:lnTo>
                    <a:pt x="800100" y="800100"/>
                  </a:lnTo>
                  <a:lnTo>
                    <a:pt x="0" y="800100"/>
                  </a:lnTo>
                  <a:close/>
                </a:path>
              </a:pathLst>
            </a:custGeom>
            <a:solidFill>
              <a:srgbClr val="D86F00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571625" y="6829425"/>
            <a:ext cx="600075" cy="600075"/>
            <a:chOff x="0" y="0"/>
            <a:chExt cx="800100" cy="8001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00100" cy="800100"/>
            </a:xfrm>
            <a:custGeom>
              <a:avLst/>
              <a:gdLst/>
              <a:ahLst/>
              <a:cxnLst/>
              <a:rect r="r" b="b" t="t" l="l"/>
              <a:pathLst>
                <a:path h="800100" w="800100">
                  <a:moveTo>
                    <a:pt x="0" y="0"/>
                  </a:moveTo>
                  <a:lnTo>
                    <a:pt x="800100" y="0"/>
                  </a:lnTo>
                  <a:lnTo>
                    <a:pt x="800100" y="800100"/>
                  </a:lnTo>
                  <a:lnTo>
                    <a:pt x="0" y="8001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800100" cy="838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30"/>
                </a:lnSpc>
              </a:pPr>
              <a:r>
                <a:rPr lang="en-US" sz="20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2571750" y="6757988"/>
            <a:ext cx="13573125" cy="714375"/>
            <a:chOff x="0" y="0"/>
            <a:chExt cx="18097500" cy="9525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8097500" cy="952500"/>
            </a:xfrm>
            <a:custGeom>
              <a:avLst/>
              <a:gdLst/>
              <a:ahLst/>
              <a:cxnLst/>
              <a:rect r="r" b="b" t="t" l="l"/>
              <a:pathLst>
                <a:path h="952500" w="18097500">
                  <a:moveTo>
                    <a:pt x="0" y="0"/>
                  </a:moveTo>
                  <a:lnTo>
                    <a:pt x="18097500" y="0"/>
                  </a:lnTo>
                  <a:lnTo>
                    <a:pt x="18097500" y="952500"/>
                  </a:lnTo>
                  <a:lnTo>
                    <a:pt x="0" y="9525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0215" r="0" b="-320215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18097500" cy="1000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70"/>
                </a:lnSpc>
              </a:pPr>
              <a:r>
                <a:rPr lang="en-US" sz="2475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Owner serta tanggal untuk review dan submission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857250" y="8572500"/>
            <a:ext cx="16573500" cy="828675"/>
            <a:chOff x="0" y="0"/>
            <a:chExt cx="22098000" cy="11049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2098000" cy="1104900"/>
            </a:xfrm>
            <a:custGeom>
              <a:avLst/>
              <a:gdLst/>
              <a:ahLst/>
              <a:cxnLst/>
              <a:rect r="r" b="b" t="t" l="l"/>
              <a:pathLst>
                <a:path h="110490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1104900"/>
                  </a:lnTo>
                  <a:lnTo>
                    <a:pt x="0" y="1104900"/>
                  </a:lnTo>
                  <a:close/>
                </a:path>
              </a:pathLst>
            </a:custGeom>
            <a:solidFill>
              <a:srgbClr val="155744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171575" y="8672512"/>
            <a:ext cx="15944850" cy="614362"/>
            <a:chOff x="0" y="0"/>
            <a:chExt cx="21259800" cy="81915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1259800" cy="819150"/>
            </a:xfrm>
            <a:custGeom>
              <a:avLst/>
              <a:gdLst/>
              <a:ahLst/>
              <a:cxnLst/>
              <a:rect r="r" b="b" t="t" l="l"/>
              <a:pathLst>
                <a:path h="819150" w="21259800">
                  <a:moveTo>
                    <a:pt x="0" y="0"/>
                  </a:moveTo>
                  <a:lnTo>
                    <a:pt x="21259800" y="0"/>
                  </a:lnTo>
                  <a:lnTo>
                    <a:pt x="21259800" y="819150"/>
                  </a:lnTo>
                  <a:lnTo>
                    <a:pt x="0" y="8191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5704" r="0" b="-455704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21259800" cy="857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65"/>
                </a:lnSpc>
              </a:pPr>
              <a:r>
                <a:rPr lang="en-US" sz="2137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Tujuan akhirnya sederhana: semua orang memahami pekerjaan, masalah, dan langkah berikutnya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571500"/>
            <a:chOff x="0" y="0"/>
            <a:chExt cx="24384000" cy="762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762000"/>
            </a:xfrm>
            <a:custGeom>
              <a:avLst/>
              <a:gdLst/>
              <a:ahLst/>
              <a:cxnLst/>
              <a:rect r="r" b="b" t="t" l="l"/>
              <a:pathLst>
                <a:path h="762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15574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100012"/>
            <a:ext cx="16573500" cy="357188"/>
            <a:chOff x="0" y="0"/>
            <a:chExt cx="22098000" cy="4762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098000" cy="476250"/>
            </a:xfrm>
            <a:custGeom>
              <a:avLst/>
              <a:gdLst/>
              <a:ahLst/>
              <a:cxnLst/>
              <a:rect r="r" b="b" t="t" l="l"/>
              <a:pathLst>
                <a:path h="47625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476250"/>
                  </a:lnTo>
                  <a:lnTo>
                    <a:pt x="0" y="476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4105" r="0" b="-85410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2098000" cy="504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755"/>
                </a:lnSpc>
              </a:pPr>
              <a:r>
                <a:rPr lang="en-US" sz="1462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APPENDIX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57250" y="885825"/>
            <a:ext cx="16573500" cy="771525"/>
            <a:chOff x="0" y="0"/>
            <a:chExt cx="22098000" cy="10287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098000" cy="1028700"/>
            </a:xfrm>
            <a:custGeom>
              <a:avLst/>
              <a:gdLst/>
              <a:ahLst/>
              <a:cxnLst/>
              <a:rect r="r" b="b" t="t" l="l"/>
              <a:pathLst>
                <a:path h="102870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1028700"/>
                  </a:lnTo>
                  <a:lnTo>
                    <a:pt x="0" y="10287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8567" r="0" b="-368567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76200"/>
              <a:ext cx="22098000" cy="1104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sz="4050" b="true">
                  <a:solidFill>
                    <a:srgbClr val="1557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A1 — Isi dataset Model B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7002125" y="9686925"/>
            <a:ext cx="500062" cy="257175"/>
            <a:chOff x="0" y="0"/>
            <a:chExt cx="666750" cy="3429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66750" cy="342900"/>
            </a:xfrm>
            <a:custGeom>
              <a:avLst/>
              <a:gdLst/>
              <a:ahLst/>
              <a:cxnLst/>
              <a:rect r="r" b="b" t="t" l="l"/>
              <a:pathLst>
                <a:path h="342900" w="666750">
                  <a:moveTo>
                    <a:pt x="0" y="0"/>
                  </a:moveTo>
                  <a:lnTo>
                    <a:pt x="666750" y="0"/>
                  </a:lnTo>
                  <a:lnTo>
                    <a:pt x="666750" y="342900"/>
                  </a:lnTo>
                  <a:lnTo>
                    <a:pt x="0" y="3429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984" t="0" r="-15984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66750" cy="361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85"/>
                </a:lnSpc>
              </a:pPr>
              <a:r>
                <a:rPr lang="en-US" sz="1237">
                  <a:solidFill>
                    <a:srgbClr val="77736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26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50106" y="1993106"/>
            <a:ext cx="4014788" cy="914400"/>
            <a:chOff x="0" y="0"/>
            <a:chExt cx="5353050" cy="1219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35305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353050">
                  <a:moveTo>
                    <a:pt x="0" y="0"/>
                  </a:moveTo>
                  <a:lnTo>
                    <a:pt x="5353050" y="0"/>
                  </a:lnTo>
                  <a:lnTo>
                    <a:pt x="535305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155744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971550" y="2057400"/>
            <a:ext cx="3771900" cy="785812"/>
            <a:chOff x="0" y="0"/>
            <a:chExt cx="5029200" cy="10477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029200" cy="1047750"/>
            </a:xfrm>
            <a:custGeom>
              <a:avLst/>
              <a:gdLst/>
              <a:ahLst/>
              <a:cxnLst/>
              <a:rect r="r" b="b" t="t" l="l"/>
              <a:pathLst>
                <a:path h="1047750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1047750"/>
                  </a:lnTo>
                  <a:lnTo>
                    <a:pt x="0" y="10477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528" r="0" b="-43528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5029200" cy="1085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25"/>
                </a:lnSpc>
              </a:pPr>
              <a:r>
                <a:rPr lang="en-US" sz="1687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Kelompok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850606" y="1993106"/>
            <a:ext cx="12587288" cy="914400"/>
            <a:chOff x="0" y="0"/>
            <a:chExt cx="16783050" cy="12192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678305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6783050">
                  <a:moveTo>
                    <a:pt x="0" y="0"/>
                  </a:moveTo>
                  <a:lnTo>
                    <a:pt x="16783050" y="0"/>
                  </a:lnTo>
                  <a:lnTo>
                    <a:pt x="1678305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155744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4972050" y="2057400"/>
            <a:ext cx="12344400" cy="785812"/>
            <a:chOff x="0" y="0"/>
            <a:chExt cx="16459200" cy="10477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6459200" cy="1047750"/>
            </a:xfrm>
            <a:custGeom>
              <a:avLst/>
              <a:gdLst/>
              <a:ahLst/>
              <a:cxnLst/>
              <a:rect r="r" b="b" t="t" l="l"/>
              <a:pathLst>
                <a:path h="104775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047750"/>
                  </a:lnTo>
                  <a:lnTo>
                    <a:pt x="0" y="10477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6092" r="0" b="-256092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6459200" cy="1085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25"/>
                </a:lnSpc>
              </a:pPr>
              <a:r>
                <a:rPr lang="en-US" sz="1687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Kolom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50106" y="2893219"/>
            <a:ext cx="4014788" cy="914400"/>
            <a:chOff x="0" y="0"/>
            <a:chExt cx="5353050" cy="12192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35305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353050">
                  <a:moveTo>
                    <a:pt x="0" y="0"/>
                  </a:moveTo>
                  <a:lnTo>
                    <a:pt x="5353050" y="0"/>
                  </a:lnTo>
                  <a:lnTo>
                    <a:pt x="535305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7F5F0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971550" y="2957512"/>
            <a:ext cx="3771900" cy="785812"/>
            <a:chOff x="0" y="0"/>
            <a:chExt cx="5029200" cy="104775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029200" cy="1047750"/>
            </a:xfrm>
            <a:custGeom>
              <a:avLst/>
              <a:gdLst/>
              <a:ahLst/>
              <a:cxnLst/>
              <a:rect r="r" b="b" t="t" l="l"/>
              <a:pathLst>
                <a:path h="1047750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1047750"/>
                  </a:lnTo>
                  <a:lnTo>
                    <a:pt x="0" y="10477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528" r="0" b="-43528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5029200" cy="1085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25"/>
                </a:lnSpc>
              </a:pPr>
              <a:r>
                <a:rPr lang="en-US" sz="1687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Identitas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4850606" y="2893219"/>
            <a:ext cx="12587288" cy="914400"/>
            <a:chOff x="0" y="0"/>
            <a:chExt cx="16783050" cy="12192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678305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6783050">
                  <a:moveTo>
                    <a:pt x="0" y="0"/>
                  </a:moveTo>
                  <a:lnTo>
                    <a:pt x="16783050" y="0"/>
                  </a:lnTo>
                  <a:lnTo>
                    <a:pt x="1678305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7F5F0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4972050" y="2957512"/>
            <a:ext cx="12344400" cy="785812"/>
            <a:chOff x="0" y="0"/>
            <a:chExt cx="16459200" cy="104775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6459200" cy="1047750"/>
            </a:xfrm>
            <a:custGeom>
              <a:avLst/>
              <a:gdLst/>
              <a:ahLst/>
              <a:cxnLst/>
              <a:rect r="r" b="b" t="t" l="l"/>
              <a:pathLst>
                <a:path h="104775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047750"/>
                  </a:lnTo>
                  <a:lnTo>
                    <a:pt x="0" y="10477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6092" r="0" b="-256092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16459200" cy="1085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25"/>
                </a:lnSpc>
              </a:pPr>
              <a:r>
                <a:rPr lang="en-US" sz="1687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period_id, date_start, date_end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850106" y="3793331"/>
            <a:ext cx="4014788" cy="914400"/>
            <a:chOff x="0" y="0"/>
            <a:chExt cx="5353050" cy="12192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35305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353050">
                  <a:moveTo>
                    <a:pt x="0" y="0"/>
                  </a:moveTo>
                  <a:lnTo>
                    <a:pt x="5353050" y="0"/>
                  </a:lnTo>
                  <a:lnTo>
                    <a:pt x="535305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ECE9E3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971550" y="3857625"/>
            <a:ext cx="3771900" cy="785812"/>
            <a:chOff x="0" y="0"/>
            <a:chExt cx="5029200" cy="104775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029200" cy="1047750"/>
            </a:xfrm>
            <a:custGeom>
              <a:avLst/>
              <a:gdLst/>
              <a:ahLst/>
              <a:cxnLst/>
              <a:rect r="r" b="b" t="t" l="l"/>
              <a:pathLst>
                <a:path h="1047750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1047750"/>
                  </a:lnTo>
                  <a:lnTo>
                    <a:pt x="0" y="10477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528" r="0" b="-43528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5029200" cy="1085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25"/>
                </a:lnSpc>
              </a:pPr>
              <a:r>
                <a:rPr lang="en-US" sz="1687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Target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4850606" y="3793331"/>
            <a:ext cx="12587288" cy="914400"/>
            <a:chOff x="0" y="0"/>
            <a:chExt cx="16783050" cy="12192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678305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6783050">
                  <a:moveTo>
                    <a:pt x="0" y="0"/>
                  </a:moveTo>
                  <a:lnTo>
                    <a:pt x="16783050" y="0"/>
                  </a:lnTo>
                  <a:lnTo>
                    <a:pt x="1678305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ECE9E3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4972050" y="3857625"/>
            <a:ext cx="12344400" cy="785812"/>
            <a:chOff x="0" y="0"/>
            <a:chExt cx="16459200" cy="104775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6459200" cy="1047750"/>
            </a:xfrm>
            <a:custGeom>
              <a:avLst/>
              <a:gdLst/>
              <a:ahLst/>
              <a:cxnLst/>
              <a:rect r="r" b="b" t="t" l="l"/>
              <a:pathLst>
                <a:path h="104775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047750"/>
                  </a:lnTo>
                  <a:lnTo>
                    <a:pt x="0" y="10477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6092" r="0" b="-256092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16459200" cy="1085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25"/>
                </a:lnSpc>
              </a:pPr>
              <a:r>
                <a:rPr lang="en-US" sz="1687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target, target_L1, target_L2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850106" y="4693444"/>
            <a:ext cx="4014788" cy="914400"/>
            <a:chOff x="0" y="0"/>
            <a:chExt cx="5353050" cy="12192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35305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353050">
                  <a:moveTo>
                    <a:pt x="0" y="0"/>
                  </a:moveTo>
                  <a:lnTo>
                    <a:pt x="5353050" y="0"/>
                  </a:lnTo>
                  <a:lnTo>
                    <a:pt x="535305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7F5F0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971550" y="4757738"/>
            <a:ext cx="3771900" cy="785812"/>
            <a:chOff x="0" y="0"/>
            <a:chExt cx="5029200" cy="104775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029200" cy="1047750"/>
            </a:xfrm>
            <a:custGeom>
              <a:avLst/>
              <a:gdLst/>
              <a:ahLst/>
              <a:cxnLst/>
              <a:rect r="r" b="b" t="t" l="l"/>
              <a:pathLst>
                <a:path h="1047750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1047750"/>
                  </a:lnTo>
                  <a:lnTo>
                    <a:pt x="0" y="10477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528" r="0" b="-43528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5029200" cy="1085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25"/>
                </a:lnSpc>
              </a:pPr>
              <a:r>
                <a:rPr lang="en-US" sz="1687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Hujan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4850606" y="4693444"/>
            <a:ext cx="12587288" cy="914400"/>
            <a:chOff x="0" y="0"/>
            <a:chExt cx="16783050" cy="12192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678305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6783050">
                  <a:moveTo>
                    <a:pt x="0" y="0"/>
                  </a:moveTo>
                  <a:lnTo>
                    <a:pt x="16783050" y="0"/>
                  </a:lnTo>
                  <a:lnTo>
                    <a:pt x="1678305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7F5F0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4972050" y="4757738"/>
            <a:ext cx="12344400" cy="785812"/>
            <a:chOff x="0" y="0"/>
            <a:chExt cx="16459200" cy="104775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6459200" cy="1047750"/>
            </a:xfrm>
            <a:custGeom>
              <a:avLst/>
              <a:gdLst/>
              <a:ahLst/>
              <a:cxnLst/>
              <a:rect r="r" b="b" t="t" l="l"/>
              <a:pathLst>
                <a:path h="104775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047750"/>
                  </a:lnTo>
                  <a:lnTo>
                    <a:pt x="0" y="10477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6092" r="0" b="-256092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16459200" cy="1085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25"/>
                </a:lnSpc>
              </a:pPr>
              <a:r>
                <a:rPr lang="en-US" sz="1687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rain_L1, rain_L2, rain_L3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850106" y="5593556"/>
            <a:ext cx="4014788" cy="914400"/>
            <a:chOff x="0" y="0"/>
            <a:chExt cx="5353050" cy="12192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35305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353050">
                  <a:moveTo>
                    <a:pt x="0" y="0"/>
                  </a:moveTo>
                  <a:lnTo>
                    <a:pt x="5353050" y="0"/>
                  </a:lnTo>
                  <a:lnTo>
                    <a:pt x="535305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ECE9E3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971550" y="5657850"/>
            <a:ext cx="3771900" cy="785812"/>
            <a:chOff x="0" y="0"/>
            <a:chExt cx="5029200" cy="104775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5029200" cy="1047750"/>
            </a:xfrm>
            <a:custGeom>
              <a:avLst/>
              <a:gdLst/>
              <a:ahLst/>
              <a:cxnLst/>
              <a:rect r="r" b="b" t="t" l="l"/>
              <a:pathLst>
                <a:path h="1047750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1047750"/>
                  </a:lnTo>
                  <a:lnTo>
                    <a:pt x="0" y="10477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528" r="0" b="-43528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5029200" cy="1085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25"/>
                </a:lnSpc>
              </a:pPr>
              <a:r>
                <a:rPr lang="en-US" sz="1687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Vegetasi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4850606" y="5593556"/>
            <a:ext cx="12587288" cy="914400"/>
            <a:chOff x="0" y="0"/>
            <a:chExt cx="16783050" cy="12192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678305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6783050">
                  <a:moveTo>
                    <a:pt x="0" y="0"/>
                  </a:moveTo>
                  <a:lnTo>
                    <a:pt x="16783050" y="0"/>
                  </a:lnTo>
                  <a:lnTo>
                    <a:pt x="1678305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ECE9E3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4972050" y="5657850"/>
            <a:ext cx="12344400" cy="785812"/>
            <a:chOff x="0" y="0"/>
            <a:chExt cx="16459200" cy="104775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6459200" cy="1047750"/>
            </a:xfrm>
            <a:custGeom>
              <a:avLst/>
              <a:gdLst/>
              <a:ahLst/>
              <a:cxnLst/>
              <a:rect r="r" b="b" t="t" l="l"/>
              <a:pathLst>
                <a:path h="104775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047750"/>
                  </a:lnTo>
                  <a:lnTo>
                    <a:pt x="0" y="10477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6092" r="0" b="-256092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16459200" cy="1085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25"/>
                </a:lnSpc>
              </a:pPr>
              <a:r>
                <a:rPr lang="en-US" sz="1687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vhi_L1, vhi_L2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850106" y="6493669"/>
            <a:ext cx="4014788" cy="914400"/>
            <a:chOff x="0" y="0"/>
            <a:chExt cx="5353050" cy="121920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535305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353050">
                  <a:moveTo>
                    <a:pt x="0" y="0"/>
                  </a:moveTo>
                  <a:lnTo>
                    <a:pt x="5353050" y="0"/>
                  </a:lnTo>
                  <a:lnTo>
                    <a:pt x="535305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7F5F0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65" id="65"/>
          <p:cNvGrpSpPr/>
          <p:nvPr/>
        </p:nvGrpSpPr>
        <p:grpSpPr>
          <a:xfrm rot="0">
            <a:off x="971550" y="6557962"/>
            <a:ext cx="3771900" cy="785812"/>
            <a:chOff x="0" y="0"/>
            <a:chExt cx="5029200" cy="104775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5029200" cy="1047750"/>
            </a:xfrm>
            <a:custGeom>
              <a:avLst/>
              <a:gdLst/>
              <a:ahLst/>
              <a:cxnLst/>
              <a:rect r="r" b="b" t="t" l="l"/>
              <a:pathLst>
                <a:path h="1047750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1047750"/>
                  </a:lnTo>
                  <a:lnTo>
                    <a:pt x="0" y="10477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528" r="0" b="-43528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5029200" cy="1085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25"/>
                </a:lnSpc>
              </a:pPr>
              <a:r>
                <a:rPr lang="en-US" sz="1687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Berita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4850606" y="6493669"/>
            <a:ext cx="12587288" cy="914400"/>
            <a:chOff x="0" y="0"/>
            <a:chExt cx="16783050" cy="12192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678305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6783050">
                  <a:moveTo>
                    <a:pt x="0" y="0"/>
                  </a:moveTo>
                  <a:lnTo>
                    <a:pt x="16783050" y="0"/>
                  </a:lnTo>
                  <a:lnTo>
                    <a:pt x="1678305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7F5F0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70" id="70"/>
          <p:cNvGrpSpPr/>
          <p:nvPr/>
        </p:nvGrpSpPr>
        <p:grpSpPr>
          <a:xfrm rot="0">
            <a:off x="4972050" y="6557962"/>
            <a:ext cx="12344400" cy="785812"/>
            <a:chOff x="0" y="0"/>
            <a:chExt cx="16459200" cy="104775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6459200" cy="1047750"/>
            </a:xfrm>
            <a:custGeom>
              <a:avLst/>
              <a:gdLst/>
              <a:ahLst/>
              <a:cxnLst/>
              <a:rect r="r" b="b" t="t" l="l"/>
              <a:pathLst>
                <a:path h="104775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047750"/>
                  </a:lnTo>
                  <a:lnTo>
                    <a:pt x="0" y="10477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6092" r="0" b="-256092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16459200" cy="1085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25"/>
                </a:lnSpc>
              </a:pPr>
              <a:r>
                <a:rPr lang="en-US" sz="1687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sentiment_typeA_L1/L2, no_relevant_news_L1, news_volume_log_L1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850106" y="7393781"/>
            <a:ext cx="4014788" cy="914400"/>
            <a:chOff x="0" y="0"/>
            <a:chExt cx="5353050" cy="121920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535305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353050">
                  <a:moveTo>
                    <a:pt x="0" y="0"/>
                  </a:moveTo>
                  <a:lnTo>
                    <a:pt x="5353050" y="0"/>
                  </a:lnTo>
                  <a:lnTo>
                    <a:pt x="535305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ECE9E3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75" id="75"/>
          <p:cNvGrpSpPr/>
          <p:nvPr/>
        </p:nvGrpSpPr>
        <p:grpSpPr>
          <a:xfrm rot="0">
            <a:off x="971550" y="7458075"/>
            <a:ext cx="3771900" cy="785812"/>
            <a:chOff x="0" y="0"/>
            <a:chExt cx="5029200" cy="104775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5029200" cy="1047750"/>
            </a:xfrm>
            <a:custGeom>
              <a:avLst/>
              <a:gdLst/>
              <a:ahLst/>
              <a:cxnLst/>
              <a:rect r="r" b="b" t="t" l="l"/>
              <a:pathLst>
                <a:path h="1047750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1047750"/>
                  </a:lnTo>
                  <a:lnTo>
                    <a:pt x="0" y="10477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528" r="0" b="-43528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38100"/>
              <a:ext cx="5029200" cy="1085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25"/>
                </a:lnSpc>
              </a:pPr>
              <a:r>
                <a:rPr lang="en-US" sz="1687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Kalender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4850606" y="7393781"/>
            <a:ext cx="12587288" cy="914400"/>
            <a:chOff x="0" y="0"/>
            <a:chExt cx="16783050" cy="121920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678305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6783050">
                  <a:moveTo>
                    <a:pt x="0" y="0"/>
                  </a:moveTo>
                  <a:lnTo>
                    <a:pt x="16783050" y="0"/>
                  </a:lnTo>
                  <a:lnTo>
                    <a:pt x="1678305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ECE9E3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80" id="80"/>
          <p:cNvGrpSpPr/>
          <p:nvPr/>
        </p:nvGrpSpPr>
        <p:grpSpPr>
          <a:xfrm rot="0">
            <a:off x="4972050" y="7458075"/>
            <a:ext cx="12344400" cy="785812"/>
            <a:chOff x="0" y="0"/>
            <a:chExt cx="16459200" cy="104775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6459200" cy="1047750"/>
            </a:xfrm>
            <a:custGeom>
              <a:avLst/>
              <a:gdLst/>
              <a:ahLst/>
              <a:cxnLst/>
              <a:rect r="r" b="b" t="t" l="l"/>
              <a:pathLst>
                <a:path h="104775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047750"/>
                  </a:lnTo>
                  <a:lnTo>
                    <a:pt x="0" y="10477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6092" r="0" b="-256092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16459200" cy="1085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25"/>
                </a:lnSpc>
              </a:pPr>
              <a:r>
                <a:rPr lang="en-US" sz="1687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ramadan_share_t, nataru_share_t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857250" y="8643938"/>
            <a:ext cx="16573500" cy="828675"/>
            <a:chOff x="0" y="0"/>
            <a:chExt cx="22098000" cy="110490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22098000" cy="1104900"/>
            </a:xfrm>
            <a:custGeom>
              <a:avLst/>
              <a:gdLst/>
              <a:ahLst/>
              <a:cxnLst/>
              <a:rect r="r" b="b" t="t" l="l"/>
              <a:pathLst>
                <a:path h="110490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1104900"/>
                  </a:lnTo>
                  <a:lnTo>
                    <a:pt x="0" y="1104900"/>
                  </a:lnTo>
                  <a:close/>
                </a:path>
              </a:pathLst>
            </a:custGeom>
            <a:solidFill>
              <a:srgbClr val="155744"/>
            </a:solid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1171575" y="8743950"/>
            <a:ext cx="15944850" cy="614362"/>
            <a:chOff x="0" y="0"/>
            <a:chExt cx="21259800" cy="81915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21259800" cy="819150"/>
            </a:xfrm>
            <a:custGeom>
              <a:avLst/>
              <a:gdLst/>
              <a:ahLst/>
              <a:cxnLst/>
              <a:rect r="r" b="b" t="t" l="l"/>
              <a:pathLst>
                <a:path h="819150" w="21259800">
                  <a:moveTo>
                    <a:pt x="0" y="0"/>
                  </a:moveTo>
                  <a:lnTo>
                    <a:pt x="21259800" y="0"/>
                  </a:lnTo>
                  <a:lnTo>
                    <a:pt x="21259800" y="819150"/>
                  </a:lnTo>
                  <a:lnTo>
                    <a:pt x="0" y="8191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5704" r="0" b="-455704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38100"/>
              <a:ext cx="21259800" cy="857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65"/>
                </a:lnSpc>
              </a:pPr>
              <a:r>
                <a:rPr lang="en-US" sz="2137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B0 memakai target, target L1–L2, Ramadan, dan Nataru; fitur lain ditambahkan bertahap</a:t>
              </a:r>
            </a:p>
          </p:txBody>
        </p:sp>
      </p:grp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571500"/>
            <a:chOff x="0" y="0"/>
            <a:chExt cx="24384000" cy="762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762000"/>
            </a:xfrm>
            <a:custGeom>
              <a:avLst/>
              <a:gdLst/>
              <a:ahLst/>
              <a:cxnLst/>
              <a:rect r="r" b="b" t="t" l="l"/>
              <a:pathLst>
                <a:path h="762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15574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100012"/>
            <a:ext cx="16573500" cy="357188"/>
            <a:chOff x="0" y="0"/>
            <a:chExt cx="22098000" cy="4762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098000" cy="476250"/>
            </a:xfrm>
            <a:custGeom>
              <a:avLst/>
              <a:gdLst/>
              <a:ahLst/>
              <a:cxnLst/>
              <a:rect r="r" b="b" t="t" l="l"/>
              <a:pathLst>
                <a:path h="47625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476250"/>
                  </a:lnTo>
                  <a:lnTo>
                    <a:pt x="0" y="476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4105" r="0" b="-85410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2098000" cy="504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755"/>
                </a:lnSpc>
              </a:pPr>
              <a:r>
                <a:rPr lang="en-US" sz="1462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APPENDIX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57250" y="885825"/>
            <a:ext cx="16573500" cy="771525"/>
            <a:chOff x="0" y="0"/>
            <a:chExt cx="22098000" cy="10287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098000" cy="1028700"/>
            </a:xfrm>
            <a:custGeom>
              <a:avLst/>
              <a:gdLst/>
              <a:ahLst/>
              <a:cxnLst/>
              <a:rect r="r" b="b" t="t" l="l"/>
              <a:pathLst>
                <a:path h="102870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1028700"/>
                  </a:lnTo>
                  <a:lnTo>
                    <a:pt x="0" y="10287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8567" r="0" b="-368567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76200"/>
              <a:ext cx="22098000" cy="1104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sz="4050" b="true">
                  <a:solidFill>
                    <a:srgbClr val="1557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A2 — Formula target dan keranjang VF8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7002125" y="9686925"/>
            <a:ext cx="500062" cy="257175"/>
            <a:chOff x="0" y="0"/>
            <a:chExt cx="666750" cy="3429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66750" cy="342900"/>
            </a:xfrm>
            <a:custGeom>
              <a:avLst/>
              <a:gdLst/>
              <a:ahLst/>
              <a:cxnLst/>
              <a:rect r="r" b="b" t="t" l="l"/>
              <a:pathLst>
                <a:path h="342900" w="666750">
                  <a:moveTo>
                    <a:pt x="0" y="0"/>
                  </a:moveTo>
                  <a:lnTo>
                    <a:pt x="666750" y="0"/>
                  </a:lnTo>
                  <a:lnTo>
                    <a:pt x="666750" y="342900"/>
                  </a:lnTo>
                  <a:lnTo>
                    <a:pt x="0" y="3429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984" t="0" r="-15984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66750" cy="361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85"/>
                </a:lnSpc>
              </a:pPr>
              <a:r>
                <a:rPr lang="en-US" sz="1237">
                  <a:solidFill>
                    <a:srgbClr val="77736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27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50106" y="1993106"/>
            <a:ext cx="16587788" cy="2943225"/>
            <a:chOff x="0" y="0"/>
            <a:chExt cx="22117050" cy="39243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117050" cy="3924300"/>
            </a:xfrm>
            <a:custGeom>
              <a:avLst/>
              <a:gdLst/>
              <a:ahLst/>
              <a:cxnLst/>
              <a:rect r="r" b="b" t="t" l="l"/>
              <a:pathLst>
                <a:path h="3924300" w="22117050">
                  <a:moveTo>
                    <a:pt x="0" y="0"/>
                  </a:moveTo>
                  <a:lnTo>
                    <a:pt x="22117050" y="0"/>
                  </a:lnTo>
                  <a:lnTo>
                    <a:pt x="22117050" y="3924300"/>
                  </a:lnTo>
                  <a:lnTo>
                    <a:pt x="0" y="3924300"/>
                  </a:lnTo>
                  <a:close/>
                </a:path>
              </a:pathLst>
            </a:custGeom>
            <a:solidFill>
              <a:srgbClr val="ECE9E3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857250" y="2000250"/>
            <a:ext cx="85725" cy="2928938"/>
            <a:chOff x="0" y="0"/>
            <a:chExt cx="114300" cy="39052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4300" cy="3905250"/>
            </a:xfrm>
            <a:custGeom>
              <a:avLst/>
              <a:gdLst/>
              <a:ahLst/>
              <a:cxnLst/>
              <a:rect r="r" b="b" t="t" l="l"/>
              <a:pathLst>
                <a:path h="3905250" w="114300">
                  <a:moveTo>
                    <a:pt x="0" y="0"/>
                  </a:moveTo>
                  <a:lnTo>
                    <a:pt x="114300" y="0"/>
                  </a:lnTo>
                  <a:lnTo>
                    <a:pt x="114300" y="3905250"/>
                  </a:lnTo>
                  <a:lnTo>
                    <a:pt x="0" y="3905250"/>
                  </a:lnTo>
                  <a:close/>
                </a:path>
              </a:pathLst>
            </a:custGeom>
            <a:solidFill>
              <a:srgbClr val="155744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00150" y="2228850"/>
            <a:ext cx="15973425" cy="485775"/>
            <a:chOff x="0" y="0"/>
            <a:chExt cx="21297900" cy="6477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297900" cy="647700"/>
            </a:xfrm>
            <a:custGeom>
              <a:avLst/>
              <a:gdLst/>
              <a:ahLst/>
              <a:cxnLst/>
              <a:rect r="r" b="b" t="t" l="l"/>
              <a:pathLst>
                <a:path h="647700" w="21297900">
                  <a:moveTo>
                    <a:pt x="0" y="0"/>
                  </a:moveTo>
                  <a:lnTo>
                    <a:pt x="21297900" y="0"/>
                  </a:lnTo>
                  <a:lnTo>
                    <a:pt x="21297900" y="647700"/>
                  </a:lnTo>
                  <a:lnTo>
                    <a:pt x="0" y="6477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0713" r="0" b="-590713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21297900" cy="70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35"/>
                </a:lnSpc>
              </a:pPr>
              <a:r>
                <a:rPr lang="en-US" sz="2362" b="true">
                  <a:solidFill>
                    <a:srgbClr val="1557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FORMULA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00150" y="2828925"/>
            <a:ext cx="15973425" cy="1843088"/>
            <a:chOff x="0" y="0"/>
            <a:chExt cx="21297900" cy="24574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297900" cy="2457450"/>
            </a:xfrm>
            <a:custGeom>
              <a:avLst/>
              <a:gdLst/>
              <a:ahLst/>
              <a:cxnLst/>
              <a:rect r="r" b="b" t="t" l="l"/>
              <a:pathLst>
                <a:path h="2457450" w="21297900">
                  <a:moveTo>
                    <a:pt x="0" y="0"/>
                  </a:moveTo>
                  <a:lnTo>
                    <a:pt x="21297900" y="0"/>
                  </a:lnTo>
                  <a:lnTo>
                    <a:pt x="21297900" y="2457450"/>
                  </a:lnTo>
                  <a:lnTo>
                    <a:pt x="0" y="24574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21297900" cy="2495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95"/>
                </a:lnSpc>
              </a:pPr>
              <a:r>
                <a:rPr lang="en-US" sz="1912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Price relative: Rᵢ,ₜ = Pᵢ,ₜ / Pᵢ,₀</a:t>
              </a:r>
            </a:p>
            <a:p>
              <a:pPr algn="l">
                <a:lnSpc>
                  <a:spcPts val="2295"/>
                </a:lnSpc>
              </a:pPr>
            </a:p>
            <a:p>
              <a:pPr algn="l">
                <a:lnSpc>
                  <a:spcPts val="2295"/>
                </a:lnSpc>
              </a:pPr>
              <a:r>
                <a:rPr lang="en-US" sz="1912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Jevons equal-weight: Iₜ = (∏ᵢ Rᵢ,ₜ)¹⁄ⁿ</a:t>
              </a:r>
            </a:p>
            <a:p>
              <a:pPr algn="l">
                <a:lnSpc>
                  <a:spcPts val="2295"/>
                </a:lnSpc>
              </a:pPr>
            </a:p>
            <a:p>
              <a:pPr algn="l">
                <a:lnSpc>
                  <a:spcPts val="2295"/>
                </a:lnSpc>
              </a:pPr>
              <a:r>
                <a:rPr lang="en-US" sz="1912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Weighted Jevons: Iₜ = ∏ᵢ Rᵢ,ₜʷⁱ</a:t>
              </a:r>
            </a:p>
            <a:p>
              <a:pPr algn="l">
                <a:lnSpc>
                  <a:spcPts val="2295"/>
                </a:lnSpc>
              </a:pPr>
            </a:p>
            <a:p>
              <a:pPr algn="l">
                <a:lnSpc>
                  <a:spcPts val="2295"/>
                </a:lnSpc>
              </a:pPr>
              <a:r>
                <a:rPr lang="en-US" sz="1912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Target: yₜ = Iₜ − Iₜ₋₁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50106" y="5493544"/>
            <a:ext cx="16587788" cy="2157412"/>
            <a:chOff x="0" y="0"/>
            <a:chExt cx="22117050" cy="28765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2117050" cy="2876550"/>
            </a:xfrm>
            <a:custGeom>
              <a:avLst/>
              <a:gdLst/>
              <a:ahLst/>
              <a:cxnLst/>
              <a:rect r="r" b="b" t="t" l="l"/>
              <a:pathLst>
                <a:path h="2876550" w="22117050">
                  <a:moveTo>
                    <a:pt x="0" y="0"/>
                  </a:moveTo>
                  <a:lnTo>
                    <a:pt x="22117050" y="0"/>
                  </a:lnTo>
                  <a:lnTo>
                    <a:pt x="22117050" y="2876550"/>
                  </a:lnTo>
                  <a:lnTo>
                    <a:pt x="0" y="2876550"/>
                  </a:lnTo>
                  <a:close/>
                </a:path>
              </a:pathLst>
            </a:custGeom>
            <a:solidFill>
              <a:srgbClr val="ECE9E3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857250" y="5500688"/>
            <a:ext cx="85725" cy="2143125"/>
            <a:chOff x="0" y="0"/>
            <a:chExt cx="114300" cy="28575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4300" cy="2857500"/>
            </a:xfrm>
            <a:custGeom>
              <a:avLst/>
              <a:gdLst/>
              <a:ahLst/>
              <a:cxnLst/>
              <a:rect r="r" b="b" t="t" l="l"/>
              <a:pathLst>
                <a:path h="2857500" w="114300">
                  <a:moveTo>
                    <a:pt x="0" y="0"/>
                  </a:moveTo>
                  <a:lnTo>
                    <a:pt x="114300" y="0"/>
                  </a:lnTo>
                  <a:lnTo>
                    <a:pt x="114300" y="2857500"/>
                  </a:lnTo>
                  <a:lnTo>
                    <a:pt x="0" y="2857500"/>
                  </a:lnTo>
                  <a:close/>
                </a:path>
              </a:pathLst>
            </a:custGeom>
            <a:solidFill>
              <a:srgbClr val="D86F00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200150" y="5729288"/>
            <a:ext cx="15973425" cy="485775"/>
            <a:chOff x="0" y="0"/>
            <a:chExt cx="21297900" cy="6477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1297900" cy="647700"/>
            </a:xfrm>
            <a:custGeom>
              <a:avLst/>
              <a:gdLst/>
              <a:ahLst/>
              <a:cxnLst/>
              <a:rect r="r" b="b" t="t" l="l"/>
              <a:pathLst>
                <a:path h="647700" w="21297900">
                  <a:moveTo>
                    <a:pt x="0" y="0"/>
                  </a:moveTo>
                  <a:lnTo>
                    <a:pt x="21297900" y="0"/>
                  </a:lnTo>
                  <a:lnTo>
                    <a:pt x="21297900" y="647700"/>
                  </a:lnTo>
                  <a:lnTo>
                    <a:pt x="0" y="6477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0713" r="0" b="-590713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21297900" cy="70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35"/>
                </a:lnSpc>
              </a:pPr>
              <a:r>
                <a:rPr lang="en-US" sz="2362" b="true">
                  <a:solidFill>
                    <a:srgbClr val="D86F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IHP-8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200150" y="6329362"/>
            <a:ext cx="15973425" cy="1057275"/>
            <a:chOff x="0" y="0"/>
            <a:chExt cx="21297900" cy="14097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1297900" cy="1409700"/>
            </a:xfrm>
            <a:custGeom>
              <a:avLst/>
              <a:gdLst/>
              <a:ahLst/>
              <a:cxnLst/>
              <a:rect r="r" b="b" t="t" l="l"/>
              <a:pathLst>
                <a:path h="1409700" w="21297900">
                  <a:moveTo>
                    <a:pt x="0" y="0"/>
                  </a:moveTo>
                  <a:lnTo>
                    <a:pt x="21297900" y="0"/>
                  </a:lnTo>
                  <a:lnTo>
                    <a:pt x="21297900" y="1409700"/>
                  </a:lnTo>
                  <a:lnTo>
                    <a:pt x="0" y="14097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4382" r="0" b="-244382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21297900" cy="1447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95"/>
                </a:lnSpc>
              </a:pPr>
              <a:r>
                <a:rPr lang="en-US" sz="1912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Beras • daging ayam ras • daging sapi • telur ayam ras • bawang merah • bawang putih • cabai merah • cabai rawit</a:t>
              </a:r>
            </a:p>
            <a:p>
              <a:pPr algn="l">
                <a:lnSpc>
                  <a:spcPts val="2295"/>
                </a:lnSpc>
              </a:pPr>
            </a:p>
            <a:p>
              <a:pPr algn="l">
                <a:lnSpc>
                  <a:spcPts val="2295"/>
                </a:lnSpc>
              </a:pPr>
              <a:r>
                <a:rPr lang="en-US" sz="1912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Gula dan minyak goreng hanya masuk VF10 robustness.</a:t>
              </a:r>
            </a:p>
          </p:txBody>
        </p:sp>
      </p:grp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571500"/>
            <a:chOff x="0" y="0"/>
            <a:chExt cx="24384000" cy="762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762000"/>
            </a:xfrm>
            <a:custGeom>
              <a:avLst/>
              <a:gdLst/>
              <a:ahLst/>
              <a:cxnLst/>
              <a:rect r="r" b="b" t="t" l="l"/>
              <a:pathLst>
                <a:path h="762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15574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100012"/>
            <a:ext cx="16573500" cy="357188"/>
            <a:chOff x="0" y="0"/>
            <a:chExt cx="22098000" cy="4762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098000" cy="476250"/>
            </a:xfrm>
            <a:custGeom>
              <a:avLst/>
              <a:gdLst/>
              <a:ahLst/>
              <a:cxnLst/>
              <a:rect r="r" b="b" t="t" l="l"/>
              <a:pathLst>
                <a:path h="47625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476250"/>
                  </a:lnTo>
                  <a:lnTo>
                    <a:pt x="0" y="476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4105" r="0" b="-85410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2098000" cy="504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755"/>
                </a:lnSpc>
              </a:pPr>
              <a:r>
                <a:rPr lang="en-US" sz="1462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APPENDIX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57250" y="885825"/>
            <a:ext cx="16573500" cy="771525"/>
            <a:chOff x="0" y="0"/>
            <a:chExt cx="22098000" cy="10287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098000" cy="1028700"/>
            </a:xfrm>
            <a:custGeom>
              <a:avLst/>
              <a:gdLst/>
              <a:ahLst/>
              <a:cxnLst/>
              <a:rect r="r" b="b" t="t" l="l"/>
              <a:pathLst>
                <a:path h="102870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1028700"/>
                  </a:lnTo>
                  <a:lnTo>
                    <a:pt x="0" y="10287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8567" r="0" b="-368567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76200"/>
              <a:ext cx="22098000" cy="1104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sz="4050" b="true">
                  <a:solidFill>
                    <a:srgbClr val="1557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A3 — Decision log untuk diisi saat rapat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7002125" y="9686925"/>
            <a:ext cx="500062" cy="257175"/>
            <a:chOff x="0" y="0"/>
            <a:chExt cx="666750" cy="3429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66750" cy="342900"/>
            </a:xfrm>
            <a:custGeom>
              <a:avLst/>
              <a:gdLst/>
              <a:ahLst/>
              <a:cxnLst/>
              <a:rect r="r" b="b" t="t" l="l"/>
              <a:pathLst>
                <a:path h="342900" w="666750">
                  <a:moveTo>
                    <a:pt x="0" y="0"/>
                  </a:moveTo>
                  <a:lnTo>
                    <a:pt x="666750" y="0"/>
                  </a:lnTo>
                  <a:lnTo>
                    <a:pt x="666750" y="342900"/>
                  </a:lnTo>
                  <a:lnTo>
                    <a:pt x="0" y="3429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984" t="0" r="-15984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66750" cy="361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85"/>
                </a:lnSpc>
              </a:pPr>
              <a:r>
                <a:rPr lang="en-US" sz="1237">
                  <a:solidFill>
                    <a:srgbClr val="77736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28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50106" y="1993106"/>
            <a:ext cx="6157912" cy="828675"/>
            <a:chOff x="0" y="0"/>
            <a:chExt cx="8210550" cy="11049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210550" cy="1104900"/>
            </a:xfrm>
            <a:custGeom>
              <a:avLst/>
              <a:gdLst/>
              <a:ahLst/>
              <a:cxnLst/>
              <a:rect r="r" b="b" t="t" l="l"/>
              <a:pathLst>
                <a:path h="1104900" w="8210550">
                  <a:moveTo>
                    <a:pt x="0" y="0"/>
                  </a:moveTo>
                  <a:lnTo>
                    <a:pt x="8210550" y="0"/>
                  </a:lnTo>
                  <a:lnTo>
                    <a:pt x="8210550" y="1104900"/>
                  </a:lnTo>
                  <a:lnTo>
                    <a:pt x="0" y="1104900"/>
                  </a:lnTo>
                  <a:close/>
                </a:path>
              </a:pathLst>
            </a:custGeom>
            <a:solidFill>
              <a:srgbClr val="155744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971550" y="2057400"/>
            <a:ext cx="5915025" cy="700088"/>
            <a:chOff x="0" y="0"/>
            <a:chExt cx="7886700" cy="9334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886700" cy="933450"/>
            </a:xfrm>
            <a:custGeom>
              <a:avLst/>
              <a:gdLst/>
              <a:ahLst/>
              <a:cxnLst/>
              <a:rect r="r" b="b" t="t" l="l"/>
              <a:pathLst>
                <a:path h="933450" w="7886700">
                  <a:moveTo>
                    <a:pt x="0" y="0"/>
                  </a:moveTo>
                  <a:lnTo>
                    <a:pt x="7886700" y="0"/>
                  </a:lnTo>
                  <a:lnTo>
                    <a:pt x="7886700" y="933450"/>
                  </a:lnTo>
                  <a:lnTo>
                    <a:pt x="0" y="9334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4628" r="0" b="-114628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788670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25"/>
                </a:lnSpc>
              </a:pPr>
              <a:r>
                <a:rPr lang="en-US" sz="1687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Keputusan / pekerjaan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993731" y="1993106"/>
            <a:ext cx="2728912" cy="828675"/>
            <a:chOff x="0" y="0"/>
            <a:chExt cx="3638550" cy="11049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638550" cy="1104900"/>
            </a:xfrm>
            <a:custGeom>
              <a:avLst/>
              <a:gdLst/>
              <a:ahLst/>
              <a:cxnLst/>
              <a:rect r="r" b="b" t="t" l="l"/>
              <a:pathLst>
                <a:path h="1104900" w="3638550">
                  <a:moveTo>
                    <a:pt x="0" y="0"/>
                  </a:moveTo>
                  <a:lnTo>
                    <a:pt x="3638550" y="0"/>
                  </a:lnTo>
                  <a:lnTo>
                    <a:pt x="3638550" y="1104900"/>
                  </a:lnTo>
                  <a:lnTo>
                    <a:pt x="0" y="1104900"/>
                  </a:lnTo>
                  <a:close/>
                </a:path>
              </a:pathLst>
            </a:custGeom>
            <a:solidFill>
              <a:srgbClr val="155744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7115175" y="2057400"/>
            <a:ext cx="2486025" cy="700088"/>
            <a:chOff x="0" y="0"/>
            <a:chExt cx="3314700" cy="9334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314700" cy="933450"/>
            </a:xfrm>
            <a:custGeom>
              <a:avLst/>
              <a:gdLst/>
              <a:ahLst/>
              <a:cxnLst/>
              <a:rect r="r" b="b" t="t" l="l"/>
              <a:pathLst>
                <a:path h="933450" w="3314700">
                  <a:moveTo>
                    <a:pt x="0" y="0"/>
                  </a:moveTo>
                  <a:lnTo>
                    <a:pt x="3314700" y="0"/>
                  </a:lnTo>
                  <a:lnTo>
                    <a:pt x="3314700" y="933450"/>
                  </a:lnTo>
                  <a:lnTo>
                    <a:pt x="0" y="9334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91" r="0" b="-1919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331470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25"/>
                </a:lnSpc>
              </a:pPr>
              <a:r>
                <a:rPr lang="en-US" sz="1687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Owner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708356" y="1993106"/>
            <a:ext cx="3586162" cy="828675"/>
            <a:chOff x="0" y="0"/>
            <a:chExt cx="4781550" cy="11049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781550" cy="1104900"/>
            </a:xfrm>
            <a:custGeom>
              <a:avLst/>
              <a:gdLst/>
              <a:ahLst/>
              <a:cxnLst/>
              <a:rect r="r" b="b" t="t" l="l"/>
              <a:pathLst>
                <a:path h="1104900" w="4781550">
                  <a:moveTo>
                    <a:pt x="0" y="0"/>
                  </a:moveTo>
                  <a:lnTo>
                    <a:pt x="4781550" y="0"/>
                  </a:lnTo>
                  <a:lnTo>
                    <a:pt x="4781550" y="1104900"/>
                  </a:lnTo>
                  <a:lnTo>
                    <a:pt x="0" y="1104900"/>
                  </a:lnTo>
                  <a:close/>
                </a:path>
              </a:pathLst>
            </a:custGeom>
            <a:solidFill>
              <a:srgbClr val="155744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9829800" y="2057400"/>
            <a:ext cx="3343275" cy="700088"/>
            <a:chOff x="0" y="0"/>
            <a:chExt cx="4457700" cy="93345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457700" cy="933450"/>
            </a:xfrm>
            <a:custGeom>
              <a:avLst/>
              <a:gdLst/>
              <a:ahLst/>
              <a:cxnLst/>
              <a:rect r="r" b="b" t="t" l="l"/>
              <a:pathLst>
                <a:path h="933450" w="4457700">
                  <a:moveTo>
                    <a:pt x="0" y="0"/>
                  </a:moveTo>
                  <a:lnTo>
                    <a:pt x="4457700" y="0"/>
                  </a:lnTo>
                  <a:lnTo>
                    <a:pt x="4457700" y="933450"/>
                  </a:lnTo>
                  <a:lnTo>
                    <a:pt x="0" y="9334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050" r="0" b="-4305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445770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25"/>
                </a:lnSpc>
              </a:pPr>
              <a:r>
                <a:rPr lang="en-US" sz="1687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Target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3280231" y="1993106"/>
            <a:ext cx="4157662" cy="828675"/>
            <a:chOff x="0" y="0"/>
            <a:chExt cx="5543550" cy="11049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543550" cy="1104900"/>
            </a:xfrm>
            <a:custGeom>
              <a:avLst/>
              <a:gdLst/>
              <a:ahLst/>
              <a:cxnLst/>
              <a:rect r="r" b="b" t="t" l="l"/>
              <a:pathLst>
                <a:path h="1104900" w="5543550">
                  <a:moveTo>
                    <a:pt x="0" y="0"/>
                  </a:moveTo>
                  <a:lnTo>
                    <a:pt x="5543550" y="0"/>
                  </a:lnTo>
                  <a:lnTo>
                    <a:pt x="5543550" y="1104900"/>
                  </a:lnTo>
                  <a:lnTo>
                    <a:pt x="0" y="1104900"/>
                  </a:lnTo>
                  <a:close/>
                </a:path>
              </a:pathLst>
            </a:custGeom>
            <a:solidFill>
              <a:srgbClr val="155744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3401675" y="2057400"/>
            <a:ext cx="3914775" cy="700088"/>
            <a:chOff x="0" y="0"/>
            <a:chExt cx="5219700" cy="93345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219700" cy="933450"/>
            </a:xfrm>
            <a:custGeom>
              <a:avLst/>
              <a:gdLst/>
              <a:ahLst/>
              <a:cxnLst/>
              <a:rect r="r" b="b" t="t" l="l"/>
              <a:pathLst>
                <a:path h="933450" w="5219700">
                  <a:moveTo>
                    <a:pt x="0" y="0"/>
                  </a:moveTo>
                  <a:lnTo>
                    <a:pt x="5219700" y="0"/>
                  </a:lnTo>
                  <a:lnTo>
                    <a:pt x="5219700" y="933450"/>
                  </a:lnTo>
                  <a:lnTo>
                    <a:pt x="0" y="9334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957" r="0" b="-58957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521970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25"/>
                </a:lnSpc>
              </a:pPr>
              <a:r>
                <a:rPr lang="en-US" sz="1687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Status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850106" y="2807494"/>
            <a:ext cx="6157912" cy="828675"/>
            <a:chOff x="0" y="0"/>
            <a:chExt cx="8210550" cy="11049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210550" cy="1104900"/>
            </a:xfrm>
            <a:custGeom>
              <a:avLst/>
              <a:gdLst/>
              <a:ahLst/>
              <a:cxnLst/>
              <a:rect r="r" b="b" t="t" l="l"/>
              <a:pathLst>
                <a:path h="1104900" w="8210550">
                  <a:moveTo>
                    <a:pt x="0" y="0"/>
                  </a:moveTo>
                  <a:lnTo>
                    <a:pt x="8210550" y="0"/>
                  </a:lnTo>
                  <a:lnTo>
                    <a:pt x="8210550" y="1104900"/>
                  </a:lnTo>
                  <a:lnTo>
                    <a:pt x="0" y="1104900"/>
                  </a:lnTo>
                  <a:close/>
                </a:path>
              </a:pathLst>
            </a:custGeom>
            <a:solidFill>
              <a:srgbClr val="F7F5F0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971550" y="2871788"/>
            <a:ext cx="5915025" cy="700088"/>
            <a:chOff x="0" y="0"/>
            <a:chExt cx="7886700" cy="93345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886700" cy="933450"/>
            </a:xfrm>
            <a:custGeom>
              <a:avLst/>
              <a:gdLst/>
              <a:ahLst/>
              <a:cxnLst/>
              <a:rect r="r" b="b" t="t" l="l"/>
              <a:pathLst>
                <a:path h="933450" w="7886700">
                  <a:moveTo>
                    <a:pt x="0" y="0"/>
                  </a:moveTo>
                  <a:lnTo>
                    <a:pt x="7886700" y="0"/>
                  </a:lnTo>
                  <a:lnTo>
                    <a:pt x="7886700" y="933450"/>
                  </a:lnTo>
                  <a:lnTo>
                    <a:pt x="0" y="9334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4628" r="0" b="-114628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788670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25"/>
                </a:lnSpc>
              </a:pPr>
              <a:r>
                <a:rPr lang="en-US" sz="1687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Partial-2026 OOS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6993731" y="2807494"/>
            <a:ext cx="2728912" cy="828675"/>
            <a:chOff x="0" y="0"/>
            <a:chExt cx="3638550" cy="11049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638550" cy="1104900"/>
            </a:xfrm>
            <a:custGeom>
              <a:avLst/>
              <a:gdLst/>
              <a:ahLst/>
              <a:cxnLst/>
              <a:rect r="r" b="b" t="t" l="l"/>
              <a:pathLst>
                <a:path h="1104900" w="3638550">
                  <a:moveTo>
                    <a:pt x="0" y="0"/>
                  </a:moveTo>
                  <a:lnTo>
                    <a:pt x="3638550" y="0"/>
                  </a:lnTo>
                  <a:lnTo>
                    <a:pt x="3638550" y="1104900"/>
                  </a:lnTo>
                  <a:lnTo>
                    <a:pt x="0" y="1104900"/>
                  </a:lnTo>
                  <a:close/>
                </a:path>
              </a:pathLst>
            </a:custGeom>
            <a:solidFill>
              <a:srgbClr val="F7F5F0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7115175" y="2871788"/>
            <a:ext cx="2486025" cy="700088"/>
            <a:chOff x="0" y="0"/>
            <a:chExt cx="3314700" cy="93345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314700" cy="933450"/>
            </a:xfrm>
            <a:custGeom>
              <a:avLst/>
              <a:gdLst/>
              <a:ahLst/>
              <a:cxnLst/>
              <a:rect r="r" b="b" t="t" l="l"/>
              <a:pathLst>
                <a:path h="933450" w="3314700">
                  <a:moveTo>
                    <a:pt x="0" y="0"/>
                  </a:moveTo>
                  <a:lnTo>
                    <a:pt x="3314700" y="0"/>
                  </a:lnTo>
                  <a:lnTo>
                    <a:pt x="3314700" y="933450"/>
                  </a:lnTo>
                  <a:lnTo>
                    <a:pt x="0" y="9334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91" r="0" b="-19191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331470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25"/>
                </a:lnSpc>
              </a:pPr>
              <a:r>
                <a:rPr lang="en-US" sz="1687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Seluruh penulis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708356" y="2807494"/>
            <a:ext cx="3586162" cy="828675"/>
            <a:chOff x="0" y="0"/>
            <a:chExt cx="4781550" cy="11049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781550" cy="1104900"/>
            </a:xfrm>
            <a:custGeom>
              <a:avLst/>
              <a:gdLst/>
              <a:ahLst/>
              <a:cxnLst/>
              <a:rect r="r" b="b" t="t" l="l"/>
              <a:pathLst>
                <a:path h="1104900" w="4781550">
                  <a:moveTo>
                    <a:pt x="0" y="0"/>
                  </a:moveTo>
                  <a:lnTo>
                    <a:pt x="4781550" y="0"/>
                  </a:lnTo>
                  <a:lnTo>
                    <a:pt x="4781550" y="1104900"/>
                  </a:lnTo>
                  <a:lnTo>
                    <a:pt x="0" y="1104900"/>
                  </a:lnTo>
                  <a:close/>
                </a:path>
              </a:pathLst>
            </a:custGeom>
            <a:solidFill>
              <a:srgbClr val="F7F5F0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9829800" y="2871788"/>
            <a:ext cx="3343275" cy="700088"/>
            <a:chOff x="0" y="0"/>
            <a:chExt cx="4457700" cy="93345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457700" cy="933450"/>
            </a:xfrm>
            <a:custGeom>
              <a:avLst/>
              <a:gdLst/>
              <a:ahLst/>
              <a:cxnLst/>
              <a:rect r="r" b="b" t="t" l="l"/>
              <a:pathLst>
                <a:path h="933450" w="4457700">
                  <a:moveTo>
                    <a:pt x="0" y="0"/>
                  </a:moveTo>
                  <a:lnTo>
                    <a:pt x="4457700" y="0"/>
                  </a:lnTo>
                  <a:lnTo>
                    <a:pt x="4457700" y="933450"/>
                  </a:lnTo>
                  <a:lnTo>
                    <a:pt x="0" y="9334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050" r="0" b="-4305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445770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25"/>
                </a:lnSpc>
              </a:pPr>
              <a:r>
                <a:rPr lang="en-US" sz="1687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Hari ini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3280231" y="2807494"/>
            <a:ext cx="4157662" cy="828675"/>
            <a:chOff x="0" y="0"/>
            <a:chExt cx="5543550" cy="11049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543550" cy="1104900"/>
            </a:xfrm>
            <a:custGeom>
              <a:avLst/>
              <a:gdLst/>
              <a:ahLst/>
              <a:cxnLst/>
              <a:rect r="r" b="b" t="t" l="l"/>
              <a:pathLst>
                <a:path h="1104900" w="5543550">
                  <a:moveTo>
                    <a:pt x="0" y="0"/>
                  </a:moveTo>
                  <a:lnTo>
                    <a:pt x="5543550" y="0"/>
                  </a:lnTo>
                  <a:lnTo>
                    <a:pt x="5543550" y="1104900"/>
                  </a:lnTo>
                  <a:lnTo>
                    <a:pt x="0" y="1104900"/>
                  </a:lnTo>
                  <a:close/>
                </a:path>
              </a:pathLst>
            </a:custGeom>
            <a:solidFill>
              <a:srgbClr val="F7F5F0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13401675" y="2871788"/>
            <a:ext cx="3914775" cy="700088"/>
            <a:chOff x="0" y="0"/>
            <a:chExt cx="5219700" cy="93345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219700" cy="933450"/>
            </a:xfrm>
            <a:custGeom>
              <a:avLst/>
              <a:gdLst/>
              <a:ahLst/>
              <a:cxnLst/>
              <a:rect r="r" b="b" t="t" l="l"/>
              <a:pathLst>
                <a:path h="933450" w="5219700">
                  <a:moveTo>
                    <a:pt x="0" y="0"/>
                  </a:moveTo>
                  <a:lnTo>
                    <a:pt x="5219700" y="0"/>
                  </a:lnTo>
                  <a:lnTo>
                    <a:pt x="5219700" y="933450"/>
                  </a:lnTo>
                  <a:lnTo>
                    <a:pt x="0" y="9334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957" r="0" b="-58957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521970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25"/>
                </a:lnSpc>
              </a:pPr>
              <a:r>
                <a:rPr lang="en-US" sz="1687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OPEN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850106" y="3621881"/>
            <a:ext cx="6157912" cy="828675"/>
            <a:chOff x="0" y="0"/>
            <a:chExt cx="8210550" cy="11049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8210550" cy="1104900"/>
            </a:xfrm>
            <a:custGeom>
              <a:avLst/>
              <a:gdLst/>
              <a:ahLst/>
              <a:cxnLst/>
              <a:rect r="r" b="b" t="t" l="l"/>
              <a:pathLst>
                <a:path h="1104900" w="8210550">
                  <a:moveTo>
                    <a:pt x="0" y="0"/>
                  </a:moveTo>
                  <a:lnTo>
                    <a:pt x="8210550" y="0"/>
                  </a:lnTo>
                  <a:lnTo>
                    <a:pt x="8210550" y="1104900"/>
                  </a:lnTo>
                  <a:lnTo>
                    <a:pt x="0" y="1104900"/>
                  </a:lnTo>
                  <a:close/>
                </a:path>
              </a:pathLst>
            </a:custGeom>
            <a:solidFill>
              <a:srgbClr val="ECE9E3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971550" y="3686175"/>
            <a:ext cx="5915025" cy="700088"/>
            <a:chOff x="0" y="0"/>
            <a:chExt cx="7886700" cy="93345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7886700" cy="933450"/>
            </a:xfrm>
            <a:custGeom>
              <a:avLst/>
              <a:gdLst/>
              <a:ahLst/>
              <a:cxnLst/>
              <a:rect r="r" b="b" t="t" l="l"/>
              <a:pathLst>
                <a:path h="933450" w="7886700">
                  <a:moveTo>
                    <a:pt x="0" y="0"/>
                  </a:moveTo>
                  <a:lnTo>
                    <a:pt x="7886700" y="0"/>
                  </a:lnTo>
                  <a:lnTo>
                    <a:pt x="7886700" y="933450"/>
                  </a:lnTo>
                  <a:lnTo>
                    <a:pt x="0" y="9334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4628" r="0" b="-114628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788670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25"/>
                </a:lnSpc>
              </a:pPr>
              <a:r>
                <a:rPr lang="en-US" sz="1687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Freeze spesifikasi model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6993731" y="3621881"/>
            <a:ext cx="2728912" cy="828675"/>
            <a:chOff x="0" y="0"/>
            <a:chExt cx="3638550" cy="11049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3638550" cy="1104900"/>
            </a:xfrm>
            <a:custGeom>
              <a:avLst/>
              <a:gdLst/>
              <a:ahLst/>
              <a:cxnLst/>
              <a:rect r="r" b="b" t="t" l="l"/>
              <a:pathLst>
                <a:path h="1104900" w="3638550">
                  <a:moveTo>
                    <a:pt x="0" y="0"/>
                  </a:moveTo>
                  <a:lnTo>
                    <a:pt x="3638550" y="0"/>
                  </a:lnTo>
                  <a:lnTo>
                    <a:pt x="3638550" y="1104900"/>
                  </a:lnTo>
                  <a:lnTo>
                    <a:pt x="0" y="1104900"/>
                  </a:lnTo>
                  <a:close/>
                </a:path>
              </a:pathLst>
            </a:custGeom>
            <a:solidFill>
              <a:srgbClr val="ECE9E3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7115175" y="3686175"/>
            <a:ext cx="2486025" cy="700088"/>
            <a:chOff x="0" y="0"/>
            <a:chExt cx="3314700" cy="93345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3314700" cy="933450"/>
            </a:xfrm>
            <a:custGeom>
              <a:avLst/>
              <a:gdLst/>
              <a:ahLst/>
              <a:cxnLst/>
              <a:rect r="r" b="b" t="t" l="l"/>
              <a:pathLst>
                <a:path h="933450" w="3314700">
                  <a:moveTo>
                    <a:pt x="0" y="0"/>
                  </a:moveTo>
                  <a:lnTo>
                    <a:pt x="3314700" y="0"/>
                  </a:lnTo>
                  <a:lnTo>
                    <a:pt x="3314700" y="933450"/>
                  </a:lnTo>
                  <a:lnTo>
                    <a:pt x="0" y="9334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91" r="0" b="-19191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331470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25"/>
                </a:lnSpc>
              </a:pPr>
              <a:r>
                <a:rPr lang="en-US" sz="1687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Duta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9708356" y="3621881"/>
            <a:ext cx="3586162" cy="828675"/>
            <a:chOff x="0" y="0"/>
            <a:chExt cx="4781550" cy="110490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4781550" cy="1104900"/>
            </a:xfrm>
            <a:custGeom>
              <a:avLst/>
              <a:gdLst/>
              <a:ahLst/>
              <a:cxnLst/>
              <a:rect r="r" b="b" t="t" l="l"/>
              <a:pathLst>
                <a:path h="1104900" w="4781550">
                  <a:moveTo>
                    <a:pt x="0" y="0"/>
                  </a:moveTo>
                  <a:lnTo>
                    <a:pt x="4781550" y="0"/>
                  </a:lnTo>
                  <a:lnTo>
                    <a:pt x="4781550" y="1104900"/>
                  </a:lnTo>
                  <a:lnTo>
                    <a:pt x="0" y="1104900"/>
                  </a:lnTo>
                  <a:close/>
                </a:path>
              </a:pathLst>
            </a:custGeom>
            <a:solidFill>
              <a:srgbClr val="ECE9E3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65" id="65"/>
          <p:cNvGrpSpPr/>
          <p:nvPr/>
        </p:nvGrpSpPr>
        <p:grpSpPr>
          <a:xfrm rot="0">
            <a:off x="9829800" y="3686175"/>
            <a:ext cx="3343275" cy="700088"/>
            <a:chOff x="0" y="0"/>
            <a:chExt cx="4457700" cy="93345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457700" cy="933450"/>
            </a:xfrm>
            <a:custGeom>
              <a:avLst/>
              <a:gdLst/>
              <a:ahLst/>
              <a:cxnLst/>
              <a:rect r="r" b="b" t="t" l="l"/>
              <a:pathLst>
                <a:path h="933450" w="4457700">
                  <a:moveTo>
                    <a:pt x="0" y="0"/>
                  </a:moveTo>
                  <a:lnTo>
                    <a:pt x="4457700" y="0"/>
                  </a:lnTo>
                  <a:lnTo>
                    <a:pt x="4457700" y="933450"/>
                  </a:lnTo>
                  <a:lnTo>
                    <a:pt x="0" y="9334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050" r="0" b="-4305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445770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25"/>
                </a:lnSpc>
              </a:pPr>
              <a:r>
                <a:rPr lang="en-US" sz="1687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Week 3 Juli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3280231" y="3621881"/>
            <a:ext cx="4157662" cy="828675"/>
            <a:chOff x="0" y="0"/>
            <a:chExt cx="5543550" cy="11049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5543550" cy="1104900"/>
            </a:xfrm>
            <a:custGeom>
              <a:avLst/>
              <a:gdLst/>
              <a:ahLst/>
              <a:cxnLst/>
              <a:rect r="r" b="b" t="t" l="l"/>
              <a:pathLst>
                <a:path h="1104900" w="5543550">
                  <a:moveTo>
                    <a:pt x="0" y="0"/>
                  </a:moveTo>
                  <a:lnTo>
                    <a:pt x="5543550" y="0"/>
                  </a:lnTo>
                  <a:lnTo>
                    <a:pt x="5543550" y="1104900"/>
                  </a:lnTo>
                  <a:lnTo>
                    <a:pt x="0" y="1104900"/>
                  </a:lnTo>
                  <a:close/>
                </a:path>
              </a:pathLst>
            </a:custGeom>
            <a:solidFill>
              <a:srgbClr val="ECE9E3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70" id="70"/>
          <p:cNvGrpSpPr/>
          <p:nvPr/>
        </p:nvGrpSpPr>
        <p:grpSpPr>
          <a:xfrm rot="0">
            <a:off x="13401675" y="3686175"/>
            <a:ext cx="3914775" cy="700088"/>
            <a:chOff x="0" y="0"/>
            <a:chExt cx="5219700" cy="93345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5219700" cy="933450"/>
            </a:xfrm>
            <a:custGeom>
              <a:avLst/>
              <a:gdLst/>
              <a:ahLst/>
              <a:cxnLst/>
              <a:rect r="r" b="b" t="t" l="l"/>
              <a:pathLst>
                <a:path h="933450" w="5219700">
                  <a:moveTo>
                    <a:pt x="0" y="0"/>
                  </a:moveTo>
                  <a:lnTo>
                    <a:pt x="5219700" y="0"/>
                  </a:lnTo>
                  <a:lnTo>
                    <a:pt x="5219700" y="933450"/>
                  </a:lnTo>
                  <a:lnTo>
                    <a:pt x="0" y="9334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957" r="0" b="-58957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521970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25"/>
                </a:lnSpc>
              </a:pPr>
              <a:r>
                <a:rPr lang="en-US" sz="1687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OPEN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850106" y="4436269"/>
            <a:ext cx="6157912" cy="828675"/>
            <a:chOff x="0" y="0"/>
            <a:chExt cx="8210550" cy="110490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8210550" cy="1104900"/>
            </a:xfrm>
            <a:custGeom>
              <a:avLst/>
              <a:gdLst/>
              <a:ahLst/>
              <a:cxnLst/>
              <a:rect r="r" b="b" t="t" l="l"/>
              <a:pathLst>
                <a:path h="1104900" w="8210550">
                  <a:moveTo>
                    <a:pt x="0" y="0"/>
                  </a:moveTo>
                  <a:lnTo>
                    <a:pt x="8210550" y="0"/>
                  </a:lnTo>
                  <a:lnTo>
                    <a:pt x="8210550" y="1104900"/>
                  </a:lnTo>
                  <a:lnTo>
                    <a:pt x="0" y="1104900"/>
                  </a:lnTo>
                  <a:close/>
                </a:path>
              </a:pathLst>
            </a:custGeom>
            <a:solidFill>
              <a:srgbClr val="F7F5F0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75" id="75"/>
          <p:cNvGrpSpPr/>
          <p:nvPr/>
        </p:nvGrpSpPr>
        <p:grpSpPr>
          <a:xfrm rot="0">
            <a:off x="971550" y="4500562"/>
            <a:ext cx="5915025" cy="700088"/>
            <a:chOff x="0" y="0"/>
            <a:chExt cx="7886700" cy="93345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7886700" cy="933450"/>
            </a:xfrm>
            <a:custGeom>
              <a:avLst/>
              <a:gdLst/>
              <a:ahLst/>
              <a:cxnLst/>
              <a:rect r="r" b="b" t="t" l="l"/>
              <a:pathLst>
                <a:path h="933450" w="7886700">
                  <a:moveTo>
                    <a:pt x="0" y="0"/>
                  </a:moveTo>
                  <a:lnTo>
                    <a:pt x="7886700" y="0"/>
                  </a:lnTo>
                  <a:lnTo>
                    <a:pt x="7886700" y="933450"/>
                  </a:lnTo>
                  <a:lnTo>
                    <a:pt x="0" y="9334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4628" r="0" b="-114628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38100"/>
              <a:ext cx="788670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25"/>
                </a:lnSpc>
              </a:pPr>
              <a:r>
                <a:rPr lang="en-US" sz="1687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Final draft internal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6993731" y="4436269"/>
            <a:ext cx="2728912" cy="828675"/>
            <a:chOff x="0" y="0"/>
            <a:chExt cx="3638550" cy="110490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3638550" cy="1104900"/>
            </a:xfrm>
            <a:custGeom>
              <a:avLst/>
              <a:gdLst/>
              <a:ahLst/>
              <a:cxnLst/>
              <a:rect r="r" b="b" t="t" l="l"/>
              <a:pathLst>
                <a:path h="1104900" w="3638550">
                  <a:moveTo>
                    <a:pt x="0" y="0"/>
                  </a:moveTo>
                  <a:lnTo>
                    <a:pt x="3638550" y="0"/>
                  </a:lnTo>
                  <a:lnTo>
                    <a:pt x="3638550" y="1104900"/>
                  </a:lnTo>
                  <a:lnTo>
                    <a:pt x="0" y="1104900"/>
                  </a:lnTo>
                  <a:close/>
                </a:path>
              </a:pathLst>
            </a:custGeom>
            <a:solidFill>
              <a:srgbClr val="F7F5F0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80" id="80"/>
          <p:cNvGrpSpPr/>
          <p:nvPr/>
        </p:nvGrpSpPr>
        <p:grpSpPr>
          <a:xfrm rot="0">
            <a:off x="7115175" y="4500562"/>
            <a:ext cx="2486025" cy="700088"/>
            <a:chOff x="0" y="0"/>
            <a:chExt cx="3314700" cy="93345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3314700" cy="933450"/>
            </a:xfrm>
            <a:custGeom>
              <a:avLst/>
              <a:gdLst/>
              <a:ahLst/>
              <a:cxnLst/>
              <a:rect r="r" b="b" t="t" l="l"/>
              <a:pathLst>
                <a:path h="933450" w="3314700">
                  <a:moveTo>
                    <a:pt x="0" y="0"/>
                  </a:moveTo>
                  <a:lnTo>
                    <a:pt x="3314700" y="0"/>
                  </a:lnTo>
                  <a:lnTo>
                    <a:pt x="3314700" y="933450"/>
                  </a:lnTo>
                  <a:lnTo>
                    <a:pt x="0" y="9334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91" r="0" b="-19191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331470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25"/>
                </a:lnSpc>
              </a:pPr>
              <a:r>
                <a:rPr lang="en-US" sz="1687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Hendra + tim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9708356" y="4436269"/>
            <a:ext cx="3586162" cy="828675"/>
            <a:chOff x="0" y="0"/>
            <a:chExt cx="4781550" cy="110490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4781550" cy="1104900"/>
            </a:xfrm>
            <a:custGeom>
              <a:avLst/>
              <a:gdLst/>
              <a:ahLst/>
              <a:cxnLst/>
              <a:rect r="r" b="b" t="t" l="l"/>
              <a:pathLst>
                <a:path h="1104900" w="4781550">
                  <a:moveTo>
                    <a:pt x="0" y="0"/>
                  </a:moveTo>
                  <a:lnTo>
                    <a:pt x="4781550" y="0"/>
                  </a:lnTo>
                  <a:lnTo>
                    <a:pt x="4781550" y="1104900"/>
                  </a:lnTo>
                  <a:lnTo>
                    <a:pt x="0" y="1104900"/>
                  </a:lnTo>
                  <a:close/>
                </a:path>
              </a:pathLst>
            </a:custGeom>
            <a:solidFill>
              <a:srgbClr val="F7F5F0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85" id="85"/>
          <p:cNvGrpSpPr/>
          <p:nvPr/>
        </p:nvGrpSpPr>
        <p:grpSpPr>
          <a:xfrm rot="0">
            <a:off x="9829800" y="4500562"/>
            <a:ext cx="3343275" cy="700088"/>
            <a:chOff x="0" y="0"/>
            <a:chExt cx="4457700" cy="93345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4457700" cy="933450"/>
            </a:xfrm>
            <a:custGeom>
              <a:avLst/>
              <a:gdLst/>
              <a:ahLst/>
              <a:cxnLst/>
              <a:rect r="r" b="b" t="t" l="l"/>
              <a:pathLst>
                <a:path h="933450" w="4457700">
                  <a:moveTo>
                    <a:pt x="0" y="0"/>
                  </a:moveTo>
                  <a:lnTo>
                    <a:pt x="4457700" y="0"/>
                  </a:lnTo>
                  <a:lnTo>
                    <a:pt x="4457700" y="933450"/>
                  </a:lnTo>
                  <a:lnTo>
                    <a:pt x="0" y="9334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050" r="0" b="-43050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38100"/>
              <a:ext cx="445770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25"/>
                </a:lnSpc>
              </a:pPr>
              <a:r>
                <a:rPr lang="en-US" sz="1687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Week 3 Juli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3280231" y="4436269"/>
            <a:ext cx="4157662" cy="828675"/>
            <a:chOff x="0" y="0"/>
            <a:chExt cx="5543550" cy="110490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5543550" cy="1104900"/>
            </a:xfrm>
            <a:custGeom>
              <a:avLst/>
              <a:gdLst/>
              <a:ahLst/>
              <a:cxnLst/>
              <a:rect r="r" b="b" t="t" l="l"/>
              <a:pathLst>
                <a:path h="1104900" w="5543550">
                  <a:moveTo>
                    <a:pt x="0" y="0"/>
                  </a:moveTo>
                  <a:lnTo>
                    <a:pt x="5543550" y="0"/>
                  </a:lnTo>
                  <a:lnTo>
                    <a:pt x="5543550" y="1104900"/>
                  </a:lnTo>
                  <a:lnTo>
                    <a:pt x="0" y="1104900"/>
                  </a:lnTo>
                  <a:close/>
                </a:path>
              </a:pathLst>
            </a:custGeom>
            <a:solidFill>
              <a:srgbClr val="F7F5F0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90" id="90"/>
          <p:cNvGrpSpPr/>
          <p:nvPr/>
        </p:nvGrpSpPr>
        <p:grpSpPr>
          <a:xfrm rot="0">
            <a:off x="13401675" y="4500562"/>
            <a:ext cx="3914775" cy="700088"/>
            <a:chOff x="0" y="0"/>
            <a:chExt cx="5219700" cy="93345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5219700" cy="933450"/>
            </a:xfrm>
            <a:custGeom>
              <a:avLst/>
              <a:gdLst/>
              <a:ahLst/>
              <a:cxnLst/>
              <a:rect r="r" b="b" t="t" l="l"/>
              <a:pathLst>
                <a:path h="933450" w="5219700">
                  <a:moveTo>
                    <a:pt x="0" y="0"/>
                  </a:moveTo>
                  <a:lnTo>
                    <a:pt x="5219700" y="0"/>
                  </a:lnTo>
                  <a:lnTo>
                    <a:pt x="5219700" y="933450"/>
                  </a:lnTo>
                  <a:lnTo>
                    <a:pt x="0" y="9334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957" r="0" b="-58957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38100"/>
              <a:ext cx="521970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25"/>
                </a:lnSpc>
              </a:pPr>
              <a:r>
                <a:rPr lang="en-US" sz="1687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OPEN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850106" y="5250656"/>
            <a:ext cx="6157912" cy="828675"/>
            <a:chOff x="0" y="0"/>
            <a:chExt cx="8210550" cy="110490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8210550" cy="1104900"/>
            </a:xfrm>
            <a:custGeom>
              <a:avLst/>
              <a:gdLst/>
              <a:ahLst/>
              <a:cxnLst/>
              <a:rect r="r" b="b" t="t" l="l"/>
              <a:pathLst>
                <a:path h="1104900" w="8210550">
                  <a:moveTo>
                    <a:pt x="0" y="0"/>
                  </a:moveTo>
                  <a:lnTo>
                    <a:pt x="8210550" y="0"/>
                  </a:lnTo>
                  <a:lnTo>
                    <a:pt x="8210550" y="1104900"/>
                  </a:lnTo>
                  <a:lnTo>
                    <a:pt x="0" y="1104900"/>
                  </a:lnTo>
                  <a:close/>
                </a:path>
              </a:pathLst>
            </a:custGeom>
            <a:solidFill>
              <a:srgbClr val="ECE9E3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95" id="95"/>
          <p:cNvGrpSpPr/>
          <p:nvPr/>
        </p:nvGrpSpPr>
        <p:grpSpPr>
          <a:xfrm rot="0">
            <a:off x="971550" y="5314950"/>
            <a:ext cx="5915025" cy="700088"/>
            <a:chOff x="0" y="0"/>
            <a:chExt cx="7886700" cy="93345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7886700" cy="933450"/>
            </a:xfrm>
            <a:custGeom>
              <a:avLst/>
              <a:gdLst/>
              <a:ahLst/>
              <a:cxnLst/>
              <a:rect r="r" b="b" t="t" l="l"/>
              <a:pathLst>
                <a:path h="933450" w="7886700">
                  <a:moveTo>
                    <a:pt x="0" y="0"/>
                  </a:moveTo>
                  <a:lnTo>
                    <a:pt x="7886700" y="0"/>
                  </a:lnTo>
                  <a:lnTo>
                    <a:pt x="7886700" y="933450"/>
                  </a:lnTo>
                  <a:lnTo>
                    <a:pt x="0" y="9334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4628" r="0" b="-114628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38100"/>
              <a:ext cx="788670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25"/>
                </a:lnSpc>
              </a:pPr>
              <a:r>
                <a:rPr lang="en-US" sz="1687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Undangan reviewer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6993731" y="5250656"/>
            <a:ext cx="2728912" cy="828675"/>
            <a:chOff x="0" y="0"/>
            <a:chExt cx="3638550" cy="110490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3638550" cy="1104900"/>
            </a:xfrm>
            <a:custGeom>
              <a:avLst/>
              <a:gdLst/>
              <a:ahLst/>
              <a:cxnLst/>
              <a:rect r="r" b="b" t="t" l="l"/>
              <a:pathLst>
                <a:path h="1104900" w="3638550">
                  <a:moveTo>
                    <a:pt x="0" y="0"/>
                  </a:moveTo>
                  <a:lnTo>
                    <a:pt x="3638550" y="0"/>
                  </a:lnTo>
                  <a:lnTo>
                    <a:pt x="3638550" y="1104900"/>
                  </a:lnTo>
                  <a:lnTo>
                    <a:pt x="0" y="1104900"/>
                  </a:lnTo>
                  <a:close/>
                </a:path>
              </a:pathLst>
            </a:custGeom>
            <a:solidFill>
              <a:srgbClr val="ECE9E3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100" id="100"/>
          <p:cNvGrpSpPr/>
          <p:nvPr/>
        </p:nvGrpSpPr>
        <p:grpSpPr>
          <a:xfrm rot="0">
            <a:off x="7115175" y="5314950"/>
            <a:ext cx="2486025" cy="700088"/>
            <a:chOff x="0" y="0"/>
            <a:chExt cx="3314700" cy="93345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3314700" cy="933450"/>
            </a:xfrm>
            <a:custGeom>
              <a:avLst/>
              <a:gdLst/>
              <a:ahLst/>
              <a:cxnLst/>
              <a:rect r="r" b="b" t="t" l="l"/>
              <a:pathLst>
                <a:path h="933450" w="3314700">
                  <a:moveTo>
                    <a:pt x="0" y="0"/>
                  </a:moveTo>
                  <a:lnTo>
                    <a:pt x="3314700" y="0"/>
                  </a:lnTo>
                  <a:lnTo>
                    <a:pt x="3314700" y="933450"/>
                  </a:lnTo>
                  <a:lnTo>
                    <a:pt x="0" y="9334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91" r="0" b="-19191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38100"/>
              <a:ext cx="331470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25"/>
                </a:lnSpc>
              </a:pPr>
              <a:r>
                <a:rPr lang="en-US" sz="1687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________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9708356" y="5250656"/>
            <a:ext cx="3586162" cy="828675"/>
            <a:chOff x="0" y="0"/>
            <a:chExt cx="4781550" cy="1104900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4781550" cy="1104900"/>
            </a:xfrm>
            <a:custGeom>
              <a:avLst/>
              <a:gdLst/>
              <a:ahLst/>
              <a:cxnLst/>
              <a:rect r="r" b="b" t="t" l="l"/>
              <a:pathLst>
                <a:path h="1104900" w="4781550">
                  <a:moveTo>
                    <a:pt x="0" y="0"/>
                  </a:moveTo>
                  <a:lnTo>
                    <a:pt x="4781550" y="0"/>
                  </a:lnTo>
                  <a:lnTo>
                    <a:pt x="4781550" y="1104900"/>
                  </a:lnTo>
                  <a:lnTo>
                    <a:pt x="0" y="1104900"/>
                  </a:lnTo>
                  <a:close/>
                </a:path>
              </a:pathLst>
            </a:custGeom>
            <a:solidFill>
              <a:srgbClr val="ECE9E3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105" id="105"/>
          <p:cNvGrpSpPr/>
          <p:nvPr/>
        </p:nvGrpSpPr>
        <p:grpSpPr>
          <a:xfrm rot="0">
            <a:off x="9829800" y="5314950"/>
            <a:ext cx="3343275" cy="700088"/>
            <a:chOff x="0" y="0"/>
            <a:chExt cx="4457700" cy="933450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4457700" cy="933450"/>
            </a:xfrm>
            <a:custGeom>
              <a:avLst/>
              <a:gdLst/>
              <a:ahLst/>
              <a:cxnLst/>
              <a:rect r="r" b="b" t="t" l="l"/>
              <a:pathLst>
                <a:path h="933450" w="4457700">
                  <a:moveTo>
                    <a:pt x="0" y="0"/>
                  </a:moveTo>
                  <a:lnTo>
                    <a:pt x="4457700" y="0"/>
                  </a:lnTo>
                  <a:lnTo>
                    <a:pt x="4457700" y="933450"/>
                  </a:lnTo>
                  <a:lnTo>
                    <a:pt x="0" y="9334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050" r="0" b="-43050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38100"/>
              <a:ext cx="445770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25"/>
                </a:lnSpc>
              </a:pPr>
              <a:r>
                <a:rPr lang="en-US" sz="1687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Week 4 Juli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13280231" y="5250656"/>
            <a:ext cx="4157662" cy="828675"/>
            <a:chOff x="0" y="0"/>
            <a:chExt cx="5543550" cy="1104900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5543550" cy="1104900"/>
            </a:xfrm>
            <a:custGeom>
              <a:avLst/>
              <a:gdLst/>
              <a:ahLst/>
              <a:cxnLst/>
              <a:rect r="r" b="b" t="t" l="l"/>
              <a:pathLst>
                <a:path h="1104900" w="5543550">
                  <a:moveTo>
                    <a:pt x="0" y="0"/>
                  </a:moveTo>
                  <a:lnTo>
                    <a:pt x="5543550" y="0"/>
                  </a:lnTo>
                  <a:lnTo>
                    <a:pt x="5543550" y="1104900"/>
                  </a:lnTo>
                  <a:lnTo>
                    <a:pt x="0" y="1104900"/>
                  </a:lnTo>
                  <a:close/>
                </a:path>
              </a:pathLst>
            </a:custGeom>
            <a:solidFill>
              <a:srgbClr val="ECE9E3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110" id="110"/>
          <p:cNvGrpSpPr/>
          <p:nvPr/>
        </p:nvGrpSpPr>
        <p:grpSpPr>
          <a:xfrm rot="0">
            <a:off x="13401675" y="5314950"/>
            <a:ext cx="3914775" cy="700088"/>
            <a:chOff x="0" y="0"/>
            <a:chExt cx="5219700" cy="93345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5219700" cy="933450"/>
            </a:xfrm>
            <a:custGeom>
              <a:avLst/>
              <a:gdLst/>
              <a:ahLst/>
              <a:cxnLst/>
              <a:rect r="r" b="b" t="t" l="l"/>
              <a:pathLst>
                <a:path h="933450" w="5219700">
                  <a:moveTo>
                    <a:pt x="0" y="0"/>
                  </a:moveTo>
                  <a:lnTo>
                    <a:pt x="5219700" y="0"/>
                  </a:lnTo>
                  <a:lnTo>
                    <a:pt x="5219700" y="933450"/>
                  </a:lnTo>
                  <a:lnTo>
                    <a:pt x="0" y="9334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957" r="0" b="-58957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38100"/>
              <a:ext cx="521970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25"/>
                </a:lnSpc>
              </a:pPr>
              <a:r>
                <a:rPr lang="en-US" sz="1687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OPEN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850106" y="6065044"/>
            <a:ext cx="6157912" cy="828675"/>
            <a:chOff x="0" y="0"/>
            <a:chExt cx="8210550" cy="110490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8210550" cy="1104900"/>
            </a:xfrm>
            <a:custGeom>
              <a:avLst/>
              <a:gdLst/>
              <a:ahLst/>
              <a:cxnLst/>
              <a:rect r="r" b="b" t="t" l="l"/>
              <a:pathLst>
                <a:path h="1104900" w="8210550">
                  <a:moveTo>
                    <a:pt x="0" y="0"/>
                  </a:moveTo>
                  <a:lnTo>
                    <a:pt x="8210550" y="0"/>
                  </a:lnTo>
                  <a:lnTo>
                    <a:pt x="8210550" y="1104900"/>
                  </a:lnTo>
                  <a:lnTo>
                    <a:pt x="0" y="1104900"/>
                  </a:lnTo>
                  <a:close/>
                </a:path>
              </a:pathLst>
            </a:custGeom>
            <a:solidFill>
              <a:srgbClr val="F7F5F0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115" id="115"/>
          <p:cNvGrpSpPr/>
          <p:nvPr/>
        </p:nvGrpSpPr>
        <p:grpSpPr>
          <a:xfrm rot="0">
            <a:off x="971550" y="6129338"/>
            <a:ext cx="5915025" cy="700088"/>
            <a:chOff x="0" y="0"/>
            <a:chExt cx="7886700" cy="933450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7886700" cy="933450"/>
            </a:xfrm>
            <a:custGeom>
              <a:avLst/>
              <a:gdLst/>
              <a:ahLst/>
              <a:cxnLst/>
              <a:rect r="r" b="b" t="t" l="l"/>
              <a:pathLst>
                <a:path h="933450" w="7886700">
                  <a:moveTo>
                    <a:pt x="0" y="0"/>
                  </a:moveTo>
                  <a:lnTo>
                    <a:pt x="7886700" y="0"/>
                  </a:lnTo>
                  <a:lnTo>
                    <a:pt x="7886700" y="933450"/>
                  </a:lnTo>
                  <a:lnTo>
                    <a:pt x="0" y="9334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4628" r="0" b="-114628"/>
              </a:stretch>
            </a:blipFill>
          </p:spPr>
        </p:sp>
        <p:sp>
          <p:nvSpPr>
            <p:cNvPr name="TextBox 117" id="117"/>
            <p:cNvSpPr txBox="true"/>
            <p:nvPr/>
          </p:nvSpPr>
          <p:spPr>
            <a:xfrm>
              <a:off x="0" y="-38100"/>
              <a:ext cx="788670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25"/>
                </a:lnSpc>
              </a:pPr>
              <a:r>
                <a:rPr lang="en-US" sz="1687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Urutan penulis</a:t>
              </a:r>
            </a:p>
          </p:txBody>
        </p:sp>
      </p:grpSp>
      <p:grpSp>
        <p:nvGrpSpPr>
          <p:cNvPr name="Group 118" id="118"/>
          <p:cNvGrpSpPr/>
          <p:nvPr/>
        </p:nvGrpSpPr>
        <p:grpSpPr>
          <a:xfrm rot="0">
            <a:off x="6993731" y="6065044"/>
            <a:ext cx="2728912" cy="828675"/>
            <a:chOff x="0" y="0"/>
            <a:chExt cx="3638550" cy="1104900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3638550" cy="1104900"/>
            </a:xfrm>
            <a:custGeom>
              <a:avLst/>
              <a:gdLst/>
              <a:ahLst/>
              <a:cxnLst/>
              <a:rect r="r" b="b" t="t" l="l"/>
              <a:pathLst>
                <a:path h="1104900" w="3638550">
                  <a:moveTo>
                    <a:pt x="0" y="0"/>
                  </a:moveTo>
                  <a:lnTo>
                    <a:pt x="3638550" y="0"/>
                  </a:lnTo>
                  <a:lnTo>
                    <a:pt x="3638550" y="1104900"/>
                  </a:lnTo>
                  <a:lnTo>
                    <a:pt x="0" y="1104900"/>
                  </a:lnTo>
                  <a:close/>
                </a:path>
              </a:pathLst>
            </a:custGeom>
            <a:solidFill>
              <a:srgbClr val="F7F5F0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120" id="120"/>
          <p:cNvGrpSpPr/>
          <p:nvPr/>
        </p:nvGrpSpPr>
        <p:grpSpPr>
          <a:xfrm rot="0">
            <a:off x="7115175" y="6129338"/>
            <a:ext cx="2486025" cy="700088"/>
            <a:chOff x="0" y="0"/>
            <a:chExt cx="3314700" cy="933450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3314700" cy="933450"/>
            </a:xfrm>
            <a:custGeom>
              <a:avLst/>
              <a:gdLst/>
              <a:ahLst/>
              <a:cxnLst/>
              <a:rect r="r" b="b" t="t" l="l"/>
              <a:pathLst>
                <a:path h="933450" w="3314700">
                  <a:moveTo>
                    <a:pt x="0" y="0"/>
                  </a:moveTo>
                  <a:lnTo>
                    <a:pt x="3314700" y="0"/>
                  </a:lnTo>
                  <a:lnTo>
                    <a:pt x="3314700" y="933450"/>
                  </a:lnTo>
                  <a:lnTo>
                    <a:pt x="0" y="9334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91" r="0" b="-19191"/>
              </a:stretch>
            </a:blipFill>
          </p:spPr>
        </p:sp>
        <p:sp>
          <p:nvSpPr>
            <p:cNvPr name="TextBox 122" id="122"/>
            <p:cNvSpPr txBox="true"/>
            <p:nvPr/>
          </p:nvSpPr>
          <p:spPr>
            <a:xfrm>
              <a:off x="0" y="-38100"/>
              <a:ext cx="331470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25"/>
                </a:lnSpc>
              </a:pPr>
              <a:r>
                <a:rPr lang="en-US" sz="1687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Seluruh penulis</a:t>
              </a:r>
            </a:p>
          </p:txBody>
        </p:sp>
      </p:grpSp>
      <p:grpSp>
        <p:nvGrpSpPr>
          <p:cNvPr name="Group 123" id="123"/>
          <p:cNvGrpSpPr/>
          <p:nvPr/>
        </p:nvGrpSpPr>
        <p:grpSpPr>
          <a:xfrm rot="0">
            <a:off x="9708356" y="6065044"/>
            <a:ext cx="3586162" cy="828675"/>
            <a:chOff x="0" y="0"/>
            <a:chExt cx="4781550" cy="1104900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4781550" cy="1104900"/>
            </a:xfrm>
            <a:custGeom>
              <a:avLst/>
              <a:gdLst/>
              <a:ahLst/>
              <a:cxnLst/>
              <a:rect r="r" b="b" t="t" l="l"/>
              <a:pathLst>
                <a:path h="1104900" w="4781550">
                  <a:moveTo>
                    <a:pt x="0" y="0"/>
                  </a:moveTo>
                  <a:lnTo>
                    <a:pt x="4781550" y="0"/>
                  </a:lnTo>
                  <a:lnTo>
                    <a:pt x="4781550" y="1104900"/>
                  </a:lnTo>
                  <a:lnTo>
                    <a:pt x="0" y="1104900"/>
                  </a:lnTo>
                  <a:close/>
                </a:path>
              </a:pathLst>
            </a:custGeom>
            <a:solidFill>
              <a:srgbClr val="F7F5F0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125" id="125"/>
          <p:cNvGrpSpPr/>
          <p:nvPr/>
        </p:nvGrpSpPr>
        <p:grpSpPr>
          <a:xfrm rot="0">
            <a:off x="9829800" y="6129338"/>
            <a:ext cx="3343275" cy="700088"/>
            <a:chOff x="0" y="0"/>
            <a:chExt cx="4457700" cy="933450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4457700" cy="933450"/>
            </a:xfrm>
            <a:custGeom>
              <a:avLst/>
              <a:gdLst/>
              <a:ahLst/>
              <a:cxnLst/>
              <a:rect r="r" b="b" t="t" l="l"/>
              <a:pathLst>
                <a:path h="933450" w="4457700">
                  <a:moveTo>
                    <a:pt x="0" y="0"/>
                  </a:moveTo>
                  <a:lnTo>
                    <a:pt x="4457700" y="0"/>
                  </a:lnTo>
                  <a:lnTo>
                    <a:pt x="4457700" y="933450"/>
                  </a:lnTo>
                  <a:lnTo>
                    <a:pt x="0" y="9334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050" r="0" b="-43050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38100"/>
              <a:ext cx="445770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25"/>
                </a:lnSpc>
              </a:pPr>
              <a:r>
                <a:rPr lang="en-US" sz="1687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Hari ini</a:t>
              </a: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13280231" y="6065044"/>
            <a:ext cx="4157662" cy="828675"/>
            <a:chOff x="0" y="0"/>
            <a:chExt cx="5543550" cy="1104900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5543550" cy="1104900"/>
            </a:xfrm>
            <a:custGeom>
              <a:avLst/>
              <a:gdLst/>
              <a:ahLst/>
              <a:cxnLst/>
              <a:rect r="r" b="b" t="t" l="l"/>
              <a:pathLst>
                <a:path h="1104900" w="5543550">
                  <a:moveTo>
                    <a:pt x="0" y="0"/>
                  </a:moveTo>
                  <a:lnTo>
                    <a:pt x="5543550" y="0"/>
                  </a:lnTo>
                  <a:lnTo>
                    <a:pt x="5543550" y="1104900"/>
                  </a:lnTo>
                  <a:lnTo>
                    <a:pt x="0" y="1104900"/>
                  </a:lnTo>
                  <a:close/>
                </a:path>
              </a:pathLst>
            </a:custGeom>
            <a:solidFill>
              <a:srgbClr val="F7F5F0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130" id="130"/>
          <p:cNvGrpSpPr/>
          <p:nvPr/>
        </p:nvGrpSpPr>
        <p:grpSpPr>
          <a:xfrm rot="0">
            <a:off x="13401675" y="6129338"/>
            <a:ext cx="3914775" cy="700088"/>
            <a:chOff x="0" y="0"/>
            <a:chExt cx="5219700" cy="933450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5219700" cy="933450"/>
            </a:xfrm>
            <a:custGeom>
              <a:avLst/>
              <a:gdLst/>
              <a:ahLst/>
              <a:cxnLst/>
              <a:rect r="r" b="b" t="t" l="l"/>
              <a:pathLst>
                <a:path h="933450" w="5219700">
                  <a:moveTo>
                    <a:pt x="0" y="0"/>
                  </a:moveTo>
                  <a:lnTo>
                    <a:pt x="5219700" y="0"/>
                  </a:lnTo>
                  <a:lnTo>
                    <a:pt x="5219700" y="933450"/>
                  </a:lnTo>
                  <a:lnTo>
                    <a:pt x="0" y="9334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957" r="0" b="-58957"/>
              </a:stretch>
            </a:blipFill>
          </p:spPr>
        </p:sp>
        <p:sp>
          <p:nvSpPr>
            <p:cNvPr name="TextBox 132" id="132"/>
            <p:cNvSpPr txBox="true"/>
            <p:nvPr/>
          </p:nvSpPr>
          <p:spPr>
            <a:xfrm>
              <a:off x="0" y="-38100"/>
              <a:ext cx="521970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25"/>
                </a:lnSpc>
              </a:pPr>
              <a:r>
                <a:rPr lang="en-US" sz="1687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OPEN</a:t>
              </a:r>
            </a:p>
          </p:txBody>
        </p:sp>
      </p:grpSp>
      <p:grpSp>
        <p:nvGrpSpPr>
          <p:cNvPr name="Group 133" id="133"/>
          <p:cNvGrpSpPr/>
          <p:nvPr/>
        </p:nvGrpSpPr>
        <p:grpSpPr>
          <a:xfrm rot="0">
            <a:off x="850106" y="6879431"/>
            <a:ext cx="6157912" cy="828675"/>
            <a:chOff x="0" y="0"/>
            <a:chExt cx="8210550" cy="1104900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8210550" cy="1104900"/>
            </a:xfrm>
            <a:custGeom>
              <a:avLst/>
              <a:gdLst/>
              <a:ahLst/>
              <a:cxnLst/>
              <a:rect r="r" b="b" t="t" l="l"/>
              <a:pathLst>
                <a:path h="1104900" w="8210550">
                  <a:moveTo>
                    <a:pt x="0" y="0"/>
                  </a:moveTo>
                  <a:lnTo>
                    <a:pt x="8210550" y="0"/>
                  </a:lnTo>
                  <a:lnTo>
                    <a:pt x="8210550" y="1104900"/>
                  </a:lnTo>
                  <a:lnTo>
                    <a:pt x="0" y="1104900"/>
                  </a:lnTo>
                  <a:close/>
                </a:path>
              </a:pathLst>
            </a:custGeom>
            <a:solidFill>
              <a:srgbClr val="ECE9E3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135" id="135"/>
          <p:cNvGrpSpPr/>
          <p:nvPr/>
        </p:nvGrpSpPr>
        <p:grpSpPr>
          <a:xfrm rot="0">
            <a:off x="971550" y="6943725"/>
            <a:ext cx="5915025" cy="700088"/>
            <a:chOff x="0" y="0"/>
            <a:chExt cx="7886700" cy="933450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7886700" cy="933450"/>
            </a:xfrm>
            <a:custGeom>
              <a:avLst/>
              <a:gdLst/>
              <a:ahLst/>
              <a:cxnLst/>
              <a:rect r="r" b="b" t="t" l="l"/>
              <a:pathLst>
                <a:path h="933450" w="7886700">
                  <a:moveTo>
                    <a:pt x="0" y="0"/>
                  </a:moveTo>
                  <a:lnTo>
                    <a:pt x="7886700" y="0"/>
                  </a:lnTo>
                  <a:lnTo>
                    <a:pt x="7886700" y="933450"/>
                  </a:lnTo>
                  <a:lnTo>
                    <a:pt x="0" y="9334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4628" r="0" b="-114628"/>
              </a:stretch>
            </a:blipFill>
          </p:spPr>
        </p:sp>
        <p:sp>
          <p:nvSpPr>
            <p:cNvPr name="TextBox 137" id="137"/>
            <p:cNvSpPr txBox="true"/>
            <p:nvPr/>
          </p:nvSpPr>
          <p:spPr>
            <a:xfrm>
              <a:off x="0" y="-38100"/>
              <a:ext cx="788670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25"/>
                </a:lnSpc>
              </a:pPr>
              <a:r>
                <a:rPr lang="en-US" sz="1687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Corresponding author</a:t>
              </a:r>
            </a:p>
          </p:txBody>
        </p:sp>
      </p:grpSp>
      <p:grpSp>
        <p:nvGrpSpPr>
          <p:cNvPr name="Group 138" id="138"/>
          <p:cNvGrpSpPr/>
          <p:nvPr/>
        </p:nvGrpSpPr>
        <p:grpSpPr>
          <a:xfrm rot="0">
            <a:off x="6993731" y="6879431"/>
            <a:ext cx="2728912" cy="828675"/>
            <a:chOff x="0" y="0"/>
            <a:chExt cx="3638550" cy="1104900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3638550" cy="1104900"/>
            </a:xfrm>
            <a:custGeom>
              <a:avLst/>
              <a:gdLst/>
              <a:ahLst/>
              <a:cxnLst/>
              <a:rect r="r" b="b" t="t" l="l"/>
              <a:pathLst>
                <a:path h="1104900" w="3638550">
                  <a:moveTo>
                    <a:pt x="0" y="0"/>
                  </a:moveTo>
                  <a:lnTo>
                    <a:pt x="3638550" y="0"/>
                  </a:lnTo>
                  <a:lnTo>
                    <a:pt x="3638550" y="1104900"/>
                  </a:lnTo>
                  <a:lnTo>
                    <a:pt x="0" y="1104900"/>
                  </a:lnTo>
                  <a:close/>
                </a:path>
              </a:pathLst>
            </a:custGeom>
            <a:solidFill>
              <a:srgbClr val="ECE9E3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140" id="140"/>
          <p:cNvGrpSpPr/>
          <p:nvPr/>
        </p:nvGrpSpPr>
        <p:grpSpPr>
          <a:xfrm rot="0">
            <a:off x="7115175" y="6943725"/>
            <a:ext cx="2486025" cy="700088"/>
            <a:chOff x="0" y="0"/>
            <a:chExt cx="3314700" cy="933450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3314700" cy="933450"/>
            </a:xfrm>
            <a:custGeom>
              <a:avLst/>
              <a:gdLst/>
              <a:ahLst/>
              <a:cxnLst/>
              <a:rect r="r" b="b" t="t" l="l"/>
              <a:pathLst>
                <a:path h="933450" w="3314700">
                  <a:moveTo>
                    <a:pt x="0" y="0"/>
                  </a:moveTo>
                  <a:lnTo>
                    <a:pt x="3314700" y="0"/>
                  </a:lnTo>
                  <a:lnTo>
                    <a:pt x="3314700" y="933450"/>
                  </a:lnTo>
                  <a:lnTo>
                    <a:pt x="0" y="9334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91" r="0" b="-19191"/>
              </a:stretch>
            </a:blipFill>
          </p:spPr>
        </p:sp>
        <p:sp>
          <p:nvSpPr>
            <p:cNvPr name="TextBox 142" id="142"/>
            <p:cNvSpPr txBox="true"/>
            <p:nvPr/>
          </p:nvSpPr>
          <p:spPr>
            <a:xfrm>
              <a:off x="0" y="-38100"/>
              <a:ext cx="331470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25"/>
                </a:lnSpc>
              </a:pPr>
              <a:r>
                <a:rPr lang="en-US" sz="1687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Seluruh penulis</a:t>
              </a:r>
            </a:p>
          </p:txBody>
        </p:sp>
      </p:grpSp>
      <p:grpSp>
        <p:nvGrpSpPr>
          <p:cNvPr name="Group 143" id="143"/>
          <p:cNvGrpSpPr/>
          <p:nvPr/>
        </p:nvGrpSpPr>
        <p:grpSpPr>
          <a:xfrm rot="0">
            <a:off x="9708356" y="6879431"/>
            <a:ext cx="3586162" cy="828675"/>
            <a:chOff x="0" y="0"/>
            <a:chExt cx="4781550" cy="1104900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4781550" cy="1104900"/>
            </a:xfrm>
            <a:custGeom>
              <a:avLst/>
              <a:gdLst/>
              <a:ahLst/>
              <a:cxnLst/>
              <a:rect r="r" b="b" t="t" l="l"/>
              <a:pathLst>
                <a:path h="1104900" w="4781550">
                  <a:moveTo>
                    <a:pt x="0" y="0"/>
                  </a:moveTo>
                  <a:lnTo>
                    <a:pt x="4781550" y="0"/>
                  </a:lnTo>
                  <a:lnTo>
                    <a:pt x="4781550" y="1104900"/>
                  </a:lnTo>
                  <a:lnTo>
                    <a:pt x="0" y="1104900"/>
                  </a:lnTo>
                  <a:close/>
                </a:path>
              </a:pathLst>
            </a:custGeom>
            <a:solidFill>
              <a:srgbClr val="ECE9E3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145" id="145"/>
          <p:cNvGrpSpPr/>
          <p:nvPr/>
        </p:nvGrpSpPr>
        <p:grpSpPr>
          <a:xfrm rot="0">
            <a:off x="9829800" y="6943725"/>
            <a:ext cx="3343275" cy="700088"/>
            <a:chOff x="0" y="0"/>
            <a:chExt cx="4457700" cy="933450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0" y="0"/>
              <a:ext cx="4457700" cy="933450"/>
            </a:xfrm>
            <a:custGeom>
              <a:avLst/>
              <a:gdLst/>
              <a:ahLst/>
              <a:cxnLst/>
              <a:rect r="r" b="b" t="t" l="l"/>
              <a:pathLst>
                <a:path h="933450" w="4457700">
                  <a:moveTo>
                    <a:pt x="0" y="0"/>
                  </a:moveTo>
                  <a:lnTo>
                    <a:pt x="4457700" y="0"/>
                  </a:lnTo>
                  <a:lnTo>
                    <a:pt x="4457700" y="933450"/>
                  </a:lnTo>
                  <a:lnTo>
                    <a:pt x="0" y="9334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050" r="0" b="-43050"/>
              </a:stretch>
            </a:blipFill>
          </p:spPr>
        </p:sp>
        <p:sp>
          <p:nvSpPr>
            <p:cNvPr name="TextBox 147" id="147"/>
            <p:cNvSpPr txBox="true"/>
            <p:nvPr/>
          </p:nvSpPr>
          <p:spPr>
            <a:xfrm>
              <a:off x="0" y="-38100"/>
              <a:ext cx="445770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25"/>
                </a:lnSpc>
              </a:pPr>
              <a:r>
                <a:rPr lang="en-US" sz="1687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Hari ini</a:t>
              </a:r>
            </a:p>
          </p:txBody>
        </p:sp>
      </p:grpSp>
      <p:grpSp>
        <p:nvGrpSpPr>
          <p:cNvPr name="Group 148" id="148"/>
          <p:cNvGrpSpPr/>
          <p:nvPr/>
        </p:nvGrpSpPr>
        <p:grpSpPr>
          <a:xfrm rot="0">
            <a:off x="13280231" y="6879431"/>
            <a:ext cx="4157662" cy="828675"/>
            <a:chOff x="0" y="0"/>
            <a:chExt cx="5543550" cy="1104900"/>
          </a:xfrm>
        </p:grpSpPr>
        <p:sp>
          <p:nvSpPr>
            <p:cNvPr name="Freeform 149" id="149"/>
            <p:cNvSpPr/>
            <p:nvPr/>
          </p:nvSpPr>
          <p:spPr>
            <a:xfrm flipH="false" flipV="false" rot="0">
              <a:off x="0" y="0"/>
              <a:ext cx="5543550" cy="1104900"/>
            </a:xfrm>
            <a:custGeom>
              <a:avLst/>
              <a:gdLst/>
              <a:ahLst/>
              <a:cxnLst/>
              <a:rect r="r" b="b" t="t" l="l"/>
              <a:pathLst>
                <a:path h="1104900" w="5543550">
                  <a:moveTo>
                    <a:pt x="0" y="0"/>
                  </a:moveTo>
                  <a:lnTo>
                    <a:pt x="5543550" y="0"/>
                  </a:lnTo>
                  <a:lnTo>
                    <a:pt x="5543550" y="1104900"/>
                  </a:lnTo>
                  <a:lnTo>
                    <a:pt x="0" y="1104900"/>
                  </a:lnTo>
                  <a:close/>
                </a:path>
              </a:pathLst>
            </a:custGeom>
            <a:solidFill>
              <a:srgbClr val="ECE9E3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150" id="150"/>
          <p:cNvGrpSpPr/>
          <p:nvPr/>
        </p:nvGrpSpPr>
        <p:grpSpPr>
          <a:xfrm rot="0">
            <a:off x="13401675" y="6943725"/>
            <a:ext cx="3914775" cy="700088"/>
            <a:chOff x="0" y="0"/>
            <a:chExt cx="5219700" cy="933450"/>
          </a:xfrm>
        </p:grpSpPr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5219700" cy="933450"/>
            </a:xfrm>
            <a:custGeom>
              <a:avLst/>
              <a:gdLst/>
              <a:ahLst/>
              <a:cxnLst/>
              <a:rect r="r" b="b" t="t" l="l"/>
              <a:pathLst>
                <a:path h="933450" w="5219700">
                  <a:moveTo>
                    <a:pt x="0" y="0"/>
                  </a:moveTo>
                  <a:lnTo>
                    <a:pt x="5219700" y="0"/>
                  </a:lnTo>
                  <a:lnTo>
                    <a:pt x="5219700" y="933450"/>
                  </a:lnTo>
                  <a:lnTo>
                    <a:pt x="0" y="9334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957" r="0" b="-58957"/>
              </a:stretch>
            </a:blipFill>
          </p:spPr>
        </p:sp>
        <p:sp>
          <p:nvSpPr>
            <p:cNvPr name="TextBox 152" id="152"/>
            <p:cNvSpPr txBox="true"/>
            <p:nvPr/>
          </p:nvSpPr>
          <p:spPr>
            <a:xfrm>
              <a:off x="0" y="-38100"/>
              <a:ext cx="521970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25"/>
                </a:lnSpc>
              </a:pPr>
              <a:r>
                <a:rPr lang="en-US" sz="1687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OPEN</a:t>
              </a:r>
            </a:p>
          </p:txBody>
        </p:sp>
      </p:grpSp>
      <p:grpSp>
        <p:nvGrpSpPr>
          <p:cNvPr name="Group 153" id="153"/>
          <p:cNvGrpSpPr/>
          <p:nvPr/>
        </p:nvGrpSpPr>
        <p:grpSpPr>
          <a:xfrm rot="0">
            <a:off x="850106" y="7693819"/>
            <a:ext cx="6157912" cy="828675"/>
            <a:chOff x="0" y="0"/>
            <a:chExt cx="8210550" cy="1104900"/>
          </a:xfrm>
        </p:grpSpPr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8210550" cy="1104900"/>
            </a:xfrm>
            <a:custGeom>
              <a:avLst/>
              <a:gdLst/>
              <a:ahLst/>
              <a:cxnLst/>
              <a:rect r="r" b="b" t="t" l="l"/>
              <a:pathLst>
                <a:path h="1104900" w="8210550">
                  <a:moveTo>
                    <a:pt x="0" y="0"/>
                  </a:moveTo>
                  <a:lnTo>
                    <a:pt x="8210550" y="0"/>
                  </a:lnTo>
                  <a:lnTo>
                    <a:pt x="8210550" y="1104900"/>
                  </a:lnTo>
                  <a:lnTo>
                    <a:pt x="0" y="1104900"/>
                  </a:lnTo>
                  <a:close/>
                </a:path>
              </a:pathLst>
            </a:custGeom>
            <a:solidFill>
              <a:srgbClr val="F7F5F0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155" id="155"/>
          <p:cNvGrpSpPr/>
          <p:nvPr/>
        </p:nvGrpSpPr>
        <p:grpSpPr>
          <a:xfrm rot="0">
            <a:off x="971550" y="7758112"/>
            <a:ext cx="5915025" cy="700088"/>
            <a:chOff x="0" y="0"/>
            <a:chExt cx="7886700" cy="933450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7886700" cy="933450"/>
            </a:xfrm>
            <a:custGeom>
              <a:avLst/>
              <a:gdLst/>
              <a:ahLst/>
              <a:cxnLst/>
              <a:rect r="r" b="b" t="t" l="l"/>
              <a:pathLst>
                <a:path h="933450" w="7886700">
                  <a:moveTo>
                    <a:pt x="0" y="0"/>
                  </a:moveTo>
                  <a:lnTo>
                    <a:pt x="7886700" y="0"/>
                  </a:lnTo>
                  <a:lnTo>
                    <a:pt x="7886700" y="933450"/>
                  </a:lnTo>
                  <a:lnTo>
                    <a:pt x="0" y="9334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4628" r="0" b="-114628"/>
              </a:stretch>
            </a:blipFill>
          </p:spPr>
        </p:sp>
        <p:sp>
          <p:nvSpPr>
            <p:cNvPr name="TextBox 157" id="157"/>
            <p:cNvSpPr txBox="true"/>
            <p:nvPr/>
          </p:nvSpPr>
          <p:spPr>
            <a:xfrm>
              <a:off x="0" y="-38100"/>
              <a:ext cx="788670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25"/>
                </a:lnSpc>
              </a:pPr>
              <a:r>
                <a:rPr lang="en-US" sz="1687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Final submission</a:t>
              </a:r>
            </a:p>
          </p:txBody>
        </p:sp>
      </p:grpSp>
      <p:grpSp>
        <p:nvGrpSpPr>
          <p:cNvPr name="Group 158" id="158"/>
          <p:cNvGrpSpPr/>
          <p:nvPr/>
        </p:nvGrpSpPr>
        <p:grpSpPr>
          <a:xfrm rot="0">
            <a:off x="6993731" y="7693819"/>
            <a:ext cx="2728912" cy="828675"/>
            <a:chOff x="0" y="0"/>
            <a:chExt cx="3638550" cy="1104900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3638550" cy="1104900"/>
            </a:xfrm>
            <a:custGeom>
              <a:avLst/>
              <a:gdLst/>
              <a:ahLst/>
              <a:cxnLst/>
              <a:rect r="r" b="b" t="t" l="l"/>
              <a:pathLst>
                <a:path h="1104900" w="3638550">
                  <a:moveTo>
                    <a:pt x="0" y="0"/>
                  </a:moveTo>
                  <a:lnTo>
                    <a:pt x="3638550" y="0"/>
                  </a:lnTo>
                  <a:lnTo>
                    <a:pt x="3638550" y="1104900"/>
                  </a:lnTo>
                  <a:lnTo>
                    <a:pt x="0" y="1104900"/>
                  </a:lnTo>
                  <a:close/>
                </a:path>
              </a:pathLst>
            </a:custGeom>
            <a:solidFill>
              <a:srgbClr val="F7F5F0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160" id="160"/>
          <p:cNvGrpSpPr/>
          <p:nvPr/>
        </p:nvGrpSpPr>
        <p:grpSpPr>
          <a:xfrm rot="0">
            <a:off x="7115175" y="7758112"/>
            <a:ext cx="2486025" cy="700088"/>
            <a:chOff x="0" y="0"/>
            <a:chExt cx="3314700" cy="933450"/>
          </a:xfrm>
        </p:grpSpPr>
        <p:sp>
          <p:nvSpPr>
            <p:cNvPr name="Freeform 161" id="161"/>
            <p:cNvSpPr/>
            <p:nvPr/>
          </p:nvSpPr>
          <p:spPr>
            <a:xfrm flipH="false" flipV="false" rot="0">
              <a:off x="0" y="0"/>
              <a:ext cx="3314700" cy="933450"/>
            </a:xfrm>
            <a:custGeom>
              <a:avLst/>
              <a:gdLst/>
              <a:ahLst/>
              <a:cxnLst/>
              <a:rect r="r" b="b" t="t" l="l"/>
              <a:pathLst>
                <a:path h="933450" w="3314700">
                  <a:moveTo>
                    <a:pt x="0" y="0"/>
                  </a:moveTo>
                  <a:lnTo>
                    <a:pt x="3314700" y="0"/>
                  </a:lnTo>
                  <a:lnTo>
                    <a:pt x="3314700" y="933450"/>
                  </a:lnTo>
                  <a:lnTo>
                    <a:pt x="0" y="9334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91" r="0" b="-19191"/>
              </a:stretch>
            </a:blipFill>
          </p:spPr>
        </p:sp>
        <p:sp>
          <p:nvSpPr>
            <p:cNvPr name="TextBox 162" id="162"/>
            <p:cNvSpPr txBox="true"/>
            <p:nvPr/>
          </p:nvSpPr>
          <p:spPr>
            <a:xfrm>
              <a:off x="0" y="-38100"/>
              <a:ext cx="331470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25"/>
                </a:lnSpc>
              </a:pPr>
              <a:r>
                <a:rPr lang="en-US" sz="1687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Corresponding author</a:t>
              </a:r>
            </a:p>
          </p:txBody>
        </p:sp>
      </p:grpSp>
      <p:grpSp>
        <p:nvGrpSpPr>
          <p:cNvPr name="Group 163" id="163"/>
          <p:cNvGrpSpPr/>
          <p:nvPr/>
        </p:nvGrpSpPr>
        <p:grpSpPr>
          <a:xfrm rot="0">
            <a:off x="9708356" y="7693819"/>
            <a:ext cx="3586162" cy="828675"/>
            <a:chOff x="0" y="0"/>
            <a:chExt cx="4781550" cy="1104900"/>
          </a:xfrm>
        </p:grpSpPr>
        <p:sp>
          <p:nvSpPr>
            <p:cNvPr name="Freeform 164" id="164"/>
            <p:cNvSpPr/>
            <p:nvPr/>
          </p:nvSpPr>
          <p:spPr>
            <a:xfrm flipH="false" flipV="false" rot="0">
              <a:off x="0" y="0"/>
              <a:ext cx="4781550" cy="1104900"/>
            </a:xfrm>
            <a:custGeom>
              <a:avLst/>
              <a:gdLst/>
              <a:ahLst/>
              <a:cxnLst/>
              <a:rect r="r" b="b" t="t" l="l"/>
              <a:pathLst>
                <a:path h="1104900" w="4781550">
                  <a:moveTo>
                    <a:pt x="0" y="0"/>
                  </a:moveTo>
                  <a:lnTo>
                    <a:pt x="4781550" y="0"/>
                  </a:lnTo>
                  <a:lnTo>
                    <a:pt x="4781550" y="1104900"/>
                  </a:lnTo>
                  <a:lnTo>
                    <a:pt x="0" y="1104900"/>
                  </a:lnTo>
                  <a:close/>
                </a:path>
              </a:pathLst>
            </a:custGeom>
            <a:solidFill>
              <a:srgbClr val="F7F5F0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165" id="165"/>
          <p:cNvGrpSpPr/>
          <p:nvPr/>
        </p:nvGrpSpPr>
        <p:grpSpPr>
          <a:xfrm rot="0">
            <a:off x="9829800" y="7758112"/>
            <a:ext cx="3343275" cy="700088"/>
            <a:chOff x="0" y="0"/>
            <a:chExt cx="4457700" cy="933450"/>
          </a:xfrm>
        </p:grpSpPr>
        <p:sp>
          <p:nvSpPr>
            <p:cNvPr name="Freeform 166" id="166"/>
            <p:cNvSpPr/>
            <p:nvPr/>
          </p:nvSpPr>
          <p:spPr>
            <a:xfrm flipH="false" flipV="false" rot="0">
              <a:off x="0" y="0"/>
              <a:ext cx="4457700" cy="933450"/>
            </a:xfrm>
            <a:custGeom>
              <a:avLst/>
              <a:gdLst/>
              <a:ahLst/>
              <a:cxnLst/>
              <a:rect r="r" b="b" t="t" l="l"/>
              <a:pathLst>
                <a:path h="933450" w="4457700">
                  <a:moveTo>
                    <a:pt x="0" y="0"/>
                  </a:moveTo>
                  <a:lnTo>
                    <a:pt x="4457700" y="0"/>
                  </a:lnTo>
                  <a:lnTo>
                    <a:pt x="4457700" y="933450"/>
                  </a:lnTo>
                  <a:lnTo>
                    <a:pt x="0" y="9334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050" r="0" b="-43050"/>
              </a:stretch>
            </a:blipFill>
          </p:spPr>
        </p:sp>
        <p:sp>
          <p:nvSpPr>
            <p:cNvPr name="TextBox 167" id="167"/>
            <p:cNvSpPr txBox="true"/>
            <p:nvPr/>
          </p:nvSpPr>
          <p:spPr>
            <a:xfrm>
              <a:off x="0" y="-38100"/>
              <a:ext cx="445770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25"/>
                </a:lnSpc>
              </a:pPr>
              <a:r>
                <a:rPr lang="en-US" sz="1687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31 Agustus</a:t>
              </a:r>
            </a:p>
          </p:txBody>
        </p:sp>
      </p:grpSp>
      <p:grpSp>
        <p:nvGrpSpPr>
          <p:cNvPr name="Group 168" id="168"/>
          <p:cNvGrpSpPr/>
          <p:nvPr/>
        </p:nvGrpSpPr>
        <p:grpSpPr>
          <a:xfrm rot="0">
            <a:off x="13280231" y="7693819"/>
            <a:ext cx="4157662" cy="828675"/>
            <a:chOff x="0" y="0"/>
            <a:chExt cx="5543550" cy="1104900"/>
          </a:xfrm>
        </p:grpSpPr>
        <p:sp>
          <p:nvSpPr>
            <p:cNvPr name="Freeform 169" id="169"/>
            <p:cNvSpPr/>
            <p:nvPr/>
          </p:nvSpPr>
          <p:spPr>
            <a:xfrm flipH="false" flipV="false" rot="0">
              <a:off x="0" y="0"/>
              <a:ext cx="5543550" cy="1104900"/>
            </a:xfrm>
            <a:custGeom>
              <a:avLst/>
              <a:gdLst/>
              <a:ahLst/>
              <a:cxnLst/>
              <a:rect r="r" b="b" t="t" l="l"/>
              <a:pathLst>
                <a:path h="1104900" w="5543550">
                  <a:moveTo>
                    <a:pt x="0" y="0"/>
                  </a:moveTo>
                  <a:lnTo>
                    <a:pt x="5543550" y="0"/>
                  </a:lnTo>
                  <a:lnTo>
                    <a:pt x="5543550" y="1104900"/>
                  </a:lnTo>
                  <a:lnTo>
                    <a:pt x="0" y="1104900"/>
                  </a:lnTo>
                  <a:close/>
                </a:path>
              </a:pathLst>
            </a:custGeom>
            <a:solidFill>
              <a:srgbClr val="F7F5F0"/>
            </a:solidFill>
            <a:ln w="14288" cap="sq">
              <a:solidFill>
                <a:srgbClr val="D7D2CA"/>
              </a:solidFill>
              <a:prstDash val="solid"/>
              <a:miter/>
            </a:ln>
          </p:spPr>
        </p:sp>
      </p:grpSp>
      <p:grpSp>
        <p:nvGrpSpPr>
          <p:cNvPr name="Group 170" id="170"/>
          <p:cNvGrpSpPr/>
          <p:nvPr/>
        </p:nvGrpSpPr>
        <p:grpSpPr>
          <a:xfrm rot="0">
            <a:off x="13401675" y="7758112"/>
            <a:ext cx="3914775" cy="700088"/>
            <a:chOff x="0" y="0"/>
            <a:chExt cx="5219700" cy="933450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5219700" cy="933450"/>
            </a:xfrm>
            <a:custGeom>
              <a:avLst/>
              <a:gdLst/>
              <a:ahLst/>
              <a:cxnLst/>
              <a:rect r="r" b="b" t="t" l="l"/>
              <a:pathLst>
                <a:path h="933450" w="5219700">
                  <a:moveTo>
                    <a:pt x="0" y="0"/>
                  </a:moveTo>
                  <a:lnTo>
                    <a:pt x="5219700" y="0"/>
                  </a:lnTo>
                  <a:lnTo>
                    <a:pt x="5219700" y="933450"/>
                  </a:lnTo>
                  <a:lnTo>
                    <a:pt x="0" y="9334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957" r="0" b="-58957"/>
              </a:stretch>
            </a:blipFill>
          </p:spPr>
        </p:sp>
        <p:sp>
          <p:nvSpPr>
            <p:cNvPr name="TextBox 172" id="172"/>
            <p:cNvSpPr txBox="true"/>
            <p:nvPr/>
          </p:nvSpPr>
          <p:spPr>
            <a:xfrm>
              <a:off x="0" y="-38100"/>
              <a:ext cx="521970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25"/>
                </a:lnSpc>
              </a:pPr>
              <a:r>
                <a:rPr lang="en-US" sz="1687">
                  <a:solidFill>
                    <a:srgbClr val="25232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OPEN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DAHOSmQiSsk</dc:identifier>
  <dcterms:modified xsi:type="dcterms:W3CDTF">2011-08-01T06:04:30Z</dcterms:modified>
  <cp:revision>1</cp:revision>
  <dc:title>PPT Meeting - Revised v2.pptx</dc:title>
</cp:coreProperties>
</file>